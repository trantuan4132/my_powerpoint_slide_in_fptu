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6858000" type="screen4x3"/>
  <p:notesSz cx="6858000" cy="91170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5" roundtripDataSignature="AMtx7mi66gxZ7q5KQoD3dy1iQs6kzII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48"/>
      </p:cViewPr>
      <p:guideLst>
        <p:guide orient="horz" pos="21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61400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61400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84213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84213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2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4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1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2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4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6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7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8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9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2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3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4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5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6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7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8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9:notes"/>
          <p:cNvSpPr txBox="1">
            <a:spLocks noGrp="1"/>
          </p:cNvSpPr>
          <p:nvPr>
            <p:ph type="body" idx="1"/>
          </p:nvPr>
        </p:nvSpPr>
        <p:spPr>
          <a:xfrm>
            <a:off x="914400" y="4330700"/>
            <a:ext cx="5029200" cy="410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84212"/>
            <a:ext cx="4557712" cy="3417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 New Roman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Times New Roman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71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2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2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3" name="Google Shape;23;p72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2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3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3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 New Roman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Times New Roman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74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4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5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5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4032504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75"/>
          <p:cNvSpPr txBox="1">
            <a:spLocks noGrp="1"/>
          </p:cNvSpPr>
          <p:nvPr>
            <p:ph type="body" idx="2"/>
          </p:nvPr>
        </p:nvSpPr>
        <p:spPr>
          <a:xfrm>
            <a:off x="4425696" y="1981200"/>
            <a:ext cx="4032504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7" name="Google Shape;37;p75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5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6"/>
          <p:cNvSpPr txBox="1"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6"/>
          <p:cNvSpPr txBox="1"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Times New Roman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76"/>
          <p:cNvSpPr txBox="1">
            <a:spLocks noGrp="1"/>
          </p:cNvSpPr>
          <p:nvPr>
            <p:ph type="body" idx="2"/>
          </p:nvPr>
        </p:nvSpPr>
        <p:spPr>
          <a:xfrm>
            <a:off x="629841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3" name="Google Shape;43;p7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Times New Roman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 b="1"/>
            </a:lvl9pPr>
          </a:lstStyle>
          <a:p>
            <a:endParaRPr/>
          </a:p>
        </p:txBody>
      </p:sp>
      <p:sp>
        <p:nvSpPr>
          <p:cNvPr id="44" name="Google Shape;44;p7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76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6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7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7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7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8"/>
          <p:cNvSpPr txBox="1">
            <a:spLocks noGrp="1"/>
          </p:cNvSpPr>
          <p:nvPr>
            <p:ph type="body"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Times New Roman"/>
              <a:buChar char="–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–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»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»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»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»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Times New Roman"/>
              <a:buChar char="»"/>
              <a:defRPr sz="1500"/>
            </a:lvl9pPr>
          </a:lstStyle>
          <a:p>
            <a:endParaRPr/>
          </a:p>
        </p:txBody>
      </p:sp>
      <p:sp>
        <p:nvSpPr>
          <p:cNvPr id="54" name="Google Shape;54;p7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Times New Roman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9pPr>
          </a:lstStyle>
          <a:p>
            <a:endParaRPr/>
          </a:p>
        </p:txBody>
      </p:sp>
      <p:sp>
        <p:nvSpPr>
          <p:cNvPr id="55" name="Google Shape;55;p78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8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9"/>
          <p:cNvSpPr>
            <a:spLocks noGrp="1"/>
          </p:cNvSpPr>
          <p:nvPr>
            <p:ph type="pic" idx="2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CCCC00"/>
              </a:buClr>
              <a:buSzPts val="2100"/>
              <a:buFont typeface="Times New Roman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00"/>
              </a:buClr>
              <a:buSzPts val="1800"/>
              <a:buFont typeface="Times New Roman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CC00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CC00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CC00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CC00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CC00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CC00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7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Times New Roman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Times New Roman"/>
              <a:buNone/>
              <a:defRPr sz="750"/>
            </a:lvl9pPr>
          </a:lstStyle>
          <a:p>
            <a:endParaRPr/>
          </a:p>
        </p:txBody>
      </p:sp>
      <p:sp>
        <p:nvSpPr>
          <p:cNvPr id="61" name="Google Shape;61;p79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9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0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0"/>
          <p:cNvSpPr txBox="1">
            <a:spLocks noGrp="1"/>
          </p:cNvSpPr>
          <p:nvPr>
            <p:ph type="body" idx="1"/>
          </p:nvPr>
        </p:nvSpPr>
        <p:spPr>
          <a:xfrm rot="5400000">
            <a:off x="2286000" y="-76200"/>
            <a:ext cx="4114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6" name="Google Shape;66;p80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0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1"/>
          <p:cNvSpPr txBox="1">
            <a:spLocks noGrp="1"/>
          </p:cNvSpPr>
          <p:nvPr>
            <p:ph type="title"/>
          </p:nvPr>
        </p:nvSpPr>
        <p:spPr>
          <a:xfrm rot="5400000">
            <a:off x="4686300" y="2324100"/>
            <a:ext cx="5486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1"/>
          <p:cNvSpPr txBox="1">
            <a:spLocks noGrp="1"/>
          </p:cNvSpPr>
          <p:nvPr>
            <p:ph type="body" idx="1"/>
          </p:nvPr>
        </p:nvSpPr>
        <p:spPr>
          <a:xfrm rot="5400000">
            <a:off x="511865" y="326335"/>
            <a:ext cx="5486400" cy="60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1" name="Google Shape;71;p81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1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>
            <a:spLocks noGrp="1"/>
          </p:cNvSpPr>
          <p:nvPr>
            <p:ph type="ftr" idx="11"/>
          </p:nvPr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pic>
        <p:nvPicPr>
          <p:cNvPr id="11" name="Google Shape;11;p70"/>
          <p:cNvPicPr preferRelativeResize="0"/>
          <p:nvPr/>
        </p:nvPicPr>
        <p:blipFill rotWithShape="1">
          <a:blip r:embed="rId13">
            <a:alphaModFix/>
          </a:blip>
          <a:srcRect t="7106" b="33348"/>
          <a:stretch/>
        </p:blipFill>
        <p:spPr>
          <a:xfrm>
            <a:off x="7924800" y="0"/>
            <a:ext cx="1219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70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0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70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  <a:defRPr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CC00"/>
              </a:buClr>
              <a:buSzPts val="2200"/>
              <a:buFont typeface="Times New Roman"/>
              <a:buChar char="–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CC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"/>
          <p:cNvPicPr preferRelativeResize="0"/>
          <p:nvPr/>
        </p:nvPicPr>
        <p:blipFill rotWithShape="1">
          <a:blip r:embed="rId3">
            <a:alphaModFix/>
          </a:blip>
          <a:srcRect l="56538" t="3703" r="-197" b="51480"/>
          <a:stretch/>
        </p:blipFill>
        <p:spPr>
          <a:xfrm>
            <a:off x="5943600" y="1371600"/>
            <a:ext cx="26670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 l="30345" t="56666" b="6665"/>
          <a:stretch/>
        </p:blipFill>
        <p:spPr>
          <a:xfrm>
            <a:off x="1981200" y="3962400"/>
            <a:ext cx="66865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/>
          <p:cNvPicPr preferRelativeResize="0"/>
          <p:nvPr/>
        </p:nvPicPr>
        <p:blipFill rotWithShape="1">
          <a:blip r:embed="rId4">
            <a:alphaModFix/>
          </a:blip>
          <a:srcRect b="13158"/>
          <a:stretch/>
        </p:blipFill>
        <p:spPr>
          <a:xfrm>
            <a:off x="228600" y="914400"/>
            <a:ext cx="54102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85" name="Google Shape;85;p2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what a program is and how it can be developed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difference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a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low-level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language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introduced to low-level languages using the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programming language as an example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about the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program, including algorithms and pseudocode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(continued)</a:t>
            </a:r>
            <a:endParaRPr/>
          </a:p>
        </p:txBody>
      </p:sp>
      <p:sp>
        <p:nvSpPr>
          <p:cNvPr id="95" name="Google Shape;95;p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an understanding of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basics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high-level programming languages using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an example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about variables and how they are used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introduced to the Java operators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the different control structures used in programming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terms associated with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programming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Program?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304800" y="1609725"/>
            <a:ext cx="81534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collection of statements (câu lệnh) that solve a problem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converted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a language that the computer understands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logically ordered set of statements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process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an interpreter or compiler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Interpreter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(trình thông dịch):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translates statements one-by-one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</a:t>
            </a:r>
            <a:r>
              <a:rPr lang="en-US" sz="24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(trình biên dịch):</a:t>
            </a:r>
            <a:r>
              <a:rPr lang="en-US" sz="24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reads all of the statements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4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finished program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Speak Computer</a:t>
            </a:r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what language you want to use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controlling hardware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and JavaScript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applications</a:t>
            </a:r>
            <a:endParaRPr sz="26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Lisp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working with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Basic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simple yet powerful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(giao diện đồ họa người dùng) programming environment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Others include. C, C++, Smalltalk,  Delphi, and ADA, FORTRAN, and COBOL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  <p:sp>
        <p:nvSpPr>
          <p:cNvPr id="118" name="Google Shape;118;p6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</a:t>
            </a:r>
            <a:b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</a:t>
            </a:r>
            <a:endParaRPr/>
          </a:p>
        </p:txBody>
      </p:sp>
      <p:sp>
        <p:nvSpPr>
          <p:cNvPr id="119" name="Google Shape;119;p6"/>
          <p:cNvSpPr txBox="1">
            <a:spLocks noGrp="1"/>
          </p:cNvSpPr>
          <p:nvPr>
            <p:ph type="body" idx="1"/>
          </p:nvPr>
        </p:nvSpPr>
        <p:spPr>
          <a:xfrm>
            <a:off x="304800" y="1981200"/>
            <a:ext cx="8153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Low-level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Geared towards computer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less understandable or like human language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language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lowest-level language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resides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lowest-level and higher-level languages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Assembler converts assembly code to machine language</a:t>
            </a:r>
            <a:r>
              <a:rPr lang="en-US" sz="24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Human-friendly language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  <p:pic>
        <p:nvPicPr>
          <p:cNvPr id="126" name="Google Shape;126;p7" descr="061921290X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371600"/>
            <a:ext cx="6194425" cy="2967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152400" y="487680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11-1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Different types of programming languages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Low-level Languages</a:t>
            </a:r>
            <a:endParaRPr/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language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includes only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numbers</a:t>
            </a:r>
            <a:endParaRPr sz="2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more</a:t>
            </a:r>
            <a:r>
              <a:rPr lang="en-US" sz="2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English-like statements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statement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corresponds to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machine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run faster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programs in higher-level languages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Closely tied to particular CPU type</a:t>
            </a:r>
            <a:endParaRPr sz="26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Harder to read and understand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 higher-level languages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  <p:sp>
        <p:nvSpPr>
          <p:cNvPr id="142" name="Google Shape;142;p9"/>
          <p:cNvSpPr txBox="1">
            <a:spLocks noGrp="1"/>
          </p:cNvSpPr>
          <p:nvPr>
            <p:ph type="title"/>
          </p:nvPr>
        </p:nvSpPr>
        <p:spPr>
          <a:xfrm>
            <a:off x="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 Statements</a:t>
            </a: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Consists of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alphabetic instructions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and register indications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Courier New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around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cx, 8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Courier New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to value to another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cx, 3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dx, 8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 dx, cx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Courier New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subtracts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value from another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/>
          </a:p>
        </p:txBody>
      </p:sp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 Statements (continued)</a:t>
            </a:r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228600" y="22098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Courier New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value in the register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 dx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Courier New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cmp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values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cx, 4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dx, 7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cmp dx, cx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(zero flag is set if dx - cx = 0)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Courier New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jnz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jumps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specific location in the program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jnz stop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(Jumps to the section named stop if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the zero flag is set)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Languages</a:t>
            </a:r>
            <a:endParaRPr/>
          </a:p>
        </p:txBody>
      </p:sp>
      <p:sp>
        <p:nvSpPr>
          <p:cNvPr id="159" name="Google Shape;159;p11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to write, read, and maintain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low-level languages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Accomplishes much more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single statement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Generally slower</a:t>
            </a:r>
            <a:endParaRPr sz="2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either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compiled or interpreted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incorporate IDEs (integrated development environment’s)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includes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editor, compiler, graphic designer, and more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65" name="Google Shape;165;p12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  <p:pic>
        <p:nvPicPr>
          <p:cNvPr id="166" name="Google Shape;166;p12" descr="061921290X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724900" cy="61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 txBox="1"/>
          <p:nvPr/>
        </p:nvSpPr>
        <p:spPr>
          <a:xfrm>
            <a:off x="395287" y="6162675"/>
            <a:ext cx="7162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11-2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Microsoft Visual Studio .NET makes software development easier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of a Program</a:t>
            </a:r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structure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upon algorithms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is often</a:t>
            </a:r>
            <a:r>
              <a:rPr lang="en-US" sz="2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represented using pseudocode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consists of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executable steps to solve a problem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Pseudocode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(mã giả):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readable description of an algorithm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human language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for what needs to be converted</a:t>
            </a:r>
            <a:r>
              <a:rPr lang="en-US" sz="24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programming language syntax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Pseudocode </a:t>
            </a:r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the temperature from  Fahrenheit to Celsius</a:t>
            </a:r>
            <a:endParaRPr/>
          </a:p>
          <a:p>
            <a:pPr marL="685800" marR="0" lvl="1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Ask the user for a temperature in Fahrenheit</a:t>
            </a:r>
            <a:endParaRPr/>
          </a:p>
          <a:p>
            <a:pPr marL="685800" marR="0" lvl="1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Apply the entered temperature to the formula Celsius</a:t>
            </a:r>
            <a:endParaRPr/>
          </a:p>
          <a:p>
            <a:pPr marL="685800" marR="0" lvl="1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 = (5/9) * (Fahrenheit Temp - 32)</a:t>
            </a:r>
            <a:endParaRPr/>
          </a:p>
          <a:p>
            <a:pPr marL="685800" marR="0" lvl="1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Display the result saying Fahrenheit Temp ## converted to Celsius is XX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/>
          </a:p>
        </p:txBody>
      </p:sp>
      <p:sp>
        <p:nvSpPr>
          <p:cNvPr id="190" name="Google Shape;190;p15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and Testing </a:t>
            </a:r>
            <a:b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</a:t>
            </a:r>
            <a:endParaRPr/>
          </a:p>
        </p:txBody>
      </p:sp>
      <p:sp>
        <p:nvSpPr>
          <p:cNvPr id="191" name="Google Shape;191;p15"/>
          <p:cNvSpPr txBox="1">
            <a:spLocks noGrp="1"/>
          </p:cNvSpPr>
          <p:nvPr>
            <p:ph type="body" idx="1"/>
          </p:nvPr>
        </p:nvSpPr>
        <p:spPr>
          <a:xfrm>
            <a:off x="228600" y="2362200"/>
            <a:ext cx="82296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can be many different ways to perform a task or accomplish a goal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best one to use for the project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a myriad of factors</a:t>
            </a:r>
            <a:endParaRPr sz="28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test the algorithm, pretend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you are</a:t>
            </a:r>
            <a:r>
              <a:rPr lang="en-US" sz="2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end user</a:t>
            </a:r>
            <a:r>
              <a:rPr lang="en-US" sz="2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trying to run the program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Celsius conversion example: What if the user does not enter a number value?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Modify pseudocode to test for valid values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Modifications to Pseudocode </a:t>
            </a:r>
            <a:b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Testing</a:t>
            </a:r>
            <a:endParaRPr/>
          </a:p>
        </p:txBody>
      </p:sp>
      <p:sp>
        <p:nvSpPr>
          <p:cNvPr id="199" name="Google Shape;199;p16"/>
          <p:cNvSpPr txBox="1">
            <a:spLocks noGrp="1"/>
          </p:cNvSpPr>
          <p:nvPr>
            <p:ph type="body" idx="1"/>
          </p:nvPr>
        </p:nvSpPr>
        <p:spPr>
          <a:xfrm>
            <a:off x="228600" y="22098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Ask the user for a temperature in Fahrenheit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the value entered is numerical</a:t>
            </a:r>
            <a:endParaRPr/>
          </a:p>
          <a:p>
            <a:pPr marL="742950" marR="0" lvl="1" indent="-1587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Apply the entered temperature to the formula</a:t>
            </a:r>
            <a:endParaRPr/>
          </a:p>
          <a:p>
            <a:pPr marL="742950" marR="0" lvl="1" indent="-1587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Celsius Temp = </a:t>
            </a:r>
            <a:endParaRPr/>
          </a:p>
          <a:p>
            <a:pPr marL="742950" marR="0" lvl="1" indent="-1587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(5/9) * (Fahrenheit Temp - 32)</a:t>
            </a:r>
            <a:endParaRPr/>
          </a:p>
          <a:p>
            <a:pPr marL="742950" marR="0" lvl="1" indent="-1587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Display the result saying Fahrenheit Temp ## converted to Celsius is XX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marL="742950" marR="0" lvl="1" indent="-1587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Display a message stating that the value entered is NOT allowed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/>
          </a:p>
        </p:txBody>
      </p:sp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of a </a:t>
            </a:r>
            <a:b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</a:t>
            </a:r>
            <a:endParaRPr/>
          </a:p>
        </p:txBody>
      </p:sp>
      <p:sp>
        <p:nvSpPr>
          <p:cNvPr id="207" name="Google Shape;207;p17"/>
          <p:cNvSpPr txBox="1">
            <a:spLocks noGrp="1"/>
          </p:cNvSpPr>
          <p:nvPr>
            <p:ph type="body" idx="1"/>
          </p:nvPr>
        </p:nvSpPr>
        <p:spPr>
          <a:xfrm>
            <a:off x="228600" y="228600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a program can be compared to following a recipe (the algorithm and pseudocode)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correctly combine the ingredients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produce a result (program)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Ingredients include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(biến)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(toán tử)</a:t>
            </a:r>
            <a:endParaRPr sz="26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Structures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(cấu trúc điều khiển)</a:t>
            </a:r>
            <a:endParaRPr sz="26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(đối tượng)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to Cook With Java</a:t>
            </a:r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programming language</a:t>
            </a:r>
            <a:r>
              <a:rPr lang="en-US" sz="28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by Sun Corporation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Familiar syntax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(similar syntax to C++)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Portable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(di động)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run on other computers without recompiling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Powerful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Rich library of routines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many tasks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variety of applications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name used to identify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certain location and value in computer memory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way to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computer memory without knowing actual hardware address</a:t>
            </a:r>
            <a:endParaRPr sz="26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an identifier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(định danh)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variable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is called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</a:t>
            </a:r>
            <a:r>
              <a:rPr lang="en-US" sz="2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(khai b</a:t>
            </a:r>
            <a:r>
              <a:rPr lang="en-US">
                <a:solidFill>
                  <a:srgbClr val="000000"/>
                </a:solidFill>
              </a:rPr>
              <a:t>áo</a:t>
            </a:r>
            <a:r>
              <a:rPr lang="en-US" sz="2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variable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usually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attributes</a:t>
            </a:r>
            <a:r>
              <a:rPr lang="en-US" sz="2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(thu</a:t>
            </a:r>
            <a:r>
              <a:rPr lang="en-US">
                <a:solidFill>
                  <a:srgbClr val="000000"/>
                </a:solidFill>
              </a:rPr>
              <a:t>ộc tính)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as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 name, type, and content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numTicketsBought;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Identifiers and Naming Conventions</a:t>
            </a:r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body" idx="1"/>
          </p:nvPr>
        </p:nvSpPr>
        <p:spPr>
          <a:xfrm>
            <a:off x="228600" y="1985962"/>
            <a:ext cx="8229600" cy="4567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declaring a variable in Java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only letters, underscores, and numbers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name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letter</a:t>
            </a:r>
            <a:endParaRPr sz="26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 reserved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words that have specific programming meanings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Naming conventions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(quy </a:t>
            </a:r>
            <a:r>
              <a:rPr lang="en-US">
                <a:solidFill>
                  <a:srgbClr val="000000"/>
                </a:solidFill>
              </a:rPr>
              <a:t>ước đặt tên)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variables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meaningful names</a:t>
            </a:r>
            <a:endParaRPr sz="2600" b="0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Lowercase the first character of the first word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uppercase the first letter of subsequent words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numTicketsBought;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  <p:sp>
        <p:nvSpPr>
          <p:cNvPr id="238" name="Google Shape;238;p21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Types</a:t>
            </a:r>
            <a:endParaRPr/>
          </a:p>
        </p:txBody>
      </p:sp>
      <p:sp>
        <p:nvSpPr>
          <p:cNvPr id="239" name="Google Shape;239;p21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variables are strongly typed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declare the type of data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variable can hold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Eight different types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(see Tables 11-1 to 11-4)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declaring a variable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variableName;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salary;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boolean deserveRaise;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/>
          </a:p>
        </p:txBody>
      </p:sp>
      <p:pic>
        <p:nvPicPr>
          <p:cNvPr id="246" name="Google Shape;246;p22" descr="061921290X_Tab 11-1"/>
          <p:cNvPicPr preferRelativeResize="0"/>
          <p:nvPr/>
        </p:nvPicPr>
        <p:blipFill rotWithShape="1">
          <a:blip r:embed="rId3">
            <a:alphaModFix/>
          </a:blip>
          <a:srcRect l="35209" r="2933" b="11110"/>
          <a:stretch/>
        </p:blipFill>
        <p:spPr>
          <a:xfrm>
            <a:off x="533400" y="685800"/>
            <a:ext cx="73914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/>
          </a:p>
        </p:txBody>
      </p:sp>
      <p:pic>
        <p:nvPicPr>
          <p:cNvPr id="253" name="Google Shape;253;p23" descr="061921290X_Tab 11-2"/>
          <p:cNvPicPr preferRelativeResize="0"/>
          <p:nvPr/>
        </p:nvPicPr>
        <p:blipFill rotWithShape="1">
          <a:blip r:embed="rId3">
            <a:alphaModFix/>
          </a:blip>
          <a:srcRect l="35513" t="9768" r="2802" b="12074"/>
          <a:stretch/>
        </p:blipFill>
        <p:spPr>
          <a:xfrm>
            <a:off x="457200" y="1447800"/>
            <a:ext cx="73914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/>
          </a:p>
        </p:txBody>
      </p:sp>
      <p:pic>
        <p:nvPicPr>
          <p:cNvPr id="260" name="Google Shape;26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828800"/>
            <a:ext cx="73914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/>
          </a:p>
        </p:txBody>
      </p:sp>
      <p:pic>
        <p:nvPicPr>
          <p:cNvPr id="267" name="Google Shape;267;p25" descr="061921290X_Tab 11-4"/>
          <p:cNvPicPr preferRelativeResize="0"/>
          <p:nvPr/>
        </p:nvPicPr>
        <p:blipFill rotWithShape="1">
          <a:blip r:embed="rId3">
            <a:alphaModFix/>
          </a:blip>
          <a:srcRect l="27008" r="29219" b="11538"/>
          <a:stretch/>
        </p:blipFill>
        <p:spPr>
          <a:xfrm>
            <a:off x="838200" y="1752600"/>
            <a:ext cx="67818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/>
          </a:p>
        </p:txBody>
      </p:sp>
      <p:sp>
        <p:nvSpPr>
          <p:cNvPr id="274" name="Google Shape;274;p26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Data Type</a:t>
            </a:r>
            <a:endParaRPr/>
          </a:p>
        </p:txBody>
      </p:sp>
      <p:sp>
        <p:nvSpPr>
          <p:cNvPr id="275" name="Google Shape;275;p26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 contains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character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within 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quotation mark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or more characters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inside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pair of double quotes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String sFirstName = “Joe”;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String sLastName = “Blow”;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concatenation operator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>
                <a:solidFill>
                  <a:srgbClr val="000000"/>
                </a:solidFill>
              </a:rPr>
              <a:t>toán tử nối chuỗi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>
                <a:solidFill>
                  <a:srgbClr val="0000FF"/>
                </a:solidFill>
              </a:rPr>
              <a:t>(+)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strings into one value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String sFullName;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sFullName = sLastName + “, ” + sFirstName;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Hungarian Notation</a:t>
            </a:r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naming method 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each variable an identifier at the beginning of the variable name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describing the data type of the variable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used for the sake of readability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require the variable to hold the specified data type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/>
          </a:p>
        </p:txBody>
      </p:sp>
      <p:pic>
        <p:nvPicPr>
          <p:cNvPr id="290" name="Google Shape;290;p28" descr="061921290X_Tab 11-5"/>
          <p:cNvPicPr preferRelativeResize="0"/>
          <p:nvPr/>
        </p:nvPicPr>
        <p:blipFill rotWithShape="1">
          <a:blip r:embed="rId3">
            <a:alphaModFix/>
          </a:blip>
          <a:srcRect l="27124" r="20437"/>
          <a:stretch/>
        </p:blipFill>
        <p:spPr>
          <a:xfrm>
            <a:off x="304800" y="1143000"/>
            <a:ext cx="75438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/>
          </a:p>
        </p:txBody>
      </p:sp>
      <p:sp>
        <p:nvSpPr>
          <p:cNvPr id="297" name="Google Shape;297;p29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Content</a:t>
            </a:r>
            <a:endParaRPr/>
          </a:p>
        </p:txBody>
      </p:sp>
      <p:sp>
        <p:nvSpPr>
          <p:cNvPr id="298" name="Google Shape;298;p29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initialization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initial value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variable is first declared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to initialize variables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rather than to assume the programming language will assign a default value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two statements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iStudentCount;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iStudentCount = 456;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combine into one statement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iStudentCount = 456;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/>
          </a:p>
        </p:txBody>
      </p:sp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</a:t>
            </a:r>
            <a:endParaRPr/>
          </a:p>
        </p:txBody>
      </p:sp>
      <p:sp>
        <p:nvSpPr>
          <p:cNvPr id="306" name="Google Shape;306;p30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Symbols used to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manipulate data</a:t>
            </a:r>
            <a:endParaRPr/>
          </a:p>
          <a:p>
            <a:pPr marL="533400" marR="0" lvl="0" indent="-533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Classified by data type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00" marR="0" lvl="1" indent="-4953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 operators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addition, subtraction, multiplication, division, and modulus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00" marR="0" lvl="1" indent="-4953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shortcuts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binary arithmetic shortcuts</a:t>
            </a:r>
            <a:endParaRPr/>
          </a:p>
          <a:p>
            <a:pPr marL="952500" marR="0" lvl="1" indent="-495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iFirstNum = iFirstNum + iSecondNum;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same as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iFirstNum += iSecondNum;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12" name="Google Shape;312;p31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/>
          </a:p>
        </p:txBody>
      </p:sp>
      <p:pic>
        <p:nvPicPr>
          <p:cNvPr id="313" name="Google Shape;313;p31" descr="061921290X_Tab 11-6"/>
          <p:cNvPicPr preferRelativeResize="0"/>
          <p:nvPr/>
        </p:nvPicPr>
        <p:blipFill rotWithShape="1">
          <a:blip r:embed="rId3">
            <a:alphaModFix/>
          </a:blip>
          <a:srcRect l="34852" t="21141" r="9962"/>
          <a:stretch/>
        </p:blipFill>
        <p:spPr>
          <a:xfrm>
            <a:off x="381000" y="838200"/>
            <a:ext cx="754380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19" name="Google Shape;319;p32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/>
          </a:p>
        </p:txBody>
      </p:sp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 (continued)</a:t>
            </a:r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 and decrement operators (++, --)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or subtracts 1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value of the variable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Preincrements or predecrements execute the increment or decrement first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the line of code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Postincrements or postdecrements execute the increment or decrement last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the line of code </a:t>
            </a:r>
            <a:endParaRPr/>
          </a:p>
          <a:p>
            <a:pPr marL="20574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iCount = 5;</a:t>
            </a:r>
            <a:endParaRPr/>
          </a:p>
          <a:p>
            <a:pPr marL="20574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iResult = 0;</a:t>
            </a:r>
            <a:endParaRPr/>
          </a:p>
          <a:p>
            <a:pPr marL="20574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iResult = iCount++ + 10;</a:t>
            </a:r>
            <a:endParaRPr/>
          </a:p>
          <a:p>
            <a:pPr marL="1600200" marR="0" lvl="3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CC00"/>
              </a:buClr>
              <a:buSzPts val="2200"/>
              <a:buFont typeface="Times New Roman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the variables is 15; </a:t>
            </a: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iCount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incremented last, giving it the value of 6 after sum is calculated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 (continued)</a:t>
            </a:r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operators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(Table 11-7)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values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operators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(Table 11-8)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a truth table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</a:t>
            </a:r>
            <a:r>
              <a:rPr lang="en-US">
                <a:solidFill>
                  <a:srgbClr val="000000"/>
                </a:solidFill>
              </a:rPr>
              <a:t>ảng chân lý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comparing expressions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CCCC00"/>
              </a:buClr>
              <a:buSzPts val="2200"/>
              <a:buFont typeface="Times New Roman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expression is a programming statement that returns a value when executed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35" name="Google Shape;335;p34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/>
          </a:p>
        </p:txBody>
      </p:sp>
      <p:pic>
        <p:nvPicPr>
          <p:cNvPr id="336" name="Google Shape;336;p34" descr="061921290X_Tab 11-7"/>
          <p:cNvPicPr preferRelativeResize="0"/>
          <p:nvPr/>
        </p:nvPicPr>
        <p:blipFill rotWithShape="1">
          <a:blip r:embed="rId3">
            <a:alphaModFix/>
          </a:blip>
          <a:srcRect l="34967" r="22504"/>
          <a:stretch/>
        </p:blipFill>
        <p:spPr>
          <a:xfrm>
            <a:off x="533400" y="914400"/>
            <a:ext cx="73152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42" name="Google Shape;342;p35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/>
          </a:p>
        </p:txBody>
      </p:sp>
      <p:pic>
        <p:nvPicPr>
          <p:cNvPr id="343" name="Google Shape;343;p35" descr="061921290X_Tab 11-8"/>
          <p:cNvPicPr preferRelativeResize="0"/>
          <p:nvPr/>
        </p:nvPicPr>
        <p:blipFill rotWithShape="1">
          <a:blip r:embed="rId3">
            <a:alphaModFix/>
          </a:blip>
          <a:srcRect l="27153" r="41165"/>
          <a:stretch/>
        </p:blipFill>
        <p:spPr>
          <a:xfrm>
            <a:off x="685800" y="1219200"/>
            <a:ext cx="67818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49" name="Google Shape;349;p36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/>
          </a:p>
        </p:txBody>
      </p:sp>
      <p:pic>
        <p:nvPicPr>
          <p:cNvPr id="350" name="Google Shape;350;p36" descr="061921290X_Tab 11-9"/>
          <p:cNvPicPr preferRelativeResize="0"/>
          <p:nvPr/>
        </p:nvPicPr>
        <p:blipFill rotWithShape="1">
          <a:blip r:embed="rId3">
            <a:alphaModFix/>
          </a:blip>
          <a:srcRect l="34524" r="5563"/>
          <a:stretch/>
        </p:blipFill>
        <p:spPr>
          <a:xfrm>
            <a:off x="228600" y="228600"/>
            <a:ext cx="77724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56" name="Google Shape;356;p37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</a:t>
            </a:fld>
            <a:endParaRPr/>
          </a:p>
        </p:txBody>
      </p:sp>
      <p:sp>
        <p:nvSpPr>
          <p:cNvPr id="357" name="Google Shape;357;p37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(</a:t>
            </a:r>
            <a:r>
              <a:rPr lang="en-US">
                <a:solidFill>
                  <a:srgbClr val="FF0000"/>
                </a:solidFill>
              </a:rPr>
              <a:t>Độ ưu tiên)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58" name="Google Shape;358;p37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order in which operators appear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the output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Symbols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have 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precedence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executed before those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precedence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(2+3) * 4	outputs 20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2 - 5 * 2	outputs -8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64" name="Google Shape;364;p38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fld>
            <a:endParaRPr/>
          </a:p>
        </p:txBody>
      </p:sp>
      <p:sp>
        <p:nvSpPr>
          <p:cNvPr id="365" name="Google Shape;365;p38"/>
          <p:cNvSpPr txBox="1"/>
          <p:nvPr/>
        </p:nvSpPr>
        <p:spPr>
          <a:xfrm>
            <a:off x="381000" y="533400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11-5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Order of relational and mathematical precedence</a:t>
            </a:r>
            <a:endParaRPr/>
          </a:p>
        </p:txBody>
      </p:sp>
      <p:graphicFrame>
        <p:nvGraphicFramePr>
          <p:cNvPr id="366" name="Google Shape;366;p38"/>
          <p:cNvGraphicFramePr/>
          <p:nvPr/>
        </p:nvGraphicFramePr>
        <p:xfrm>
          <a:off x="838200" y="990600"/>
          <a:ext cx="61912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4" imgW="6191250" imgH="4038600" progId="Paint.Picture">
                  <p:embed/>
                </p:oleObj>
              </mc:Choice>
              <mc:Fallback>
                <p:oleObj r:id="rId4" imgW="6191250" imgH="4038600" progId="Paint.Picture">
                  <p:embed/>
                  <p:pic>
                    <p:nvPicPr>
                      <p:cNvPr id="366" name="Google Shape;366;p38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838200" y="990600"/>
                        <a:ext cx="619125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9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72" name="Google Shape;372;p39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</a:t>
            </a:fld>
            <a:endParaRPr/>
          </a:p>
        </p:txBody>
      </p:sp>
      <p:sp>
        <p:nvSpPr>
          <p:cNvPr id="373" name="Google Shape;373;p39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Control Structures </a:t>
            </a:r>
            <a:b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Program Flow</a:t>
            </a:r>
            <a:endParaRPr/>
          </a:p>
        </p:txBody>
      </p:sp>
      <p:sp>
        <p:nvSpPr>
          <p:cNvPr id="374" name="Google Shape;374;p39"/>
          <p:cNvSpPr txBox="1">
            <a:spLocks noGrp="1"/>
          </p:cNvSpPr>
          <p:nvPr>
            <p:ph type="body" idx="1"/>
          </p:nvPr>
        </p:nvSpPr>
        <p:spPr>
          <a:xfrm>
            <a:off x="228600" y="228600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control structure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instruction that dictates the order in which program statements are executed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type of control structures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high-level languages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Invocation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(gọi hàm)</a:t>
            </a:r>
            <a:endParaRPr sz="2600" b="0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down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(từ trên xuống)</a:t>
            </a:r>
            <a:endParaRPr sz="2600" b="0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(lựa chọn)</a:t>
            </a:r>
            <a:endParaRPr sz="2600" b="0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Repetition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(lặp lại)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80" name="Google Shape;380;p40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fld>
            <a:endParaRPr/>
          </a:p>
        </p:txBody>
      </p:sp>
      <p:sp>
        <p:nvSpPr>
          <p:cNvPr id="381" name="Google Shape;381;p40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Invocation</a:t>
            </a:r>
            <a:endParaRPr/>
          </a:p>
        </p:txBody>
      </p:sp>
      <p:sp>
        <p:nvSpPr>
          <p:cNvPr id="382" name="Google Shape;382;p40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784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Java program has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function called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“main” as the starting point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main(String[] args) {}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“public”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scope means that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visible for any other source code to use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“static”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that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function belongs to the class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“void”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that there is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return value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“String[] args”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 parameters or values when the program is executed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88" name="Google Shape;388;p41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</a:t>
            </a:fld>
            <a:endParaRPr/>
          </a:p>
        </p:txBody>
      </p:sp>
      <p:sp>
        <p:nvSpPr>
          <p:cNvPr id="389" name="Google Shape;389;p41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7848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Down (Also Called Sequence)</a:t>
            </a:r>
            <a:endParaRPr/>
          </a:p>
        </p:txBody>
      </p:sp>
      <p:sp>
        <p:nvSpPr>
          <p:cNvPr id="390" name="Google Shape;390;p41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statements are executed in series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top line to the bottom line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at a time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common form of programming control structure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found in every programming language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by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in statements that do not call other pieces of source code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396" name="Google Shape;396;p42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fld>
            <a:endParaRPr/>
          </a:p>
        </p:txBody>
      </p:sp>
      <p:sp>
        <p:nvSpPr>
          <p:cNvPr id="397" name="Google Shape;397;p42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Blocks of Code</a:t>
            </a:r>
            <a:endParaRPr/>
          </a:p>
        </p:txBody>
      </p:sp>
      <p:sp>
        <p:nvSpPr>
          <p:cNvPr id="398" name="Google Shape;398;p42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block statement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encloses several statements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an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and closing brace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Enclosed statements are related in functionality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Leaving out braces can cause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your program to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incorrectly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Braces are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in some circumstances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often used when working with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structures such as invocation, selection, and repetition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fld>
            <a:endParaRPr/>
          </a:p>
        </p:txBody>
      </p:sp>
      <p:sp>
        <p:nvSpPr>
          <p:cNvPr id="405" name="Google Shape;405;p43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Data</a:t>
            </a:r>
            <a:endParaRPr/>
          </a:p>
        </p:txBody>
      </p:sp>
      <p:sp>
        <p:nvSpPr>
          <p:cNvPr id="406" name="Google Shape;406;p4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data to the current output device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the use of the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System.out.print() or System.out.println() statements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print() leaves the current insertion point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cursor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end of the data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being output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println() moves the insertion point to the next line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the data is output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“\n”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(newline escape sequence) tells the system to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to the next line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expression can use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concatenation (+ operator)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4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12" name="Google Shape;412;p44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fld>
            <a:endParaRPr/>
          </a:p>
        </p:txBody>
      </p:sp>
      <p:pic>
        <p:nvPicPr>
          <p:cNvPr id="413" name="Google Shape;413;p44" descr="061921290X_Tab 11-10"/>
          <p:cNvPicPr preferRelativeResize="0"/>
          <p:nvPr/>
        </p:nvPicPr>
        <p:blipFill rotWithShape="1">
          <a:blip r:embed="rId3">
            <a:alphaModFix/>
          </a:blip>
          <a:srcRect l="27972" r="9556"/>
          <a:stretch/>
        </p:blipFill>
        <p:spPr>
          <a:xfrm>
            <a:off x="533400" y="685800"/>
            <a:ext cx="73914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5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19" name="Google Shape;419;p45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fld>
            <a:endParaRPr/>
          </a:p>
        </p:txBody>
      </p:sp>
      <p:sp>
        <p:nvSpPr>
          <p:cNvPr id="420" name="Google Shape;420;p45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Data</a:t>
            </a:r>
            <a:endParaRPr/>
          </a:p>
        </p:txBody>
      </p:sp>
      <p:sp>
        <p:nvSpPr>
          <p:cNvPr id="421" name="Google Shape;421;p45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System.in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methods for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retrieving data from the current input device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creating new variables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read in characters from the input stream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characters are read one by one into another variable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acts as a memory buffer holding the newly created string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value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then be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assigned to a declared String variable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calling the readLine() method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27" name="Google Shape;427;p46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</a:t>
            </a:fld>
            <a:endParaRPr/>
          </a:p>
        </p:txBody>
      </p:sp>
      <p:sp>
        <p:nvSpPr>
          <p:cNvPr id="428" name="Google Shape;428;p46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on Invocation</a:t>
            </a:r>
            <a:endParaRPr/>
          </a:p>
        </p:txBody>
      </p:sp>
      <p:sp>
        <p:nvSpPr>
          <p:cNvPr id="429" name="Google Shape;429;p46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7620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Invocation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act of calling something or someone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implements invocation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the use of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calling functions and methods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a task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can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a value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that belongs to a class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function name is encountered,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passes control to the first line of code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within that function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returns control to the original calling point after the function is executed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35" name="Google Shape;435;p47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47</a:t>
            </a:fld>
            <a:endParaRPr/>
          </a:p>
        </p:txBody>
      </p:sp>
      <p:sp>
        <p:nvSpPr>
          <p:cNvPr id="436" name="Google Shape;436;p47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/>
          </a:p>
        </p:txBody>
      </p:sp>
      <p:sp>
        <p:nvSpPr>
          <p:cNvPr id="437" name="Google Shape;437;p47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syntax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(condition)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one or more statements }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if-else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syntax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(condition)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one or more statements }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one or more statements }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43" name="Google Shape;443;p48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fld>
            <a:endParaRPr/>
          </a:p>
        </p:txBody>
      </p:sp>
      <p:sp>
        <p:nvSpPr>
          <p:cNvPr id="444" name="Google Shape;444;p48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(continued)</a:t>
            </a:r>
            <a:endParaRPr/>
          </a:p>
        </p:txBody>
      </p:sp>
      <p:sp>
        <p:nvSpPr>
          <p:cNvPr id="445" name="Google Shape;445;p48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if-else-if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syntax</a:t>
            </a: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(condition)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one or more statements }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 if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one or more statements }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… // can contain multiple else ifs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one or more statements }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certain blocks of code depending on the state of a variable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the program while it is running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9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51" name="Google Shape;451;p49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</a:t>
            </a:fld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(continued)</a:t>
            </a:r>
            <a:endParaRPr/>
          </a:p>
        </p:txBody>
      </p:sp>
      <p:sp>
        <p:nvSpPr>
          <p:cNvPr id="453" name="Google Shape;453;p49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syntax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switch (expression)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value_1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statement_1;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break;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value_2: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statement_2;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break;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default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// optional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statement_3;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59" name="Google Shape;459;p50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fld>
            <a:endParaRPr/>
          </a:p>
        </p:txBody>
      </p:sp>
      <p:sp>
        <p:nvSpPr>
          <p:cNvPr id="460" name="Google Shape;460;p50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Repetition (Looping)</a:t>
            </a:r>
            <a:endParaRPr/>
          </a:p>
        </p:txBody>
      </p:sp>
      <p:sp>
        <p:nvSpPr>
          <p:cNvPr id="461" name="Google Shape;461;p50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syntax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(variable declaration; expression;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increment/decrement)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statements(s); }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 or pre-operations are commonly used when updating the variable used as the counter in the for loop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(iCount = 1; iCount &lt;= 5; iCount++)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loops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precondition loops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expression is checked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any code is executed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the loop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67" name="Google Shape;467;p51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</a:t>
            </a:fld>
            <a:endParaRPr/>
          </a:p>
        </p:txBody>
      </p:sp>
      <p:sp>
        <p:nvSpPr>
          <p:cNvPr id="468" name="Google Shape;468;p51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Repetition (continued)</a:t>
            </a:r>
            <a:endParaRPr/>
          </a:p>
        </p:txBody>
      </p:sp>
      <p:sp>
        <p:nvSpPr>
          <p:cNvPr id="469" name="Google Shape;469;p51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syntax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while (expression)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statements; }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while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syntax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do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statement(s);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 while (expression);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1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while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loops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postcondition loops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Executes at least once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before expression is evaluated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2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75" name="Google Shape;475;p52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</a:t>
            </a:fld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Ready, Set, Go!</a:t>
            </a:r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Purchase and download Java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 Microsystems offers a version of Java and the JDK for free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an editor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write the program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an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a simple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editor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as NotePad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 the program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javac command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javac MyProg1.java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the program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command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 MyProg1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83" name="Google Shape;483;p53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</a:t>
            </a:fld>
            <a:endParaRPr/>
          </a:p>
        </p:txBody>
      </p:sp>
      <p:sp>
        <p:nvSpPr>
          <p:cNvPr id="484" name="Google Shape;484;p53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Programming</a:t>
            </a:r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style of programming that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representing items, things, and people as objects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rather than basing the logic around actions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object includes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distinct features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 (attributes)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Responses (to events)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provides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reusability and maintainability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4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91" name="Google Shape;491;p54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</a:t>
            </a:fld>
            <a:endParaRPr/>
          </a:p>
        </p:txBody>
      </p:sp>
      <p:pic>
        <p:nvPicPr>
          <p:cNvPr id="492" name="Google Shape;492;p54" descr="061921290X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04800"/>
            <a:ext cx="7467600" cy="60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4"/>
          <p:cNvSpPr txBox="1"/>
          <p:nvPr/>
        </p:nvSpPr>
        <p:spPr>
          <a:xfrm>
            <a:off x="0" y="51816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11-7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object has characteristics,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work, and responses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5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499" name="Google Shape;499;p55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fld>
            <a:endParaRPr/>
          </a:p>
        </p:txBody>
      </p:sp>
      <p:sp>
        <p:nvSpPr>
          <p:cNvPr id="500" name="Google Shape;500;p55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OOP Works</a:t>
            </a:r>
            <a:endParaRPr/>
          </a:p>
        </p:txBody>
      </p:sp>
      <p:sp>
        <p:nvSpPr>
          <p:cNvPr id="501" name="Google Shape;501;p55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a mold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(khu</a:t>
            </a:r>
            <a:r>
              <a:rPr lang="en-US">
                <a:solidFill>
                  <a:srgbClr val="000000"/>
                </a:solidFill>
              </a:rPr>
              <a:t>ôn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 class or template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the figure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</a:t>
            </a:r>
            <a:r>
              <a:rPr lang="en-US">
                <a:solidFill>
                  <a:srgbClr val="000000"/>
                </a:solidFill>
              </a:rPr>
              <a:t>ình thể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the characteristic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mold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Putting the figure to work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the actions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figure can perform, as well as its responses to certain events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6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07" name="Google Shape;507;p56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fld>
            <a:endParaRPr/>
          </a:p>
        </p:txBody>
      </p:sp>
      <p:sp>
        <p:nvSpPr>
          <p:cNvPr id="508" name="Google Shape;508;p56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Terminology</a:t>
            </a:r>
            <a:endParaRPr/>
          </a:p>
        </p:txBody>
      </p:sp>
      <p:sp>
        <p:nvSpPr>
          <p:cNvPr id="509" name="Google Shape;509;p56"/>
          <p:cNvSpPr txBox="1">
            <a:spLocks noGrp="1"/>
          </p:cNvSpPr>
          <p:nvPr>
            <p:ph type="body" idx="1"/>
          </p:nvPr>
        </p:nvSpPr>
        <p:spPr>
          <a:xfrm>
            <a:off x="381000" y="19050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</a:t>
            </a:r>
            <a:r>
              <a:rPr lang="en-US">
                <a:solidFill>
                  <a:srgbClr val="000000"/>
                </a:solidFill>
              </a:rPr>
              <a:t>ớp)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template used for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new object types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along with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properties and behavior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</a:t>
            </a:r>
            <a:r>
              <a:rPr lang="en-US">
                <a:solidFill>
                  <a:srgbClr val="000000"/>
                </a:solidFill>
              </a:rPr>
              <a:t>(đối tượng)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self-contained entity that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consists of both data and procedures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Instantiation </a:t>
            </a:r>
            <a:r>
              <a:rPr lang="en-US" sz="28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(th</a:t>
            </a:r>
            <a:r>
              <a:rPr lang="en-US"/>
              <a:t>ực thể hóa</a:t>
            </a:r>
            <a:r>
              <a:rPr lang="en-US" sz="28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of creating an object based on a class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 </a:t>
            </a:r>
            <a:r>
              <a:rPr lang="en-US" sz="28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(h</a:t>
            </a:r>
            <a:r>
              <a:rPr lang="en-US"/>
              <a:t>àm tạo)</a:t>
            </a:r>
            <a:endParaRPr sz="28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 method used for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instantiating an object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15" name="Google Shape;515;p57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</a:t>
            </a:fld>
            <a:endParaRPr/>
          </a:p>
        </p:txBody>
      </p:sp>
      <p:sp>
        <p:nvSpPr>
          <p:cNvPr id="516" name="Google Shape;516;p57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Terminology (continued)</a:t>
            </a:r>
            <a:endParaRPr/>
          </a:p>
        </p:txBody>
      </p:sp>
      <p:sp>
        <p:nvSpPr>
          <p:cNvPr id="517" name="Google Shape;517;p57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(also called attribute)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(thu</a:t>
            </a:r>
            <a:r>
              <a:rPr lang="en-US">
                <a:solidFill>
                  <a:srgbClr val="000000"/>
                </a:solidFill>
              </a:rPr>
              <a:t>ộc tính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 of an object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(ph</a:t>
            </a:r>
            <a:r>
              <a:rPr lang="en-US">
                <a:solidFill>
                  <a:srgbClr val="000000"/>
                </a:solidFill>
              </a:rPr>
              <a:t>ương thức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performed by an object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defined within the class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</a:t>
            </a:r>
            <a:r>
              <a:rPr lang="en-US">
                <a:solidFill>
                  <a:srgbClr val="000000"/>
                </a:solidFill>
              </a:rPr>
              <a:t>ự kiện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action recognized by a class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handler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lang="en-US">
                <a:solidFill>
                  <a:srgbClr val="000000"/>
                </a:solidFill>
              </a:rPr>
              <a:t>ử lý sự kiện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 class responds to an event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8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23" name="Google Shape;523;p58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</a:t>
            </a:fld>
            <a:endParaRPr/>
          </a:p>
        </p:txBody>
      </p:sp>
      <p:pic>
        <p:nvPicPr>
          <p:cNvPr id="524" name="Google Shape;524;p58" descr="061921290X_11"/>
          <p:cNvPicPr preferRelativeResize="0"/>
          <p:nvPr/>
        </p:nvPicPr>
        <p:blipFill rotWithShape="1">
          <a:blip r:embed="rId3">
            <a:alphaModFix/>
          </a:blip>
          <a:srcRect b="1492"/>
          <a:stretch/>
        </p:blipFill>
        <p:spPr>
          <a:xfrm>
            <a:off x="381000" y="381000"/>
            <a:ext cx="7467600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8"/>
          <p:cNvSpPr txBox="1"/>
          <p:nvPr/>
        </p:nvSpPr>
        <p:spPr>
          <a:xfrm>
            <a:off x="1905000" y="5791200"/>
            <a:ext cx="6934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11-8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a plastic doll shows OOP concepts in action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9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31" name="Google Shape;531;p59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fld>
            <a:endParaRPr/>
          </a:p>
        </p:txBody>
      </p:sp>
      <p:sp>
        <p:nvSpPr>
          <p:cNvPr id="532" name="Google Shape;532;p59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(T</a:t>
            </a:r>
            <a:r>
              <a:rPr lang="en-US">
                <a:solidFill>
                  <a:srgbClr val="FF0000"/>
                </a:solidFill>
              </a:rPr>
              <a:t>ính kế thừa)</a:t>
            </a:r>
            <a:endParaRPr/>
          </a:p>
        </p:txBody>
      </p:sp>
      <p:sp>
        <p:nvSpPr>
          <p:cNvPr id="533" name="Google Shape;533;p59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8153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of providing more class functions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more specific classes based on generic classes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class from which other classes can be created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more specific class </a:t>
            </a: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upon a parent class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Calling a method is a chain reaction up through parent classes 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until it is found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0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39" name="Google Shape;539;p60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fld>
            <a:endParaRPr/>
          </a:p>
        </p:txBody>
      </p:sp>
      <p:pic>
        <p:nvPicPr>
          <p:cNvPr id="540" name="Google Shape;540;p60" descr="061921290X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66800"/>
            <a:ext cx="7389812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0"/>
          <p:cNvSpPr txBox="1"/>
          <p:nvPr/>
        </p:nvSpPr>
        <p:spPr>
          <a:xfrm>
            <a:off x="381000" y="5486400"/>
            <a:ext cx="7315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11-9</a:t>
            </a:r>
            <a:endParaRPr/>
          </a:p>
          <a:p>
            <a:pPr marL="342900" marR="0" lvl="0" indent="-342900" algn="ctr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promotes code reusability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1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47" name="Google Shape;547;p61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</a:t>
            </a:fld>
            <a:endParaRPr/>
          </a:p>
        </p:txBody>
      </p:sp>
      <p:sp>
        <p:nvSpPr>
          <p:cNvPr id="548" name="Google Shape;548;p61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Encapsulation (T</a:t>
            </a:r>
            <a:r>
              <a:rPr lang="en-US">
                <a:solidFill>
                  <a:srgbClr val="FF0000"/>
                </a:solidFill>
              </a:rPr>
              <a:t>ính đóng gói)</a:t>
            </a:r>
            <a:endParaRPr/>
          </a:p>
        </p:txBody>
      </p:sp>
      <p:sp>
        <p:nvSpPr>
          <p:cNvPr id="549" name="Google Shape;549;p61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of hiding an object’s operations from other objects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9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Treats an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box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have to know how an object works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order to use it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9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cut down on the potential errors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occur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Isolates errors to the problem object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2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55" name="Google Shape;555;p62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</a:t>
            </a:fld>
            <a:endParaRPr/>
          </a:p>
        </p:txBody>
      </p:sp>
      <p:sp>
        <p:nvSpPr>
          <p:cNvPr id="556" name="Google Shape;556;p62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Polymorphism (T</a:t>
            </a:r>
            <a:r>
              <a:rPr lang="en-US">
                <a:solidFill>
                  <a:srgbClr val="FF0000"/>
                </a:solidFill>
              </a:rPr>
              <a:t>ính đa hình)</a:t>
            </a:r>
            <a:endParaRPr/>
          </a:p>
        </p:txBody>
      </p:sp>
      <p:sp>
        <p:nvSpPr>
          <p:cNvPr id="557" name="Google Shape;557;p62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object’s ability to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same expression to denote different operations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operation is called,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at runtime determines how the operation is used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69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Using the Draw operation for all geometric shapes (squares, triangles, and circles)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Draw is called,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decides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object’s method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call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display the shape correctly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3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63" name="Google Shape;563;p63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63</a:t>
            </a:fld>
            <a:endParaRPr/>
          </a:p>
        </p:txBody>
      </p:sp>
      <p:sp>
        <p:nvSpPr>
          <p:cNvPr id="564" name="Google Shape;564;p63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and OOP</a:t>
            </a:r>
            <a:endParaRPr/>
          </a:p>
        </p:txBody>
      </p:sp>
      <p:sp>
        <p:nvSpPr>
          <p:cNvPr id="565" name="Google Shape;565;p6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Everything in Java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revolves around classes and their properties and methods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amount of code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are producing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reusing objects you have created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someone else’s objects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the available objects and libraries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use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Programs, algorithms and tasks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already been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by someone else  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4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71" name="Google Shape;571;p64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fld>
            <a:endParaRPr/>
          </a:p>
        </p:txBody>
      </p:sp>
      <p:sp>
        <p:nvSpPr>
          <p:cNvPr id="572" name="Google Shape;572;p64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a </a:t>
            </a:r>
            <a:b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</a:t>
            </a:r>
            <a:endParaRPr/>
          </a:p>
        </p:txBody>
      </p:sp>
      <p:sp>
        <p:nvSpPr>
          <p:cNvPr id="573" name="Google Shape;573;p64"/>
          <p:cNvSpPr txBox="1">
            <a:spLocks noGrp="1"/>
          </p:cNvSpPr>
          <p:nvPr>
            <p:ph type="body" idx="1"/>
          </p:nvPr>
        </p:nvSpPr>
        <p:spPr>
          <a:xfrm>
            <a:off x="228600" y="213360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Functionality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Vendor stability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Popularity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market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Ease of learning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5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79" name="Google Shape;579;p65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</a:t>
            </a:fld>
            <a:endParaRPr/>
          </a:p>
        </p:txBody>
      </p:sp>
      <p:sp>
        <p:nvSpPr>
          <p:cNvPr id="580" name="Google Shape;580;p65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Last Thought</a:t>
            </a:r>
            <a:endParaRPr/>
          </a:p>
        </p:txBody>
      </p:sp>
      <p:sp>
        <p:nvSpPr>
          <p:cNvPr id="581" name="Google Shape;581;p65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 will do whatever you tell it to do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most cases, </a:t>
            </a:r>
            <a:r>
              <a:rPr lang="en-US" sz="28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program doesn’t work correctly, it is the fault of the person who wrote the program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the computer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a responsible programmer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create new and wonderful programs to help society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CCCC00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Or…the program you write might have serious ramifications on society 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6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87" name="Google Shape;587;p66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</a:t>
            </a:fld>
            <a:endParaRPr/>
          </a:p>
        </p:txBody>
      </p:sp>
      <p:sp>
        <p:nvSpPr>
          <p:cNvPr id="588" name="Google Shape;588;p66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sp>
        <p:nvSpPr>
          <p:cNvPr id="589" name="Google Shape;589;p66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 is only as good as the programmer(s) who wrote it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are used everywhere and in almost everything you do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 can either be interpreted or compiled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Low-level languages are more closely related to the machine languages that a computer understands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Assembler is a low-level programming language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7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595" name="Google Shape;595;p67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fld>
            <a:endParaRPr/>
          </a:p>
        </p:txBody>
      </p:sp>
      <p:sp>
        <p:nvSpPr>
          <p:cNvPr id="596" name="Google Shape;596;p67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(continued)</a:t>
            </a:r>
            <a:endParaRPr/>
          </a:p>
        </p:txBody>
      </p:sp>
      <p:sp>
        <p:nvSpPr>
          <p:cNvPr id="597" name="Google Shape;597;p67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languages are more closely related to human language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are created for solving problems through some logical method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Pseudocode is a way to use human language to map out how a program is suppose to work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the algorithm is one of the most important steps in writing a program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8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603" name="Google Shape;603;p68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</a:t>
            </a:fld>
            <a:endParaRPr/>
          </a:p>
        </p:txBody>
      </p:sp>
      <p:sp>
        <p:nvSpPr>
          <p:cNvPr id="604" name="Google Shape;604;p68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(continued)</a:t>
            </a:r>
            <a:endParaRPr/>
          </a:p>
        </p:txBody>
      </p:sp>
      <p:sp>
        <p:nvSpPr>
          <p:cNvPr id="605" name="Google Shape;605;p68"/>
          <p:cNvSpPr txBox="1">
            <a:spLocks noGrp="1"/>
          </p:cNvSpPr>
          <p:nvPr>
            <p:ph type="body" idx="1"/>
          </p:nvPr>
        </p:nvSpPr>
        <p:spPr>
          <a:xfrm>
            <a:off x="304800" y="1905000"/>
            <a:ext cx="81534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a high-level programming language that was initially designed for the Internet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are temporary storage locations with a specific data type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CC00"/>
              </a:buClr>
              <a:buSzPts val="2600"/>
              <a:buFont typeface="Times New Roman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calculations and storage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uses mathematical, relational, and logical operators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control structures used within a program: top down, invocation, selection, and repetition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9"/>
          <p:cNvSpPr txBox="1"/>
          <p:nvPr/>
        </p:nvSpPr>
        <p:spPr>
          <a:xfrm>
            <a:off x="228600" y="6553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with Computer Science</a:t>
            </a:r>
            <a:endParaRPr/>
          </a:p>
        </p:txBody>
      </p:sp>
      <p:sp>
        <p:nvSpPr>
          <p:cNvPr id="611" name="Google Shape;611;p69"/>
          <p:cNvSpPr txBox="1"/>
          <p:nvPr/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CC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69</a:t>
            </a:fld>
            <a:endParaRPr/>
          </a:p>
        </p:txBody>
      </p:sp>
      <p:sp>
        <p:nvSpPr>
          <p:cNvPr id="612" name="Google Shape;612;p69"/>
          <p:cNvSpPr txBox="1"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(continued)</a:t>
            </a:r>
            <a:endParaRPr/>
          </a:p>
        </p:txBody>
      </p:sp>
      <p:sp>
        <p:nvSpPr>
          <p:cNvPr id="613" name="Google Shape;613;p69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81534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programming (OOP) allows programmers to reuse code and make their programs more maintainable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creates classes, which are like templates or molds from which objects can be created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can have properties, methods, and event handlers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tied very closely to the OOP model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CC00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order to become a good programmer you must </a:t>
            </a: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practice, practice,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practice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some more!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3264</Words>
  <Application>Microsoft Office PowerPoint</Application>
  <PresentationFormat>On-screen Show (4:3)</PresentationFormat>
  <Paragraphs>526</Paragraphs>
  <Slides>69</Slides>
  <Notes>69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Courier New</vt:lpstr>
      <vt:lpstr>Times New Roman</vt:lpstr>
      <vt:lpstr>Default Design</vt:lpstr>
      <vt:lpstr>Bitmap Image</vt:lpstr>
      <vt:lpstr>PowerPoint Presentation</vt:lpstr>
      <vt:lpstr>Objectives </vt:lpstr>
      <vt:lpstr>Objectives (continued)</vt:lpstr>
      <vt:lpstr>What Is a Program?</vt:lpstr>
      <vt:lpstr>I Speak Computer</vt:lpstr>
      <vt:lpstr>Types of  Programming Languages</vt:lpstr>
      <vt:lpstr>PowerPoint Presentation</vt:lpstr>
      <vt:lpstr>Low-level Languages</vt:lpstr>
      <vt:lpstr>Assembly Language Statements</vt:lpstr>
      <vt:lpstr>Assembly Language Statements (continued)</vt:lpstr>
      <vt:lpstr>High-level Languages</vt:lpstr>
      <vt:lpstr>PowerPoint Presentation</vt:lpstr>
      <vt:lpstr>Structure of a Program</vt:lpstr>
      <vt:lpstr>Example of Pseudocode </vt:lpstr>
      <vt:lpstr>Choosing and Testing  the Algorithm</vt:lpstr>
      <vt:lpstr>Modifications to Pseudocode  Based on Testing</vt:lpstr>
      <vt:lpstr>Syntax of a  Programming Language</vt:lpstr>
      <vt:lpstr>Learning to Cook With Java</vt:lpstr>
      <vt:lpstr>Variables</vt:lpstr>
      <vt:lpstr>Identifiers and Naming Conventions</vt:lpstr>
      <vt:lpstr>Variable Types</vt:lpstr>
      <vt:lpstr>PowerPoint Presentation</vt:lpstr>
      <vt:lpstr>PowerPoint Presentation</vt:lpstr>
      <vt:lpstr>PowerPoint Presentation</vt:lpstr>
      <vt:lpstr>PowerPoint Presentation</vt:lpstr>
      <vt:lpstr>String Data Type</vt:lpstr>
      <vt:lpstr>Hungarian Notation</vt:lpstr>
      <vt:lpstr>PowerPoint Presentation</vt:lpstr>
      <vt:lpstr>Variable Content</vt:lpstr>
      <vt:lpstr>Operators</vt:lpstr>
      <vt:lpstr>PowerPoint Presentation</vt:lpstr>
      <vt:lpstr>Operators (continued)</vt:lpstr>
      <vt:lpstr>Operators (continued)</vt:lpstr>
      <vt:lpstr>PowerPoint Presentation</vt:lpstr>
      <vt:lpstr>PowerPoint Presentation</vt:lpstr>
      <vt:lpstr>PowerPoint Presentation</vt:lpstr>
      <vt:lpstr>Precedence (Độ ưu tiên)</vt:lpstr>
      <vt:lpstr>PowerPoint Presentation</vt:lpstr>
      <vt:lpstr>Java Control Structures  and Program Flow</vt:lpstr>
      <vt:lpstr>Invocation</vt:lpstr>
      <vt:lpstr>Top Down (Also Called Sequence)</vt:lpstr>
      <vt:lpstr>Blocks of Code</vt:lpstr>
      <vt:lpstr>Output Data</vt:lpstr>
      <vt:lpstr>PowerPoint Presentation</vt:lpstr>
      <vt:lpstr>Input Data</vt:lpstr>
      <vt:lpstr>More on Invocation</vt:lpstr>
      <vt:lpstr>Selection</vt:lpstr>
      <vt:lpstr>Selection (continued)</vt:lpstr>
      <vt:lpstr>Selection (continued)</vt:lpstr>
      <vt:lpstr>Repetition (Looping)</vt:lpstr>
      <vt:lpstr>Repetition (continued)</vt:lpstr>
      <vt:lpstr>Ready, Set, Go!</vt:lpstr>
      <vt:lpstr>Object-Oriented Programming</vt:lpstr>
      <vt:lpstr>PowerPoint Presentation</vt:lpstr>
      <vt:lpstr>How OOP Works</vt:lpstr>
      <vt:lpstr>OOP Terminology</vt:lpstr>
      <vt:lpstr>OOP Terminology (continued)</vt:lpstr>
      <vt:lpstr>PowerPoint Presentation</vt:lpstr>
      <vt:lpstr>Inheritance (Tính kế thừa)</vt:lpstr>
      <vt:lpstr>PowerPoint Presentation</vt:lpstr>
      <vt:lpstr>Encapsulation (Tính đóng gói)</vt:lpstr>
      <vt:lpstr>Polymorphism (Tính đa hình)</vt:lpstr>
      <vt:lpstr>Java and OOP</vt:lpstr>
      <vt:lpstr>Choosing a  Programming Language</vt:lpstr>
      <vt:lpstr>One Last Thought</vt:lpstr>
      <vt:lpstr>Summary</vt:lpstr>
      <vt:lpstr>Summary (continued)</vt:lpstr>
      <vt:lpstr>Summary (continued)</vt:lpstr>
      <vt:lpstr>Summary (continued)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Chimborazo</dc:creator>
  <cp:lastModifiedBy>Admin</cp:lastModifiedBy>
  <cp:revision>1</cp:revision>
  <dcterms:created xsi:type="dcterms:W3CDTF">2004-08-05T16:05:47Z</dcterms:created>
  <dcterms:modified xsi:type="dcterms:W3CDTF">2020-07-16T01:32:29Z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1033-11.2.0.9232</vt:lpwstr>
  </property>
</Properties>
</file>