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2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9144000"/>
  <p:embeddedFontLst>
    <p:embeddedFont>
      <p:font typeface="Calibri" panose="020F0502020204030204" pitchFamily="34" charset="0"/>
      <p:regular r:id="rId27"/>
      <p:bold r:id="rId28"/>
      <p:italic r:id="rId29"/>
      <p:boldItalic r:id="rId30"/>
    </p:embeddedFont>
    <p:embeddedFont>
      <p:font typeface="Century Gothic" panose="020B0502020202020204" pitchFamily="34" charset="0"/>
      <p:regular r:id="rId31"/>
      <p:bold r:id="rId32"/>
      <p:italic r:id="rId33"/>
      <p:boldItalic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509BF21-CCCB-485E-90EE-2DFBDEE46054}">
  <a:tblStyle styleId="{2509BF21-CCCB-485E-90EE-2DFBDEE4605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7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6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7" name="Google Shape;117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818b6f4c0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818b6f4c03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g818b6f4c03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827619db9d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827619db9d_0_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g827619db9d_0_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827619db9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827619db9d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g827619db9d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827619db9d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827619db9d_0_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827619db9d_0_2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818a158dc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818a158dcf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g818a158dcf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818a158dcf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818a158dcf_0_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g818a158dcf_0_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818a158dcf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818a158dcf_0_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g818a158dcf_0_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818a158dcf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818a158dcf_0_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g818a158dcf_0_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" name="Google Shape;311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" name="Google Shape;321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7" name="Google Shape;327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/>
          <p:nvPr/>
        </p:nvSpPr>
        <p:spPr>
          <a:xfrm>
            <a:off x="0" y="0"/>
            <a:ext cx="12192000" cy="2185988"/>
          </a:xfrm>
          <a:custGeom>
            <a:avLst/>
            <a:gdLst/>
            <a:ahLst/>
            <a:cxnLst/>
            <a:rect l="l" t="t" r="r" b="b"/>
            <a:pathLst>
              <a:path w="5760" h="1377" extrusionOk="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" name="Google Shape;21;p3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body" idx="1"/>
          </p:nvPr>
        </p:nvSpPr>
        <p:spPr>
          <a:xfrm>
            <a:off x="818712" y="2222287"/>
            <a:ext cx="10554574" cy="363651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🞆"/>
              <a:defRPr/>
            </a:lvl1pPr>
            <a:lvl2pPr marL="914400" lvl="1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2pPr>
            <a:lvl3pPr marL="1371600" lvl="2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3pPr>
            <a:lvl4pPr marL="1828800" lvl="3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4pPr>
            <a:lvl5pPr marL="2286000" lvl="4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5pPr>
            <a:lvl6pPr marL="2743200" lvl="5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6pPr>
            <a:lvl7pPr marL="3200400" lvl="6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7pPr>
            <a:lvl8pPr marL="3657600" lvl="7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8pPr>
            <a:lvl9pPr marL="4114800" lvl="8" indent="-342900" algn="l">
              <a:spcBef>
                <a:spcPts val="600"/>
              </a:spcBef>
              <a:spcAft>
                <a:spcPts val="600"/>
              </a:spcAft>
              <a:buSzPts val="1800"/>
              <a:buChar char="🞆"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/>
          <p:nvPr/>
        </p:nvSpPr>
        <p:spPr>
          <a:xfrm>
            <a:off x="0" y="-3175"/>
            <a:ext cx="12192000" cy="5203825"/>
          </a:xfrm>
          <a:custGeom>
            <a:avLst/>
            <a:gdLst/>
            <a:ahLst/>
            <a:cxnLst/>
            <a:rect l="l" t="t" r="r" b="b"/>
            <a:pathLst>
              <a:path w="5760" h="3278" extrusionOk="0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" name="Google Shape;28;p4"/>
          <p:cNvSpPr txBox="1"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5400"/>
              <a:buFont typeface="Century Gothic"/>
              <a:buNone/>
              <a:defRPr sz="5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ctr"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60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600"/>
              </a:spcBef>
              <a:spcAft>
                <a:spcPts val="600"/>
              </a:spcAft>
              <a:buSzPts val="12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/>
          <p:nvPr/>
        </p:nvSpPr>
        <p:spPr>
          <a:xfrm>
            <a:off x="0" y="1"/>
            <a:ext cx="12192000" cy="5203825"/>
          </a:xfrm>
          <a:custGeom>
            <a:avLst/>
            <a:gdLst/>
            <a:ahLst/>
            <a:cxnLst/>
            <a:rect l="l" t="t" r="r" b="b"/>
            <a:pathLst>
              <a:path w="5760" h="3278" extrusionOk="0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" name="Google Shape;35;p5"/>
          <p:cNvSpPr txBox="1"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800"/>
              <a:buFont typeface="Century Gothic"/>
              <a:buNone/>
              <a:defRPr sz="4800" b="1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r">
              <a:spcBef>
                <a:spcPts val="36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12192000" cy="2185988"/>
          </a:xfrm>
          <a:custGeom>
            <a:avLst/>
            <a:gdLst/>
            <a:ahLst/>
            <a:cxnLst/>
            <a:rect l="l" t="t" r="r" b="b"/>
            <a:pathLst>
              <a:path w="5760" h="1377" extrusionOk="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" name="Google Shape;42;p6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1"/>
          </p:nvPr>
        </p:nvSpPr>
        <p:spPr>
          <a:xfrm>
            <a:off x="818712" y="2222287"/>
            <a:ext cx="5185873" cy="363876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🞆"/>
              <a:defRPr/>
            </a:lvl1pPr>
            <a:lvl2pPr marL="914400" lvl="1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2pPr>
            <a:lvl3pPr marL="1371600" lvl="2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3pPr>
            <a:lvl4pPr marL="1828800" lvl="3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4pPr>
            <a:lvl5pPr marL="2286000" lvl="4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5pPr>
            <a:lvl6pPr marL="2743200" lvl="5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6pPr>
            <a:lvl7pPr marL="3200400" lvl="6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7pPr>
            <a:lvl8pPr marL="3657600" lvl="7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8pPr>
            <a:lvl9pPr marL="4114800" lvl="8" indent="-342900" algn="l">
              <a:spcBef>
                <a:spcPts val="600"/>
              </a:spcBef>
              <a:spcAft>
                <a:spcPts val="600"/>
              </a:spcAft>
              <a:buSzPts val="1800"/>
              <a:buChar char="🞆"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2"/>
          </p:nvPr>
        </p:nvSpPr>
        <p:spPr>
          <a:xfrm>
            <a:off x="6187415" y="2222287"/>
            <a:ext cx="5194583" cy="3638764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🞆"/>
              <a:defRPr/>
            </a:lvl1pPr>
            <a:lvl2pPr marL="914400" lvl="1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2pPr>
            <a:lvl3pPr marL="1371600" lvl="2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3pPr>
            <a:lvl4pPr marL="1828800" lvl="3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4pPr>
            <a:lvl5pPr marL="2286000" lvl="4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5pPr>
            <a:lvl6pPr marL="2743200" lvl="5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6pPr>
            <a:lvl7pPr marL="3200400" lvl="6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7pPr>
            <a:lvl8pPr marL="3657600" lvl="7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8pPr>
            <a:lvl9pPr marL="4114800" lvl="8" indent="-342900" algn="l">
              <a:spcBef>
                <a:spcPts val="600"/>
              </a:spcBef>
              <a:spcAft>
                <a:spcPts val="600"/>
              </a:spcAft>
              <a:buSzPts val="1800"/>
              <a:buChar char="🞆"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7"/>
          <p:cNvSpPr/>
          <p:nvPr/>
        </p:nvSpPr>
        <p:spPr>
          <a:xfrm>
            <a:off x="0" y="0"/>
            <a:ext cx="12192000" cy="2185988"/>
          </a:xfrm>
          <a:custGeom>
            <a:avLst/>
            <a:gdLst/>
            <a:ahLst/>
            <a:cxnLst/>
            <a:rect l="l" t="t" r="r" b="b"/>
            <a:pathLst>
              <a:path w="5760" h="1377" extrusionOk="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" name="Google Shape;50;p7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ctr">
              <a:spcBef>
                <a:spcPts val="400"/>
              </a:spcBef>
              <a:spcAft>
                <a:spcPts val="0"/>
              </a:spcAft>
              <a:buSzPts val="2000"/>
              <a:buNone/>
              <a:defRPr sz="2000" b="0"/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body" idx="2"/>
          </p:nvPr>
        </p:nvSpPr>
        <p:spPr>
          <a:xfrm>
            <a:off x="814729" y="2751138"/>
            <a:ext cx="5189856" cy="310991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🞆"/>
              <a:defRPr/>
            </a:lvl1pPr>
            <a:lvl2pPr marL="914400" lvl="1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2pPr>
            <a:lvl3pPr marL="1371600" lvl="2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3pPr>
            <a:lvl4pPr marL="1828800" lvl="3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4pPr>
            <a:lvl5pPr marL="2286000" lvl="4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5pPr>
            <a:lvl6pPr marL="2743200" lvl="5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6pPr>
            <a:lvl7pPr marL="3200400" lvl="6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7pPr>
            <a:lvl8pPr marL="3657600" lvl="7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8pPr>
            <a:lvl9pPr marL="4114800" lvl="8" indent="-342900" algn="l">
              <a:spcBef>
                <a:spcPts val="600"/>
              </a:spcBef>
              <a:spcAft>
                <a:spcPts val="600"/>
              </a:spcAft>
              <a:buSzPts val="1800"/>
              <a:buChar char="🞆"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body" idx="3"/>
          </p:nvPr>
        </p:nvSpPr>
        <p:spPr>
          <a:xfrm>
            <a:off x="6187415" y="2174875"/>
            <a:ext cx="5194583" cy="57626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ctr">
              <a:spcBef>
                <a:spcPts val="400"/>
              </a:spcBef>
              <a:spcAft>
                <a:spcPts val="0"/>
              </a:spcAft>
              <a:buSzPts val="2000"/>
              <a:buNone/>
              <a:defRPr sz="2000" b="0"/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body" idx="4"/>
          </p:nvPr>
        </p:nvSpPr>
        <p:spPr>
          <a:xfrm>
            <a:off x="6187415" y="2751138"/>
            <a:ext cx="5194583" cy="310991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🞆"/>
              <a:defRPr/>
            </a:lvl1pPr>
            <a:lvl2pPr marL="914400" lvl="1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2pPr>
            <a:lvl3pPr marL="1371600" lvl="2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3pPr>
            <a:lvl4pPr marL="1828800" lvl="3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4pPr>
            <a:lvl5pPr marL="2286000" lvl="4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5pPr>
            <a:lvl6pPr marL="2743200" lvl="5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6pPr>
            <a:lvl7pPr marL="3200400" lvl="6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7pPr>
            <a:lvl8pPr marL="3657600" lvl="7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8pPr>
            <a:lvl9pPr marL="4114800" lvl="8" indent="-342900" algn="l">
              <a:spcBef>
                <a:spcPts val="600"/>
              </a:spcBef>
              <a:spcAft>
                <a:spcPts val="600"/>
              </a:spcAft>
              <a:buSzPts val="1800"/>
              <a:buChar char="🞆"/>
              <a:defRPr/>
            </a:lvl9pPr>
          </a:lstStyle>
          <a:p>
            <a:endParaRPr/>
          </a:p>
        </p:txBody>
      </p:sp>
      <p:sp>
        <p:nvSpPr>
          <p:cNvPr id="55" name="Google Shape;55;p7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7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7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/>
          <p:nvPr/>
        </p:nvSpPr>
        <p:spPr>
          <a:xfrm>
            <a:off x="0" y="0"/>
            <a:ext cx="12192000" cy="2185988"/>
          </a:xfrm>
          <a:custGeom>
            <a:avLst/>
            <a:gdLst/>
            <a:ahLst/>
            <a:cxnLst/>
            <a:rect l="l" t="t" r="r" b="b"/>
            <a:pathLst>
              <a:path w="5760" h="1377" extrusionOk="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" name="Google Shape;60;p8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8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8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9"/>
          <p:cNvSpPr/>
          <p:nvPr/>
        </p:nvSpPr>
        <p:spPr>
          <a:xfrm>
            <a:off x="1073151" y="446087"/>
            <a:ext cx="3547533" cy="1814651"/>
          </a:xfrm>
          <a:custGeom>
            <a:avLst/>
            <a:gdLst/>
            <a:ahLst/>
            <a:cxnLst/>
            <a:rect l="l" t="t" r="r" b="b"/>
            <a:pathLst>
              <a:path w="3384" h="2308" extrusionOk="0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" name="Google Shape;66;p9"/>
          <p:cNvSpPr txBox="1"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2000"/>
              <a:buFont typeface="Century Gothic"/>
              <a:buNone/>
              <a:defRPr sz="20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body" idx="1"/>
          </p:nvPr>
        </p:nvSpPr>
        <p:spPr>
          <a:xfrm>
            <a:off x="4855633" y="446088"/>
            <a:ext cx="6252633" cy="541496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🞆"/>
              <a:defRPr/>
            </a:lvl1pPr>
            <a:lvl2pPr marL="914400" lvl="1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2pPr>
            <a:lvl3pPr marL="1371600" lvl="2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3pPr>
            <a:lvl4pPr marL="1828800" lvl="3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4pPr>
            <a:lvl5pPr marL="2286000" lvl="4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5pPr>
            <a:lvl6pPr marL="2743200" lvl="5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6pPr>
            <a:lvl7pPr marL="3200400" lvl="6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7pPr>
            <a:lvl8pPr marL="3657600" lvl="7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8pPr>
            <a:lvl9pPr marL="4114800" lvl="8" indent="-342900" algn="l">
              <a:spcBef>
                <a:spcPts val="600"/>
              </a:spcBef>
              <a:spcAft>
                <a:spcPts val="600"/>
              </a:spcAft>
              <a:buSzPts val="1800"/>
              <a:buChar char="🞆"/>
              <a:defRPr/>
            </a:lvl9pPr>
          </a:lstStyle>
          <a:p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body" idx="2"/>
          </p:nvPr>
        </p:nvSpPr>
        <p:spPr>
          <a:xfrm>
            <a:off x="1073151" y="2260738"/>
            <a:ext cx="3547533" cy="360031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9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9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9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0"/>
          <p:cNvSpPr txBox="1"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2400"/>
              <a:buFont typeface="Century Gothic"/>
              <a:buNone/>
              <a:defRPr sz="2400"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0"/>
          <p:cNvSpPr>
            <a:spLocks noGrp="1"/>
          </p:cNvSpPr>
          <p:nvPr>
            <p:ph type="pic" idx="2"/>
          </p:nvPr>
        </p:nvSpPr>
        <p:spPr>
          <a:xfrm>
            <a:off x="6098117" y="0"/>
            <a:ext cx="6093883" cy="6858000"/>
          </a:xfrm>
          <a:prstGeom prst="rect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28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sz="14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🞆"/>
              <a:defRPr sz="16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🞆"/>
              <a:defRPr sz="14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75" name="Google Shape;75;p10"/>
          <p:cNvSpPr txBox="1">
            <a:spLocks noGrp="1"/>
          </p:cNvSpPr>
          <p:nvPr>
            <p:ph type="body" idx="1"/>
          </p:nvPr>
        </p:nvSpPr>
        <p:spPr>
          <a:xfrm>
            <a:off x="814728" y="2344684"/>
            <a:ext cx="4852988" cy="351636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76" name="Google Shape;76;p10"/>
          <p:cNvSpPr txBox="1">
            <a:spLocks noGrp="1"/>
          </p:cNvSpPr>
          <p:nvPr>
            <p:ph type="dt" idx="10"/>
          </p:nvPr>
        </p:nvSpPr>
        <p:spPr>
          <a:xfrm>
            <a:off x="3885810" y="6041362"/>
            <a:ext cx="97687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0"/>
          <p:cNvSpPr txBox="1">
            <a:spLocks noGrp="1"/>
          </p:cNvSpPr>
          <p:nvPr>
            <p:ph type="ftr" idx="11"/>
          </p:nvPr>
        </p:nvSpPr>
        <p:spPr>
          <a:xfrm>
            <a:off x="590396" y="6041362"/>
            <a:ext cx="329541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0"/>
          <p:cNvSpPr txBox="1">
            <a:spLocks noGrp="1"/>
          </p:cNvSpPr>
          <p:nvPr>
            <p:ph type="sldNum" idx="12"/>
          </p:nvPr>
        </p:nvSpPr>
        <p:spPr>
          <a:xfrm>
            <a:off x="4862689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anoramic Picture with Caption">
  <p:cSld name="Panoramic Picture with Caption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1"/>
          <p:cNvSpPr txBox="1"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2400"/>
              <a:buFont typeface="Century Gothic"/>
              <a:buNone/>
              <a:defRPr sz="2400"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1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4800600"/>
          </a:xfrm>
          <a:prstGeom prst="rect">
            <a:avLst/>
          </a:prstGeom>
          <a:noFill/>
          <a:ln w="9525" cap="rnd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  <a:defRPr sz="16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🞆"/>
              <a:defRPr sz="16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🞆"/>
              <a:defRPr sz="14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82" name="Google Shape;82;p11"/>
          <p:cNvSpPr txBox="1">
            <a:spLocks noGrp="1"/>
          </p:cNvSpPr>
          <p:nvPr>
            <p:ph type="body" idx="1"/>
          </p:nvPr>
        </p:nvSpPr>
        <p:spPr>
          <a:xfrm>
            <a:off x="810000" y="5367338"/>
            <a:ext cx="10561418" cy="49371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83" name="Google Shape;83;p11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1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1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with Caption">
  <p:cSld name="Quote with Caption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2"/>
          <p:cNvSpPr/>
          <p:nvPr/>
        </p:nvSpPr>
        <p:spPr>
          <a:xfrm>
            <a:off x="631697" y="1081456"/>
            <a:ext cx="6332416" cy="3239188"/>
          </a:xfrm>
          <a:custGeom>
            <a:avLst/>
            <a:gdLst/>
            <a:ahLst/>
            <a:cxnLst/>
            <a:rect l="l" t="t" r="r" b="b"/>
            <a:pathLst>
              <a:path w="3384" h="2308" extrusionOk="0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8" name="Google Shape;88;p12"/>
          <p:cNvSpPr txBox="1"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200"/>
              <a:buFont typeface="Century Gothic"/>
              <a:buNone/>
              <a:defRPr sz="4200" b="1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2"/>
          <p:cNvSpPr txBox="1"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0" name="Google Shape;90;p12"/>
          <p:cNvSpPr txBox="1">
            <a:spLocks noGrp="1"/>
          </p:cNvSpPr>
          <p:nvPr>
            <p:ph type="body" idx="2"/>
          </p:nvPr>
        </p:nvSpPr>
        <p:spPr>
          <a:xfrm>
            <a:off x="7574642" y="1081456"/>
            <a:ext cx="3810001" cy="407546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SzPts val="1800"/>
              <a:buFont typeface="Century Gothic"/>
              <a:buNone/>
              <a:defRPr/>
            </a:lvl1pPr>
            <a:lvl2pPr marL="914400" lvl="1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2pPr>
            <a:lvl3pPr marL="1371600" lvl="2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3pPr>
            <a:lvl4pPr marL="1828800" lvl="3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4pPr>
            <a:lvl5pPr marL="2286000" lvl="4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5pPr>
            <a:lvl6pPr marL="2743200" lvl="5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6pPr>
            <a:lvl7pPr marL="3200400" lvl="6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7pPr>
            <a:lvl8pPr marL="3657600" lvl="7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8pPr>
            <a:lvl9pPr marL="4114800" lvl="8" indent="-342900" algn="l">
              <a:spcBef>
                <a:spcPts val="600"/>
              </a:spcBef>
              <a:spcAft>
                <a:spcPts val="600"/>
              </a:spcAft>
              <a:buSzPts val="1800"/>
              <a:buChar char="🞆"/>
              <a:defRPr/>
            </a:lvl9pPr>
          </a:lstStyle>
          <a:p>
            <a:endParaRPr/>
          </a:p>
        </p:txBody>
      </p:sp>
      <p:sp>
        <p:nvSpPr>
          <p:cNvPr id="91" name="Google Shape;91;p12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2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2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ame Card">
  <p:cSld name="Name Card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3"/>
          <p:cNvSpPr/>
          <p:nvPr/>
        </p:nvSpPr>
        <p:spPr>
          <a:xfrm>
            <a:off x="1140884" y="2286585"/>
            <a:ext cx="4895115" cy="2503972"/>
          </a:xfrm>
          <a:custGeom>
            <a:avLst/>
            <a:gdLst/>
            <a:ahLst/>
            <a:cxnLst/>
            <a:rect l="l" t="t" r="r" b="b"/>
            <a:pathLst>
              <a:path w="3384" h="2308" extrusionOk="0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6" name="Google Shape;96;p13"/>
          <p:cNvSpPr txBox="1"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  <a:defRPr sz="3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13"/>
          <p:cNvSpPr txBox="1">
            <a:spLocks noGrp="1"/>
          </p:cNvSpPr>
          <p:nvPr>
            <p:ph type="body" idx="1"/>
          </p:nvPr>
        </p:nvSpPr>
        <p:spPr>
          <a:xfrm>
            <a:off x="6156000" y="2286000"/>
            <a:ext cx="4880300" cy="229552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SzPts val="1800"/>
              <a:buFont typeface="Century Gothic"/>
              <a:buNone/>
              <a:defRPr/>
            </a:lvl1pPr>
            <a:lvl2pPr marL="914400" lvl="1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2pPr>
            <a:lvl3pPr marL="1371600" lvl="2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3pPr>
            <a:lvl4pPr marL="1828800" lvl="3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4pPr>
            <a:lvl5pPr marL="2286000" lvl="4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5pPr>
            <a:lvl6pPr marL="2743200" lvl="5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6pPr>
            <a:lvl7pPr marL="3200400" lvl="6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7pPr>
            <a:lvl8pPr marL="3657600" lvl="7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8pPr>
            <a:lvl9pPr marL="4114800" lvl="8" indent="-342900" algn="l">
              <a:spcBef>
                <a:spcPts val="600"/>
              </a:spcBef>
              <a:spcAft>
                <a:spcPts val="600"/>
              </a:spcAft>
              <a:buSzPts val="1800"/>
              <a:buChar char="🞆"/>
              <a:defRPr/>
            </a:lvl9pPr>
          </a:lstStyle>
          <a:p>
            <a:endParaRPr/>
          </a:p>
        </p:txBody>
      </p:sp>
      <p:sp>
        <p:nvSpPr>
          <p:cNvPr id="98" name="Google Shape;98;p13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3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13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4"/>
          <p:cNvSpPr/>
          <p:nvPr/>
        </p:nvSpPr>
        <p:spPr>
          <a:xfrm>
            <a:off x="0" y="0"/>
            <a:ext cx="12192000" cy="2185988"/>
          </a:xfrm>
          <a:custGeom>
            <a:avLst/>
            <a:gdLst/>
            <a:ahLst/>
            <a:cxnLst/>
            <a:rect l="l" t="t" r="r" b="b"/>
            <a:pathLst>
              <a:path w="5760" h="1377" extrusionOk="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3" name="Google Shape;103;p14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14"/>
          <p:cNvSpPr txBox="1">
            <a:spLocks noGrp="1"/>
          </p:cNvSpPr>
          <p:nvPr>
            <p:ph type="body" idx="1"/>
          </p:nvPr>
        </p:nvSpPr>
        <p:spPr>
          <a:xfrm rot="5400000">
            <a:off x="4254444" y="-1260043"/>
            <a:ext cx="3674397" cy="1056328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🞆"/>
              <a:defRPr/>
            </a:lvl1pPr>
            <a:lvl2pPr marL="914400" lvl="1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2pPr>
            <a:lvl3pPr marL="1371600" lvl="2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3pPr>
            <a:lvl4pPr marL="1828800" lvl="3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4pPr>
            <a:lvl5pPr marL="2286000" lvl="4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5pPr>
            <a:lvl6pPr marL="2743200" lvl="5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6pPr>
            <a:lvl7pPr marL="3200400" lvl="6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7pPr>
            <a:lvl8pPr marL="3657600" lvl="7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8pPr>
            <a:lvl9pPr marL="4114800" lvl="8" indent="-342900" algn="l">
              <a:spcBef>
                <a:spcPts val="600"/>
              </a:spcBef>
              <a:spcAft>
                <a:spcPts val="600"/>
              </a:spcAft>
              <a:buSzPts val="1800"/>
              <a:buChar char="🞆"/>
              <a:defRPr/>
            </a:lvl9pPr>
          </a:lstStyle>
          <a:p>
            <a:endParaRPr/>
          </a:p>
        </p:txBody>
      </p:sp>
      <p:sp>
        <p:nvSpPr>
          <p:cNvPr id="105" name="Google Shape;105;p14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14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14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5"/>
          <p:cNvSpPr/>
          <p:nvPr/>
        </p:nvSpPr>
        <p:spPr>
          <a:xfrm>
            <a:off x="7669651" y="446089"/>
            <a:ext cx="4522349" cy="5414962"/>
          </a:xfrm>
          <a:custGeom>
            <a:avLst/>
            <a:gdLst/>
            <a:ahLst/>
            <a:cxnLst/>
            <a:rect l="l" t="t" r="r" b="b"/>
            <a:pathLst>
              <a:path w="2879" h="4320" extrusionOk="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" name="Google Shape;110;p15"/>
          <p:cNvSpPr txBox="1">
            <a:spLocks noGrp="1"/>
          </p:cNvSpPr>
          <p:nvPr>
            <p:ph type="title"/>
          </p:nvPr>
        </p:nvSpPr>
        <p:spPr>
          <a:xfrm rot="5400000">
            <a:off x="6863537" y="1906175"/>
            <a:ext cx="5134798" cy="249479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15"/>
          <p:cNvSpPr txBox="1">
            <a:spLocks noGrp="1"/>
          </p:cNvSpPr>
          <p:nvPr>
            <p:ph type="body" idx="1"/>
          </p:nvPr>
        </p:nvSpPr>
        <p:spPr>
          <a:xfrm rot="5400000">
            <a:off x="1408290" y="-152200"/>
            <a:ext cx="5414962" cy="661154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🞆"/>
              <a:defRPr/>
            </a:lvl1pPr>
            <a:lvl2pPr marL="914400" lvl="1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2pPr>
            <a:lvl3pPr marL="1371600" lvl="2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3pPr>
            <a:lvl4pPr marL="1828800" lvl="3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4pPr>
            <a:lvl5pPr marL="2286000" lvl="4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5pPr>
            <a:lvl6pPr marL="2743200" lvl="5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6pPr>
            <a:lvl7pPr marL="3200400" lvl="6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7pPr>
            <a:lvl8pPr marL="3657600" lvl="7" indent="-342900" algn="l">
              <a:spcBef>
                <a:spcPts val="600"/>
              </a:spcBef>
              <a:spcAft>
                <a:spcPts val="0"/>
              </a:spcAft>
              <a:buSzPts val="1800"/>
              <a:buChar char="🞆"/>
              <a:defRPr/>
            </a:lvl8pPr>
            <a:lvl9pPr marL="4114800" lvl="8" indent="-342900" algn="l">
              <a:spcBef>
                <a:spcPts val="600"/>
              </a:spcBef>
              <a:spcAft>
                <a:spcPts val="600"/>
              </a:spcAft>
              <a:buSzPts val="1800"/>
              <a:buChar char="🞆"/>
              <a:defRPr/>
            </a:lvl9pPr>
          </a:lstStyle>
          <a:p>
            <a:endParaRPr/>
          </a:p>
        </p:txBody>
      </p:sp>
      <p:sp>
        <p:nvSpPr>
          <p:cNvPr id="112" name="Google Shape;112;p15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15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15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  <a:defRPr sz="4000" b="1" i="0" u="none" strike="noStrike" cap="non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🞆"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30200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🞆"/>
              <a:defRPr sz="16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317500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🞆"/>
              <a:defRPr sz="14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304800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304800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304800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304800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304800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304800" algn="l" rtl="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 rtl="0">
              <a:spcBef>
                <a:spcPts val="0"/>
              </a:spcBef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 rtl="0">
              <a:spcBef>
                <a:spcPts val="0"/>
              </a:spcBef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 rtl="0">
              <a:spcBef>
                <a:spcPts val="0"/>
              </a:spcBef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 rtl="0">
              <a:spcBef>
                <a:spcPts val="0"/>
              </a:spcBef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 rtl="0">
              <a:spcBef>
                <a:spcPts val="0"/>
              </a:spcBef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 rtl="0">
              <a:spcBef>
                <a:spcPts val="0"/>
              </a:spcBef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 rtl="0">
              <a:spcBef>
                <a:spcPts val="0"/>
              </a:spcBef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 rtl="0">
              <a:spcBef>
                <a:spcPts val="0"/>
              </a:spcBef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g"/><Relationship Id="rId5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jpg"/><Relationship Id="rId4" Type="http://schemas.openxmlformats.org/officeDocument/2006/relationships/image" Target="../media/image12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jpg"/><Relationship Id="rId5" Type="http://schemas.openxmlformats.org/officeDocument/2006/relationships/image" Target="../media/image25.jpg"/><Relationship Id="rId4" Type="http://schemas.openxmlformats.org/officeDocument/2006/relationships/image" Target="../media/image24.jp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youtube.com/watch?v=wteUW2sL7bc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jp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wteUW2sL7bc" TargetMode="Externa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6"/>
          <p:cNvSpPr txBox="1">
            <a:spLocks noGrp="1"/>
          </p:cNvSpPr>
          <p:nvPr>
            <p:ph type="ctrTitle" idx="4294967295"/>
          </p:nvPr>
        </p:nvSpPr>
        <p:spPr>
          <a:xfrm>
            <a:off x="0" y="2593975"/>
            <a:ext cx="4486275" cy="12319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</a:pPr>
            <a:r>
              <a:rPr lang="en-US" sz="4000" b="1" i="0" u="none" strike="noStrike" cap="non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Magnetic Disk</a:t>
            </a:r>
            <a:br>
              <a:rPr lang="en-US" sz="4000" b="1" i="0" u="none" strike="noStrike" cap="non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r>
              <a:rPr lang="en-US" sz="2800" b="1" i="0" u="none" strike="noStrike" cap="none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lang="en-US" sz="2800" b="1" i="0" u="none" strike="noStrike" cap="none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Đĩa từ </a:t>
            </a:r>
            <a:r>
              <a:rPr lang="en-US" sz="2800" b="1" i="0" u="none" strike="noStrike" cap="none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lang="en-US" sz="2800" b="1" i="0" u="none" strike="noStrike" cap="non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endParaRPr sz="2000" b="1" i="0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1" name="Google Shape;121;p16"/>
          <p:cNvSpPr txBox="1">
            <a:spLocks noGrp="1"/>
          </p:cNvSpPr>
          <p:nvPr>
            <p:ph type="subTitle" idx="4294967295"/>
          </p:nvPr>
        </p:nvSpPr>
        <p:spPr>
          <a:xfrm>
            <a:off x="0" y="3981450"/>
            <a:ext cx="4486275" cy="703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Group C - CSI</a:t>
            </a:r>
            <a:endParaRPr sz="1800" b="0" i="0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22" name="Google Shape;122;p16" descr="Finance trade numbers"/>
          <p:cNvPicPr preferRelativeResize="0"/>
          <p:nvPr/>
        </p:nvPicPr>
        <p:blipFill rotWithShape="1">
          <a:blip r:embed="rId3">
            <a:alphaModFix/>
          </a:blip>
          <a:srcRect b="-1"/>
          <a:stretch/>
        </p:blipFill>
        <p:spPr>
          <a:xfrm>
            <a:off x="6096000" y="10"/>
            <a:ext cx="6095999" cy="6857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17" descr="https://previews.123rf.com/images/starkovphoto/starkovphoto1905/starkovphoto190500126/122468071-components-for-pc-open-hard-disk-storage-recovery-and-storage-of-information-magnetic-disks-inside-h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45943" y="0"/>
            <a:ext cx="3135878" cy="1894114"/>
          </a:xfrm>
          <a:prstGeom prst="roundRect">
            <a:avLst>
              <a:gd name="adj" fmla="val 8594"/>
            </a:avLst>
          </a:prstGeom>
          <a:solidFill>
            <a:srgbClr val="ECECEC"/>
          </a:solidFill>
          <a:ln>
            <a:noFill/>
          </a:ln>
          <a:effectLst>
            <a:reflection stA="38000" endPos="28000" dist="5000" dir="5400000" sy="-100000" algn="bl" rotWithShape="0"/>
          </a:effectLst>
        </p:spPr>
      </p:pic>
      <p:sp>
        <p:nvSpPr>
          <p:cNvPr id="128" name="Google Shape;128;p17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400"/>
              <a:buFont typeface="Century Gothic"/>
              <a:buNone/>
            </a:pPr>
            <a:r>
              <a:rPr lang="en-US" sz="4400"/>
              <a:t>I. Magnetic Disk:</a:t>
            </a:r>
            <a:endParaRPr sz="4400"/>
          </a:p>
        </p:txBody>
      </p:sp>
      <p:sp>
        <p:nvSpPr>
          <p:cNvPr id="129" name="Google Shape;129;p17"/>
          <p:cNvSpPr txBox="1">
            <a:spLocks noGrp="1"/>
          </p:cNvSpPr>
          <p:nvPr>
            <p:ph type="body" idx="1"/>
          </p:nvPr>
        </p:nvSpPr>
        <p:spPr>
          <a:xfrm>
            <a:off x="818712" y="2222287"/>
            <a:ext cx="10554574" cy="3636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A </a:t>
            </a:r>
            <a:r>
              <a:rPr lang="en-US" sz="2400" b="1">
                <a:solidFill>
                  <a:srgbClr val="FFFF00"/>
                </a:solidFill>
              </a:rPr>
              <a:t>magnetic disk </a:t>
            </a:r>
            <a:r>
              <a:rPr lang="en-US" sz="2400"/>
              <a:t>is a </a:t>
            </a:r>
            <a:r>
              <a:rPr lang="en-US" sz="2400">
                <a:solidFill>
                  <a:srgbClr val="92D050"/>
                </a:solidFill>
              </a:rPr>
              <a:t>storage device </a:t>
            </a:r>
            <a:r>
              <a:rPr lang="en-US" sz="2400"/>
              <a:t>that uses a </a:t>
            </a:r>
            <a:r>
              <a:rPr lang="en-US" sz="2400" b="1">
                <a:solidFill>
                  <a:srgbClr val="FFFF00"/>
                </a:solidFill>
              </a:rPr>
              <a:t>magnetization</a:t>
            </a:r>
            <a:r>
              <a:rPr lang="en-US" sz="2400"/>
              <a:t> </a:t>
            </a:r>
            <a:r>
              <a:rPr lang="en-US" sz="2400" b="1">
                <a:solidFill>
                  <a:srgbClr val="FFFF00"/>
                </a:solidFill>
              </a:rPr>
              <a:t>process </a:t>
            </a:r>
            <a:r>
              <a:rPr lang="en-US" sz="2400"/>
              <a:t>through a </a:t>
            </a:r>
            <a:r>
              <a:rPr lang="en-US" sz="2400" b="1">
                <a:solidFill>
                  <a:srgbClr val="00B0F0"/>
                </a:solidFill>
              </a:rPr>
              <a:t>magnetic coat </a:t>
            </a:r>
            <a:r>
              <a:rPr lang="en-US" sz="2400"/>
              <a:t>to </a:t>
            </a:r>
            <a:r>
              <a:rPr lang="en-US" sz="2400">
                <a:solidFill>
                  <a:srgbClr val="92D050"/>
                </a:solidFill>
              </a:rPr>
              <a:t>write</a:t>
            </a:r>
            <a:r>
              <a:rPr lang="en-US" sz="2400"/>
              <a:t>, </a:t>
            </a:r>
            <a:r>
              <a:rPr lang="en-US" sz="2400">
                <a:solidFill>
                  <a:srgbClr val="92D050"/>
                </a:solidFill>
              </a:rPr>
              <a:t>rewrite</a:t>
            </a:r>
            <a:r>
              <a:rPr lang="en-US" sz="2400"/>
              <a:t> and </a:t>
            </a:r>
            <a:r>
              <a:rPr lang="en-US" sz="2400">
                <a:solidFill>
                  <a:srgbClr val="92D050"/>
                </a:solidFill>
              </a:rPr>
              <a:t>access</a:t>
            </a:r>
            <a:r>
              <a:rPr lang="en-US" sz="2400"/>
              <a:t> data. </a:t>
            </a:r>
            <a:endParaRPr/>
          </a:p>
        </p:txBody>
      </p:sp>
      <p:sp>
        <p:nvSpPr>
          <p:cNvPr id="130" name="Google Shape;130;p17"/>
          <p:cNvSpPr/>
          <p:nvPr/>
        </p:nvSpPr>
        <p:spPr>
          <a:xfrm>
            <a:off x="1603519" y="4040542"/>
            <a:ext cx="2272937" cy="1593668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5875" cap="rnd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Magnetic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Disk</a:t>
            </a:r>
            <a:endParaRPr sz="3200" b="1" i="0" u="none" strike="noStrike" cap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1" name="Google Shape;131;p17"/>
          <p:cNvSpPr/>
          <p:nvPr/>
        </p:nvSpPr>
        <p:spPr>
          <a:xfrm>
            <a:off x="3876456" y="4040542"/>
            <a:ext cx="3129671" cy="1593668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5875" cap="rnd" cmpd="sng">
            <a:solidFill>
              <a:srgbClr val="0090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Magnetism</a:t>
            </a:r>
            <a:endParaRPr sz="2800" b="1" i="0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2" name="Google Shape;132;p17"/>
          <p:cNvSpPr/>
          <p:nvPr/>
        </p:nvSpPr>
        <p:spPr>
          <a:xfrm>
            <a:off x="7006127" y="4643826"/>
            <a:ext cx="1419480" cy="3871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5875" cap="rnd" cmpd="sng">
            <a:solidFill>
              <a:srgbClr val="0090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3" name="Google Shape;133;p17"/>
          <p:cNvSpPr/>
          <p:nvPr/>
        </p:nvSpPr>
        <p:spPr>
          <a:xfrm rot="-1772792">
            <a:off x="6901624" y="4102269"/>
            <a:ext cx="1419480" cy="3871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5875" cap="rnd" cmpd="sng">
            <a:solidFill>
              <a:srgbClr val="0090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4" name="Google Shape;134;p17"/>
          <p:cNvSpPr/>
          <p:nvPr/>
        </p:nvSpPr>
        <p:spPr>
          <a:xfrm rot="1800000">
            <a:off x="6903085" y="5219813"/>
            <a:ext cx="1419480" cy="3871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5875" cap="rnd" cmpd="sng">
            <a:solidFill>
              <a:srgbClr val="0090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5" name="Google Shape;135;p17"/>
          <p:cNvSpPr txBox="1"/>
          <p:nvPr/>
        </p:nvSpPr>
        <p:spPr>
          <a:xfrm>
            <a:off x="8239815" y="3604638"/>
            <a:ext cx="136297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Read</a:t>
            </a:r>
            <a:endParaRPr sz="1600" b="1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6" name="Google Shape;136;p17"/>
          <p:cNvSpPr txBox="1"/>
          <p:nvPr/>
        </p:nvSpPr>
        <p:spPr>
          <a:xfrm>
            <a:off x="8432930" y="4571835"/>
            <a:ext cx="1177939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Write</a:t>
            </a:r>
            <a:endParaRPr sz="2800" b="1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7" name="Google Shape;137;p17"/>
          <p:cNvSpPr txBox="1"/>
          <p:nvPr/>
        </p:nvSpPr>
        <p:spPr>
          <a:xfrm>
            <a:off x="8222344" y="5582625"/>
            <a:ext cx="1808724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Access</a:t>
            </a:r>
            <a:endParaRPr sz="2800" b="1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000"/>
                            </p:stCondLst>
                            <p:childTnLst>
                              <p:par>
                                <p:cTn id="3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8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400"/>
              <a:buFont typeface="Century Gothic"/>
              <a:buNone/>
            </a:pPr>
            <a:r>
              <a:rPr lang="en-US" sz="4400"/>
              <a:t>II. Type of </a:t>
            </a:r>
            <a:r>
              <a:rPr lang="en-US" sz="4400">
                <a:solidFill>
                  <a:srgbClr val="FFFF00"/>
                </a:solidFill>
              </a:rPr>
              <a:t>Magnetic Disk</a:t>
            </a:r>
            <a:r>
              <a:rPr lang="en-US" sz="4400">
                <a:solidFill>
                  <a:schemeClr val="lt1"/>
                </a:solidFill>
              </a:rPr>
              <a:t>:</a:t>
            </a:r>
            <a:endParaRPr sz="4400">
              <a:solidFill>
                <a:schemeClr val="lt1"/>
              </a:solidFill>
            </a:endParaRPr>
          </a:p>
        </p:txBody>
      </p:sp>
      <p:sp>
        <p:nvSpPr>
          <p:cNvPr id="143" name="Google Shape;143;p18"/>
          <p:cNvSpPr txBox="1">
            <a:spLocks noGrp="1"/>
          </p:cNvSpPr>
          <p:nvPr>
            <p:ph type="body" idx="1"/>
          </p:nvPr>
        </p:nvSpPr>
        <p:spPr>
          <a:xfrm>
            <a:off x="818712" y="2222287"/>
            <a:ext cx="10554574" cy="3636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Century Gothic"/>
              <a:buAutoNum type="arabicPeriod"/>
            </a:pPr>
            <a:r>
              <a:rPr lang="en-US" b="1"/>
              <a:t>Hard disk </a:t>
            </a:r>
            <a:r>
              <a:rPr lang="en-US"/>
              <a:t>(ổ đĩa cứng - ổ cứng)</a:t>
            </a:r>
            <a:endParaRPr/>
          </a:p>
          <a:p>
            <a:pPr marL="342900" lvl="0" indent="-342900" algn="l" rtl="0">
              <a:spcBef>
                <a:spcPts val="960"/>
              </a:spcBef>
              <a:spcAft>
                <a:spcPts val="0"/>
              </a:spcAft>
              <a:buSzPts val="1800"/>
              <a:buFont typeface="Century Gothic"/>
              <a:buAutoNum type="arabicPeriod"/>
            </a:pPr>
            <a:r>
              <a:rPr lang="en-US" b="1"/>
              <a:t>Floppy disk</a:t>
            </a:r>
            <a:r>
              <a:rPr lang="en-US"/>
              <a:t> (ổ đĩa mềm)</a:t>
            </a:r>
            <a:endParaRPr/>
          </a:p>
          <a:p>
            <a:pPr marL="342900" lvl="0" indent="-342900" algn="l" rtl="0">
              <a:spcBef>
                <a:spcPts val="960"/>
              </a:spcBef>
              <a:spcAft>
                <a:spcPts val="0"/>
              </a:spcAft>
              <a:buSzPts val="1800"/>
              <a:buFont typeface="Century Gothic"/>
              <a:buAutoNum type="arabicPeriod"/>
            </a:pPr>
            <a:r>
              <a:rPr lang="en-US" b="1"/>
              <a:t>Zip disk</a:t>
            </a:r>
            <a:r>
              <a:rPr lang="en-US"/>
              <a:t> (ổ đĩa nén)</a:t>
            </a:r>
            <a:endParaRPr b="1"/>
          </a:p>
        </p:txBody>
      </p:sp>
      <p:pic>
        <p:nvPicPr>
          <p:cNvPr id="144" name="Google Shape;144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22658" y="3056691"/>
            <a:ext cx="3077992" cy="30779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85962" y="3056691"/>
            <a:ext cx="3536729" cy="30779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222658" y="3059499"/>
            <a:ext cx="3113178" cy="30779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663035" y="3053063"/>
            <a:ext cx="3259656" cy="30816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500"/>
                            </p:stCondLst>
                            <p:childTnLst>
                              <p:par>
                                <p:cTn id="28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9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800"/>
              <a:buFont typeface="Century Gothic"/>
              <a:buNone/>
            </a:pPr>
            <a:r>
              <a:rPr lang="en-US" sz="4800"/>
              <a:t>III. Hard disk drive:</a:t>
            </a:r>
            <a:endParaRPr sz="4800"/>
          </a:p>
        </p:txBody>
      </p:sp>
      <p:sp>
        <p:nvSpPr>
          <p:cNvPr id="153" name="Google Shape;153;p19"/>
          <p:cNvSpPr txBox="1">
            <a:spLocks noGrp="1"/>
          </p:cNvSpPr>
          <p:nvPr>
            <p:ph type="body" idx="1"/>
          </p:nvPr>
        </p:nvSpPr>
        <p:spPr>
          <a:xfrm>
            <a:off x="818712" y="2222287"/>
            <a:ext cx="10554574" cy="3636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2000"/>
              <a:buChar char="🞆"/>
            </a:pPr>
            <a:r>
              <a:rPr lang="en-US" sz="2000" b="1">
                <a:solidFill>
                  <a:srgbClr val="FF0000"/>
                </a:solidFill>
              </a:rPr>
              <a:t>Hard disk drive (HDD)</a:t>
            </a:r>
            <a:r>
              <a:rPr lang="en-US" sz="2000"/>
              <a:t> - </a:t>
            </a:r>
            <a:r>
              <a:rPr lang="en-US" sz="2000" b="1">
                <a:solidFill>
                  <a:srgbClr val="FF0000"/>
                </a:solidFill>
              </a:rPr>
              <a:t>Hard drive</a:t>
            </a:r>
            <a:r>
              <a:rPr lang="en-US" sz="2000"/>
              <a:t>, is a device used to </a:t>
            </a:r>
            <a:r>
              <a:rPr lang="en-US" sz="2000">
                <a:solidFill>
                  <a:srgbClr val="92D050"/>
                </a:solidFill>
              </a:rPr>
              <a:t>store and retrieve data </a:t>
            </a:r>
            <a:r>
              <a:rPr lang="en-US" sz="2000"/>
              <a:t>from the surface of platters (disks) coated with magnetic material.</a:t>
            </a:r>
            <a:endParaRPr/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ts val="2000"/>
              <a:buChar char="🞆"/>
            </a:pPr>
            <a:r>
              <a:rPr lang="en-US" sz="2000" b="1">
                <a:solidFill>
                  <a:srgbClr val="FF0000"/>
                </a:solidFill>
              </a:rPr>
              <a:t>HDDs</a:t>
            </a:r>
            <a:r>
              <a:rPr lang="en-US" sz="2000"/>
              <a:t> are a type of </a:t>
            </a:r>
            <a:r>
              <a:rPr lang="en-US" sz="2000" b="1">
                <a:solidFill>
                  <a:srgbClr val="00B0F0"/>
                </a:solidFill>
              </a:rPr>
              <a:t>non-volatile storage</a:t>
            </a:r>
            <a:r>
              <a:rPr lang="en-US" sz="2000"/>
              <a:t>, retaining stored data even when </a:t>
            </a:r>
            <a:r>
              <a:rPr lang="en-US" sz="2000" b="1">
                <a:solidFill>
                  <a:srgbClr val="FFC000"/>
                </a:solidFill>
              </a:rPr>
              <a:t>powered off</a:t>
            </a:r>
            <a:r>
              <a:rPr lang="en-US" sz="2000"/>
              <a:t>.</a:t>
            </a:r>
            <a:endParaRPr/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ts val="2000"/>
              <a:buChar char="🞆"/>
            </a:pPr>
            <a:r>
              <a:rPr lang="en-US" sz="2000" b="1">
                <a:solidFill>
                  <a:srgbClr val="FF0000"/>
                </a:solidFill>
              </a:rPr>
              <a:t>HDDs </a:t>
            </a:r>
            <a:r>
              <a:rPr lang="en-US" sz="2000"/>
              <a:t>are made </a:t>
            </a:r>
            <a:r>
              <a:rPr lang="en-US" sz="2000" b="1">
                <a:solidFill>
                  <a:srgbClr val="FF0000"/>
                </a:solidFill>
              </a:rPr>
              <a:t>monolithically</a:t>
            </a:r>
            <a:r>
              <a:rPr lang="en-US" sz="2000"/>
              <a:t> (</a:t>
            </a:r>
            <a:r>
              <a:rPr lang="en-US" sz="2000" b="1">
                <a:solidFill>
                  <a:srgbClr val="FF0000"/>
                </a:solidFill>
              </a:rPr>
              <a:t>nguyên</a:t>
            </a:r>
            <a:r>
              <a:rPr lang="en-US" sz="2000"/>
              <a:t> </a:t>
            </a:r>
            <a:r>
              <a:rPr lang="en-US" sz="2000" b="1">
                <a:solidFill>
                  <a:srgbClr val="FF0000"/>
                </a:solidFill>
              </a:rPr>
              <a:t>khối</a:t>
            </a:r>
            <a:r>
              <a:rPr lang="en-US" sz="2000" b="1"/>
              <a:t>)</a:t>
            </a:r>
            <a:r>
              <a:rPr lang="en-US" sz="2000"/>
              <a:t> =&gt; Can’t switch components.</a:t>
            </a:r>
            <a:endParaRPr sz="2000" b="1">
              <a:solidFill>
                <a:srgbClr val="FF0000"/>
              </a:solidFill>
            </a:endParaRPr>
          </a:p>
          <a:p>
            <a:pPr marL="342900" lvl="0" indent="-215900" algn="l" rtl="0">
              <a:spcBef>
                <a:spcPts val="1000"/>
              </a:spcBef>
              <a:spcAft>
                <a:spcPts val="0"/>
              </a:spcAft>
              <a:buSzPts val="2000"/>
              <a:buNone/>
            </a:pPr>
            <a:endParaRPr sz="20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0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</a:pPr>
            <a:r>
              <a:rPr lang="en-US"/>
              <a:t>IV. History of </a:t>
            </a:r>
            <a:r>
              <a:rPr lang="en-US">
                <a:solidFill>
                  <a:schemeClr val="lt1"/>
                </a:solidFill>
              </a:rPr>
              <a:t>HDDs</a:t>
            </a:r>
            <a:r>
              <a:rPr lang="en-US"/>
              <a:t>:</a:t>
            </a:r>
            <a:endParaRPr/>
          </a:p>
        </p:txBody>
      </p:sp>
      <p:grpSp>
        <p:nvGrpSpPr>
          <p:cNvPr id="159" name="Google Shape;159;p20"/>
          <p:cNvGrpSpPr/>
          <p:nvPr/>
        </p:nvGrpSpPr>
        <p:grpSpPr>
          <a:xfrm>
            <a:off x="354091" y="2390503"/>
            <a:ext cx="11431562" cy="4689565"/>
            <a:chOff x="1395" y="0"/>
            <a:chExt cx="11431562" cy="4689565"/>
          </a:xfrm>
        </p:grpSpPr>
        <p:sp>
          <p:nvSpPr>
            <p:cNvPr id="160" name="Google Shape;160;p20"/>
            <p:cNvSpPr/>
            <p:nvPr/>
          </p:nvSpPr>
          <p:spPr>
            <a:xfrm>
              <a:off x="321479" y="2063409"/>
              <a:ext cx="1646144" cy="562747"/>
            </a:xfrm>
            <a:prstGeom prst="homePlate">
              <a:avLst>
                <a:gd name="adj" fmla="val 40000"/>
              </a:avLst>
            </a:prstGeom>
            <a:solidFill>
              <a:srgbClr val="00635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20"/>
            <p:cNvSpPr txBox="1"/>
            <p:nvPr/>
          </p:nvSpPr>
          <p:spPr>
            <a:xfrm>
              <a:off x="321479" y="2063409"/>
              <a:ext cx="1533595" cy="56274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82875" tIns="182875" rIns="182875" bIns="1828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1955</a:t>
              </a:r>
              <a:endParaRPr sz="2400" b="1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62" name="Google Shape;162;p20"/>
            <p:cNvSpPr/>
            <p:nvPr/>
          </p:nvSpPr>
          <p:spPr>
            <a:xfrm>
              <a:off x="1395" y="0"/>
              <a:ext cx="2286312" cy="15006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20"/>
            <p:cNvSpPr txBox="1"/>
            <p:nvPr/>
          </p:nvSpPr>
          <p:spPr>
            <a:xfrm>
              <a:off x="1395" y="0"/>
              <a:ext cx="2286312" cy="15006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177800" rIns="0" bIns="177800" anchor="b" anchorCtr="1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50" b="1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IBM 350-Disk:</a:t>
              </a:r>
              <a:endParaRPr/>
            </a:p>
            <a:p>
              <a:pPr marL="0" marR="0" lvl="0" indent="0" algn="ctr" rtl="0">
                <a:lnSpc>
                  <a:spcPct val="90000"/>
                </a:lnSpc>
                <a:spcBef>
                  <a:spcPts val="683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50 </a:t>
              </a:r>
              <a:r>
                <a:rPr lang="en-US" sz="1800" b="1">
                  <a:solidFill>
                    <a:srgbClr val="FFC00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24“-disk</a:t>
              </a:r>
              <a:endParaRPr/>
            </a:p>
            <a:p>
              <a:pPr marL="0" marR="0" lvl="0" indent="0" algn="ctr" rtl="0">
                <a:lnSpc>
                  <a:spcPct val="90000"/>
                </a:lnSpc>
                <a:spcBef>
                  <a:spcPts val="630"/>
                </a:spcBef>
                <a:spcAft>
                  <a:spcPts val="0"/>
                </a:spcAft>
                <a:buNone/>
              </a:pPr>
              <a:r>
                <a:rPr lang="en-US" sz="1950" b="1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Storability: </a:t>
              </a:r>
              <a:endParaRPr/>
            </a:p>
            <a:p>
              <a:pPr marL="0" marR="0" lvl="0" indent="0" algn="ctr" rtl="0">
                <a:lnSpc>
                  <a:spcPct val="90000"/>
                </a:lnSpc>
                <a:spcBef>
                  <a:spcPts val="683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5 </a:t>
              </a:r>
              <a:r>
                <a:rPr lang="en-US" sz="1800" b="0" i="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million 6-bit characters</a:t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64" name="Google Shape;164;p20"/>
            <p:cNvSpPr/>
            <p:nvPr/>
          </p:nvSpPr>
          <p:spPr>
            <a:xfrm>
              <a:off x="1967624" y="2344783"/>
              <a:ext cx="640167" cy="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120000" y="0"/>
                  </a:lnTo>
                </a:path>
              </a:pathLst>
            </a:custGeom>
            <a:noFill/>
            <a:ln w="9525" cap="rnd" cmpd="sng">
              <a:solidFill>
                <a:srgbClr val="EE745E"/>
              </a:solidFill>
              <a:prstDash val="solid"/>
              <a:round/>
              <a:headEnd type="none" w="sm" len="sm"/>
              <a:tailEnd type="none" w="sm" len="sm"/>
            </a:ln>
          </p:spPr>
        </p:sp>
        <p:cxnSp>
          <p:nvCxnSpPr>
            <p:cNvPr id="165" name="Google Shape;165;p20"/>
            <p:cNvCxnSpPr/>
            <p:nvPr/>
          </p:nvCxnSpPr>
          <p:spPr>
            <a:xfrm>
              <a:off x="1144552" y="1594452"/>
              <a:ext cx="0" cy="468956"/>
            </a:xfrm>
            <a:prstGeom prst="straightConnector1">
              <a:avLst/>
            </a:prstGeom>
            <a:noFill/>
            <a:ln w="12700" cap="flat" cmpd="sng">
              <a:solidFill>
                <a:srgbClr val="EE745E"/>
              </a:solidFill>
              <a:prstDash val="dash"/>
              <a:round/>
              <a:headEnd type="none" w="sm" len="sm"/>
              <a:tailEnd type="none" w="sm" len="sm"/>
            </a:ln>
          </p:spPr>
        </p:cxnSp>
        <p:sp>
          <p:nvSpPr>
            <p:cNvPr id="166" name="Google Shape;166;p20"/>
            <p:cNvSpPr/>
            <p:nvPr/>
          </p:nvSpPr>
          <p:spPr>
            <a:xfrm>
              <a:off x="1097656" y="1500661"/>
              <a:ext cx="93791" cy="93791"/>
            </a:xfrm>
            <a:prstGeom prst="rect">
              <a:avLst/>
            </a:prstGeom>
            <a:solidFill>
              <a:srgbClr val="00635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20"/>
            <p:cNvSpPr/>
            <p:nvPr/>
          </p:nvSpPr>
          <p:spPr>
            <a:xfrm>
              <a:off x="2607792" y="2063409"/>
              <a:ext cx="1646144" cy="562747"/>
            </a:xfrm>
            <a:prstGeom prst="hexagon">
              <a:avLst>
                <a:gd name="adj" fmla="val 40000"/>
                <a:gd name="vf" fmla="val 115470"/>
              </a:avLst>
            </a:prstGeom>
            <a:solidFill>
              <a:srgbClr val="FEFE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20"/>
            <p:cNvSpPr txBox="1"/>
            <p:nvPr/>
          </p:nvSpPr>
          <p:spPr>
            <a:xfrm>
              <a:off x="2820004" y="2135955"/>
              <a:ext cx="1221720" cy="4176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82875" tIns="182875" rIns="182875" bIns="1828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1961</a:t>
              </a:r>
              <a:endParaRPr sz="2400" b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69" name="Google Shape;169;p20"/>
            <p:cNvSpPr/>
            <p:nvPr/>
          </p:nvSpPr>
          <p:spPr>
            <a:xfrm>
              <a:off x="2287708" y="3188904"/>
              <a:ext cx="2286312" cy="15006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20"/>
            <p:cNvSpPr txBox="1"/>
            <p:nvPr/>
          </p:nvSpPr>
          <p:spPr>
            <a:xfrm>
              <a:off x="2287708" y="3188904"/>
              <a:ext cx="2286312" cy="15006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177800" rIns="0" bIns="177800" anchor="t" anchorCtr="1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50" b="1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IBM 1301:</a:t>
              </a:r>
              <a:endParaRPr/>
            </a:p>
            <a:p>
              <a:pPr marL="0" marR="0" lvl="0" indent="0" algn="ctr" rtl="0">
                <a:lnSpc>
                  <a:spcPct val="90000"/>
                </a:lnSpc>
                <a:spcBef>
                  <a:spcPts val="683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One head per platter</a:t>
              </a:r>
              <a:endParaRPr sz="1800" b="1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71" name="Google Shape;171;p20"/>
            <p:cNvSpPr/>
            <p:nvPr/>
          </p:nvSpPr>
          <p:spPr>
            <a:xfrm rot="21050">
              <a:off x="4253930" y="2346822"/>
              <a:ext cx="666304" cy="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120000" y="0"/>
                  </a:lnTo>
                </a:path>
              </a:pathLst>
            </a:custGeom>
            <a:noFill/>
            <a:ln w="9525" cap="rnd" cmpd="sng">
              <a:solidFill>
                <a:srgbClr val="EE745E"/>
              </a:solidFill>
              <a:prstDash val="solid"/>
              <a:round/>
              <a:headEnd type="none" w="sm" len="sm"/>
              <a:tailEnd type="none" w="sm" len="sm"/>
            </a:ln>
          </p:spPr>
        </p:sp>
        <p:cxnSp>
          <p:nvCxnSpPr>
            <p:cNvPr id="172" name="Google Shape;172;p20"/>
            <p:cNvCxnSpPr/>
            <p:nvPr/>
          </p:nvCxnSpPr>
          <p:spPr>
            <a:xfrm>
              <a:off x="3430864" y="2626156"/>
              <a:ext cx="0" cy="468956"/>
            </a:xfrm>
            <a:prstGeom prst="straightConnector1">
              <a:avLst/>
            </a:prstGeom>
            <a:noFill/>
            <a:ln w="12700" cap="flat" cmpd="sng">
              <a:solidFill>
                <a:srgbClr val="EE745E"/>
              </a:solidFill>
              <a:prstDash val="dash"/>
              <a:round/>
              <a:headEnd type="none" w="sm" len="sm"/>
              <a:tailEnd type="none" w="sm" len="sm"/>
            </a:ln>
          </p:spPr>
        </p:cxnSp>
        <p:sp>
          <p:nvSpPr>
            <p:cNvPr id="173" name="Google Shape;173;p20"/>
            <p:cNvSpPr/>
            <p:nvPr/>
          </p:nvSpPr>
          <p:spPr>
            <a:xfrm>
              <a:off x="3383968" y="3095113"/>
              <a:ext cx="93791" cy="93791"/>
            </a:xfrm>
            <a:prstGeom prst="rect">
              <a:avLst/>
            </a:prstGeom>
            <a:solidFill>
              <a:srgbClr val="FEFE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20"/>
            <p:cNvSpPr/>
            <p:nvPr/>
          </p:nvSpPr>
          <p:spPr>
            <a:xfrm>
              <a:off x="4920228" y="2067488"/>
              <a:ext cx="1646144" cy="562747"/>
            </a:xfrm>
            <a:prstGeom prst="hexagon">
              <a:avLst>
                <a:gd name="adj" fmla="val 40000"/>
                <a:gd name="vf" fmla="val 11547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20"/>
            <p:cNvSpPr txBox="1"/>
            <p:nvPr/>
          </p:nvSpPr>
          <p:spPr>
            <a:xfrm>
              <a:off x="5132440" y="2140034"/>
              <a:ext cx="1221720" cy="4176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82875" tIns="182875" rIns="182875" bIns="1828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1973</a:t>
              </a:r>
              <a:endParaRPr sz="2400" b="1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76" name="Google Shape;176;p20"/>
            <p:cNvSpPr/>
            <p:nvPr/>
          </p:nvSpPr>
          <p:spPr>
            <a:xfrm>
              <a:off x="4600145" y="4079"/>
              <a:ext cx="2286312" cy="15006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20"/>
            <p:cNvSpPr txBox="1"/>
            <p:nvPr/>
          </p:nvSpPr>
          <p:spPr>
            <a:xfrm>
              <a:off x="4600145" y="4079"/>
              <a:ext cx="2286312" cy="15006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177800" rIns="0" bIns="177800" anchor="b" anchorCtr="1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50" b="1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3340 Winchester Disk:</a:t>
              </a:r>
              <a:endParaRPr/>
            </a:p>
            <a:p>
              <a:pPr marL="0" marR="0" lvl="0" indent="0" algn="ctr" rtl="0">
                <a:lnSpc>
                  <a:spcPct val="90000"/>
                </a:lnSpc>
                <a:spcBef>
                  <a:spcPts val="683"/>
                </a:spcBef>
                <a:spcAft>
                  <a:spcPts val="0"/>
                </a:spcAft>
                <a:buNone/>
              </a:pPr>
              <a:r>
                <a:rPr lang="en-US" sz="1950" b="1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Hard Drive Assembly Technology </a:t>
              </a:r>
              <a:r>
                <a:rPr lang="en-US" sz="18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(</a:t>
              </a:r>
              <a:r>
                <a:rPr lang="en-US" sz="1800" b="1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HDA*</a:t>
              </a:r>
              <a:r>
                <a:rPr lang="en-US" sz="18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)</a:t>
              </a:r>
              <a:endParaRPr/>
            </a:p>
            <a:p>
              <a:pPr marL="0" marR="0" lvl="0" indent="0" algn="ctr" rtl="0">
                <a:lnSpc>
                  <a:spcPct val="90000"/>
                </a:lnSpc>
                <a:spcBef>
                  <a:spcPts val="683"/>
                </a:spcBef>
                <a:spcAft>
                  <a:spcPts val="0"/>
                </a:spcAft>
                <a:buNone/>
              </a:pPr>
              <a:r>
                <a:rPr lang="en-US" sz="2000" b="1">
                  <a:solidFill>
                    <a:srgbClr val="FF000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large</a:t>
              </a:r>
              <a:r>
                <a:rPr lang="en-US" sz="2000" b="1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 </a:t>
              </a:r>
              <a:r>
                <a:rPr lang="en-US" sz="1950" b="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and</a:t>
              </a:r>
              <a:r>
                <a:rPr lang="en-US" sz="2000" b="1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 </a:t>
              </a:r>
              <a:r>
                <a:rPr lang="en-US" sz="2000" b="1">
                  <a:solidFill>
                    <a:srgbClr val="FF000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bulky</a:t>
              </a:r>
              <a:endParaRPr/>
            </a:p>
          </p:txBody>
        </p:sp>
        <p:sp>
          <p:nvSpPr>
            <p:cNvPr id="178" name="Google Shape;178;p20"/>
            <p:cNvSpPr/>
            <p:nvPr/>
          </p:nvSpPr>
          <p:spPr>
            <a:xfrm rot="-22841">
              <a:off x="6566367" y="2346822"/>
              <a:ext cx="614056" cy="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120000" y="0"/>
                  </a:lnTo>
                </a:path>
              </a:pathLst>
            </a:custGeom>
            <a:noFill/>
            <a:ln w="9525" cap="rnd" cmpd="sng">
              <a:solidFill>
                <a:srgbClr val="EE745E"/>
              </a:solidFill>
              <a:prstDash val="solid"/>
              <a:round/>
              <a:headEnd type="none" w="sm" len="sm"/>
              <a:tailEnd type="none" w="sm" len="sm"/>
            </a:ln>
          </p:spPr>
        </p:sp>
        <p:cxnSp>
          <p:nvCxnSpPr>
            <p:cNvPr id="179" name="Google Shape;179;p20"/>
            <p:cNvCxnSpPr/>
            <p:nvPr/>
          </p:nvCxnSpPr>
          <p:spPr>
            <a:xfrm>
              <a:off x="5743301" y="1598532"/>
              <a:ext cx="0" cy="468956"/>
            </a:xfrm>
            <a:prstGeom prst="straightConnector1">
              <a:avLst/>
            </a:prstGeom>
            <a:noFill/>
            <a:ln w="12700" cap="flat" cmpd="sng">
              <a:solidFill>
                <a:srgbClr val="EE745E"/>
              </a:solidFill>
              <a:prstDash val="dash"/>
              <a:round/>
              <a:headEnd type="none" w="sm" len="sm"/>
              <a:tailEnd type="none" w="sm" len="sm"/>
            </a:ln>
          </p:spPr>
        </p:cxnSp>
        <p:sp>
          <p:nvSpPr>
            <p:cNvPr id="180" name="Google Shape;180;p20"/>
            <p:cNvSpPr/>
            <p:nvPr/>
          </p:nvSpPr>
          <p:spPr>
            <a:xfrm>
              <a:off x="5696405" y="1504741"/>
              <a:ext cx="93791" cy="93791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20"/>
            <p:cNvSpPr/>
            <p:nvPr/>
          </p:nvSpPr>
          <p:spPr>
            <a:xfrm>
              <a:off x="7180416" y="2063409"/>
              <a:ext cx="1646144" cy="562747"/>
            </a:xfrm>
            <a:prstGeom prst="hexagon">
              <a:avLst>
                <a:gd name="adj" fmla="val 40000"/>
                <a:gd name="vf" fmla="val 115470"/>
              </a:avLst>
            </a:prstGeom>
            <a:solidFill>
              <a:schemeClr val="lt1"/>
            </a:solidFill>
            <a:ln w="1587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20"/>
            <p:cNvSpPr txBox="1"/>
            <p:nvPr/>
          </p:nvSpPr>
          <p:spPr>
            <a:xfrm>
              <a:off x="7392628" y="2135955"/>
              <a:ext cx="1221720" cy="4176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82875" tIns="182875" rIns="182875" bIns="1828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1990s</a:t>
              </a:r>
              <a:endParaRPr sz="2400" b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83" name="Google Shape;183;p20"/>
            <p:cNvSpPr/>
            <p:nvPr/>
          </p:nvSpPr>
          <p:spPr>
            <a:xfrm>
              <a:off x="6860333" y="3188904"/>
              <a:ext cx="2286312" cy="15006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20"/>
            <p:cNvSpPr/>
            <p:nvPr/>
          </p:nvSpPr>
          <p:spPr>
            <a:xfrm>
              <a:off x="8826561" y="2344783"/>
              <a:ext cx="640167" cy="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120000" y="0"/>
                  </a:lnTo>
                </a:path>
              </a:pathLst>
            </a:custGeom>
            <a:noFill/>
            <a:ln w="9525" cap="rnd" cmpd="sng">
              <a:solidFill>
                <a:srgbClr val="EE745E"/>
              </a:solidFill>
              <a:prstDash val="solid"/>
              <a:round/>
              <a:headEnd type="none" w="sm" len="sm"/>
              <a:tailEnd type="none" w="sm" len="sm"/>
            </a:ln>
          </p:spPr>
        </p:sp>
        <p:cxnSp>
          <p:nvCxnSpPr>
            <p:cNvPr id="185" name="Google Shape;185;p20"/>
            <p:cNvCxnSpPr/>
            <p:nvPr/>
          </p:nvCxnSpPr>
          <p:spPr>
            <a:xfrm>
              <a:off x="8003489" y="2626156"/>
              <a:ext cx="0" cy="468956"/>
            </a:xfrm>
            <a:prstGeom prst="straightConnector1">
              <a:avLst/>
            </a:prstGeom>
            <a:noFill/>
            <a:ln w="9525" cap="rnd" cmpd="sng">
              <a:solidFill>
                <a:srgbClr val="EE745E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86" name="Google Shape;186;p20"/>
            <p:cNvSpPr/>
            <p:nvPr/>
          </p:nvSpPr>
          <p:spPr>
            <a:xfrm>
              <a:off x="7956593" y="3095113"/>
              <a:ext cx="93791" cy="93791"/>
            </a:xfrm>
            <a:prstGeom prst="rect">
              <a:avLst/>
            </a:prstGeom>
            <a:blipFill rotWithShape="1">
              <a:blip r:embed="rId3">
                <a:alphaModFix/>
              </a:blip>
              <a:tile tx="0" ty="0" sx="100000" sy="100000" flip="none" algn="tl"/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20"/>
            <p:cNvSpPr/>
            <p:nvPr/>
          </p:nvSpPr>
          <p:spPr>
            <a:xfrm rot="10800000">
              <a:off x="9466729" y="2063409"/>
              <a:ext cx="1646144" cy="562747"/>
            </a:xfrm>
            <a:prstGeom prst="homePlate">
              <a:avLst>
                <a:gd name="adj" fmla="val 40000"/>
              </a:avLst>
            </a:prstGeom>
            <a:solidFill>
              <a:srgbClr val="00635D"/>
            </a:solidFill>
            <a:ln w="9525" cap="rnd" cmpd="sng">
              <a:solidFill>
                <a:srgbClr val="00635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20"/>
            <p:cNvSpPr txBox="1"/>
            <p:nvPr/>
          </p:nvSpPr>
          <p:spPr>
            <a:xfrm>
              <a:off x="9579278" y="2063409"/>
              <a:ext cx="1533595" cy="56274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82875" tIns="182875" rIns="182875" bIns="1828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Today</a:t>
              </a:r>
              <a:endParaRPr sz="2400" b="1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89" name="Google Shape;189;p20"/>
            <p:cNvSpPr/>
            <p:nvPr/>
          </p:nvSpPr>
          <p:spPr>
            <a:xfrm>
              <a:off x="9146645" y="0"/>
              <a:ext cx="2286312" cy="15006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90" name="Google Shape;190;p20"/>
            <p:cNvCxnSpPr/>
            <p:nvPr/>
          </p:nvCxnSpPr>
          <p:spPr>
            <a:xfrm>
              <a:off x="10289801" y="1594452"/>
              <a:ext cx="0" cy="468956"/>
            </a:xfrm>
            <a:prstGeom prst="straightConnector1">
              <a:avLst/>
            </a:prstGeom>
            <a:noFill/>
            <a:ln w="9525" cap="rnd" cmpd="sng">
              <a:solidFill>
                <a:srgbClr val="EE745E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91" name="Google Shape;191;p20"/>
            <p:cNvSpPr/>
            <p:nvPr/>
          </p:nvSpPr>
          <p:spPr>
            <a:xfrm>
              <a:off x="10242906" y="1500661"/>
              <a:ext cx="93791" cy="93791"/>
            </a:xfrm>
            <a:prstGeom prst="rect">
              <a:avLst/>
            </a:prstGeom>
            <a:blipFill rotWithShape="1">
              <a:blip r:embed="rId3">
                <a:alphaModFix/>
              </a:blip>
              <a:tile tx="0" ty="0" sx="100000" sy="100000" flip="none" algn="tl"/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2" name="Google Shape;192;p20"/>
          <p:cNvSpPr txBox="1"/>
          <p:nvPr/>
        </p:nvSpPr>
        <p:spPr>
          <a:xfrm>
            <a:off x="0" y="6211669"/>
            <a:ext cx="27432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1">
                <a:solidFill>
                  <a:srgbClr val="A5A5A5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HDA</a:t>
            </a:r>
            <a:r>
              <a:rPr lang="en-US" sz="1800" i="1">
                <a:solidFill>
                  <a:srgbClr val="A5A5A5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: sealed head/disk assembly </a:t>
            </a:r>
            <a:endParaRPr/>
          </a:p>
        </p:txBody>
      </p:sp>
      <p:sp>
        <p:nvSpPr>
          <p:cNvPr id="193" name="Google Shape;193;p20"/>
          <p:cNvSpPr txBox="1"/>
          <p:nvPr/>
        </p:nvSpPr>
        <p:spPr>
          <a:xfrm>
            <a:off x="6975564" y="5726921"/>
            <a:ext cx="2743202" cy="96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External HDDs popularity rises: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0B0F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Convenient </a:t>
            </a:r>
            <a:r>
              <a:rPr lang="en-US" sz="1800" b="1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and </a:t>
            </a:r>
            <a:r>
              <a:rPr lang="en-US" sz="1800" b="1">
                <a:solidFill>
                  <a:srgbClr val="92D05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Mobile</a:t>
            </a:r>
            <a:endParaRPr sz="1800" b="1">
              <a:solidFill>
                <a:srgbClr val="92D05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94" name="Google Shape;194;p20"/>
          <p:cNvSpPr txBox="1"/>
          <p:nvPr/>
        </p:nvSpPr>
        <p:spPr>
          <a:xfrm>
            <a:off x="9422674" y="3048506"/>
            <a:ext cx="2390502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92D05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Storage Capacity </a:t>
            </a:r>
            <a:r>
              <a:rPr lang="en-U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multiply as time pass</a:t>
            </a:r>
            <a:endParaRPr sz="1800">
              <a:solidFill>
                <a:srgbClr val="00B0F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1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</a:pPr>
            <a:r>
              <a:rPr lang="en-US"/>
              <a:t>The development of HDDs through time:</a:t>
            </a:r>
            <a:endParaRPr/>
          </a:p>
        </p:txBody>
      </p:sp>
      <p:pic>
        <p:nvPicPr>
          <p:cNvPr id="200" name="Google Shape;200;p21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2861565" y="2222500"/>
            <a:ext cx="6468869" cy="363696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2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</a:pPr>
            <a:r>
              <a:rPr lang="en-US"/>
              <a:t>V. Components :</a:t>
            </a:r>
            <a:endParaRPr/>
          </a:p>
        </p:txBody>
      </p:sp>
      <p:sp>
        <p:nvSpPr>
          <p:cNvPr id="206" name="Google Shape;206;p22"/>
          <p:cNvSpPr txBox="1">
            <a:spLocks noGrp="1"/>
          </p:cNvSpPr>
          <p:nvPr>
            <p:ph type="body" idx="1"/>
          </p:nvPr>
        </p:nvSpPr>
        <p:spPr>
          <a:xfrm>
            <a:off x="818712" y="2222287"/>
            <a:ext cx="10554574" cy="3636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b="1"/>
              <a:t>a, Platter Sector</a:t>
            </a:r>
            <a:r>
              <a:rPr lang="en-US"/>
              <a:t>:</a:t>
            </a:r>
            <a:endParaRPr/>
          </a:p>
          <a:p>
            <a:pPr marL="342900" lvl="0" indent="-342900" algn="l" rtl="0">
              <a:spcBef>
                <a:spcPts val="960"/>
              </a:spcBef>
              <a:spcAft>
                <a:spcPts val="0"/>
              </a:spcAft>
              <a:buSzPts val="1800"/>
              <a:buChar char="🞆"/>
            </a:pPr>
            <a:r>
              <a:rPr lang="en-US" b="1">
                <a:solidFill>
                  <a:srgbClr val="00B0F0"/>
                </a:solidFill>
              </a:rPr>
              <a:t>Platter – đĩa từ</a:t>
            </a:r>
            <a:endParaRPr b="1">
              <a:solidFill>
                <a:srgbClr val="00B0F0"/>
              </a:solidFill>
            </a:endParaRPr>
          </a:p>
          <a:p>
            <a:pPr marL="342900" lvl="0" indent="-342900" algn="l" rtl="0">
              <a:spcBef>
                <a:spcPts val="960"/>
              </a:spcBef>
              <a:spcAft>
                <a:spcPts val="0"/>
              </a:spcAft>
              <a:buSzPts val="1800"/>
              <a:buChar char="🞆"/>
            </a:pPr>
            <a:r>
              <a:rPr lang="en-US" b="1">
                <a:solidFill>
                  <a:srgbClr val="92D050"/>
                </a:solidFill>
              </a:rPr>
              <a:t>Spindle – trục quay</a:t>
            </a:r>
            <a:endParaRPr/>
          </a:p>
          <a:p>
            <a:pPr marL="342900" lvl="0" indent="-342900" algn="l" rtl="0">
              <a:spcBef>
                <a:spcPts val="960"/>
              </a:spcBef>
              <a:spcAft>
                <a:spcPts val="0"/>
              </a:spcAft>
              <a:buSzPts val="1800"/>
              <a:buChar char="🞆"/>
            </a:pPr>
            <a:r>
              <a:rPr lang="en-US" b="1">
                <a:solidFill>
                  <a:srgbClr val="FFC000"/>
                </a:solidFill>
              </a:rPr>
              <a:t>Motor – động cơ</a:t>
            </a:r>
            <a:endParaRPr/>
          </a:p>
        </p:txBody>
      </p:sp>
      <p:pic>
        <p:nvPicPr>
          <p:cNvPr id="207" name="Google Shape;207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33112" y="2267873"/>
            <a:ext cx="4762500" cy="359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3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</a:pPr>
            <a:r>
              <a:rPr lang="en-US"/>
              <a:t>V. Components:</a:t>
            </a:r>
            <a:endParaRPr/>
          </a:p>
        </p:txBody>
      </p:sp>
      <p:sp>
        <p:nvSpPr>
          <p:cNvPr id="213" name="Google Shape;213;p23"/>
          <p:cNvSpPr txBox="1">
            <a:spLocks noGrp="1"/>
          </p:cNvSpPr>
          <p:nvPr>
            <p:ph type="body" idx="1"/>
          </p:nvPr>
        </p:nvSpPr>
        <p:spPr>
          <a:xfrm>
            <a:off x="818712" y="2222287"/>
            <a:ext cx="10554574" cy="3636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b="1"/>
              <a:t>b, Actuator Sector:</a:t>
            </a:r>
            <a:endParaRPr/>
          </a:p>
          <a:p>
            <a:pPr marL="342900" lvl="0" indent="-342900" algn="l" rtl="0">
              <a:spcBef>
                <a:spcPts val="960"/>
              </a:spcBef>
              <a:spcAft>
                <a:spcPts val="0"/>
              </a:spcAft>
              <a:buSzPts val="1800"/>
              <a:buChar char="🞆"/>
            </a:pPr>
            <a:r>
              <a:rPr lang="en-US" b="1">
                <a:solidFill>
                  <a:srgbClr val="92D050"/>
                </a:solidFill>
              </a:rPr>
              <a:t>Read-write head – đầu đọc ghi</a:t>
            </a:r>
            <a:endParaRPr/>
          </a:p>
          <a:p>
            <a:pPr marL="342900" lvl="0" indent="-342900" algn="l" rtl="0">
              <a:spcBef>
                <a:spcPts val="960"/>
              </a:spcBef>
              <a:spcAft>
                <a:spcPts val="0"/>
              </a:spcAft>
              <a:buSzPts val="1800"/>
              <a:buChar char="🞆"/>
            </a:pPr>
            <a:r>
              <a:rPr lang="en-US" b="1">
                <a:solidFill>
                  <a:srgbClr val="FFC000"/>
                </a:solidFill>
              </a:rPr>
              <a:t>Actuator arm – cần di chuyển</a:t>
            </a:r>
            <a:endParaRPr/>
          </a:p>
          <a:p>
            <a:pPr marL="342900" lvl="0" indent="-228600" algn="l" rtl="0">
              <a:spcBef>
                <a:spcPts val="96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pic>
        <p:nvPicPr>
          <p:cNvPr id="214" name="Google Shape;214;p23" descr="https://begobook.ucoz.com/HocNghe/pc/chuong2/bai4/Candichuyen.gif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51618" y="0"/>
            <a:ext cx="5398225" cy="1894114"/>
          </a:xfrm>
          <a:prstGeom prst="roundRect">
            <a:avLst>
              <a:gd name="adj" fmla="val 8594"/>
            </a:avLst>
          </a:prstGeom>
          <a:solidFill>
            <a:srgbClr val="ECECEC"/>
          </a:solidFill>
          <a:ln>
            <a:noFill/>
          </a:ln>
          <a:effectLst>
            <a:reflection stA="38000" endPos="28000" dist="5000" dir="5400000" sy="-100000" algn="bl" rotWithShape="0"/>
          </a:effectLst>
        </p:spPr>
      </p:pic>
      <p:pic>
        <p:nvPicPr>
          <p:cNvPr id="215" name="Google Shape;215;p23" descr="https://upload.wikimedia.org/wikipedia/commons/5/54/Kopftraeger_WD2500JS-00MHB0.jp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077190" y="2952693"/>
            <a:ext cx="4734919" cy="355261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23" descr="File:HDD read-write head.jp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0000" y="3492839"/>
            <a:ext cx="5171610" cy="30124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4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</a:pPr>
            <a:r>
              <a:rPr lang="en-US"/>
              <a:t>V. Components :</a:t>
            </a:r>
            <a:endParaRPr/>
          </a:p>
        </p:txBody>
      </p:sp>
      <p:sp>
        <p:nvSpPr>
          <p:cNvPr id="222" name="Google Shape;222;p24"/>
          <p:cNvSpPr txBox="1">
            <a:spLocks noGrp="1"/>
          </p:cNvSpPr>
          <p:nvPr>
            <p:ph type="body" idx="1"/>
          </p:nvPr>
        </p:nvSpPr>
        <p:spPr>
          <a:xfrm>
            <a:off x="818712" y="2222287"/>
            <a:ext cx="10554574" cy="4374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b="1"/>
              <a:t>c, Circuit Sector:</a:t>
            </a:r>
            <a:endParaRPr/>
          </a:p>
          <a:p>
            <a:pPr marL="342900" lvl="0" indent="-342900" algn="l" rtl="0">
              <a:spcBef>
                <a:spcPts val="960"/>
              </a:spcBef>
              <a:spcAft>
                <a:spcPts val="0"/>
              </a:spcAft>
              <a:buSzPts val="1800"/>
              <a:buChar char="🞆"/>
            </a:pPr>
            <a:r>
              <a:rPr lang="en-US" b="1">
                <a:solidFill>
                  <a:srgbClr val="92D050"/>
                </a:solidFill>
              </a:rPr>
              <a:t>Controller – Mạch điều khiển:</a:t>
            </a:r>
            <a:endParaRPr/>
          </a:p>
          <a:p>
            <a:pPr marL="342900" lvl="0" indent="-342900" algn="l" rtl="0">
              <a:spcBef>
                <a:spcPts val="960"/>
              </a:spcBef>
              <a:spcAft>
                <a:spcPts val="0"/>
              </a:spcAft>
              <a:buSzPts val="1800"/>
              <a:buChar char="🞆"/>
            </a:pPr>
            <a:r>
              <a:rPr lang="en-US" b="1">
                <a:solidFill>
                  <a:srgbClr val="92D050"/>
                </a:solidFill>
              </a:rPr>
              <a:t>Processor - Mạch xử lý dữ liệu:</a:t>
            </a:r>
            <a:endParaRPr/>
          </a:p>
          <a:p>
            <a:pPr marL="342900" lvl="0" indent="-342900" algn="l" rtl="0">
              <a:spcBef>
                <a:spcPts val="960"/>
              </a:spcBef>
              <a:spcAft>
                <a:spcPts val="0"/>
              </a:spcAft>
              <a:buSzPts val="1800"/>
              <a:buChar char="🞆"/>
            </a:pPr>
            <a:r>
              <a:rPr lang="en-US" b="1">
                <a:solidFill>
                  <a:srgbClr val="00B0F0"/>
                </a:solidFill>
              </a:rPr>
              <a:t>Buffer/cache – bộ nhớ đệm:</a:t>
            </a:r>
            <a:endParaRPr/>
          </a:p>
          <a:p>
            <a:pPr marL="342900" lvl="0" indent="-342900" algn="l" rtl="0">
              <a:spcBef>
                <a:spcPts val="960"/>
              </a:spcBef>
              <a:spcAft>
                <a:spcPts val="0"/>
              </a:spcAft>
              <a:buSzPts val="1800"/>
              <a:buChar char="🞆"/>
            </a:pPr>
            <a:r>
              <a:rPr lang="en-US" b="1">
                <a:solidFill>
                  <a:srgbClr val="92D050"/>
                </a:solidFill>
              </a:rPr>
              <a:t>Power connector – cổng điện:</a:t>
            </a:r>
            <a:endParaRPr>
              <a:solidFill>
                <a:srgbClr val="92D050"/>
              </a:solidFill>
            </a:endParaRPr>
          </a:p>
          <a:p>
            <a:pPr marL="342900" lvl="0" indent="-342900" algn="l" rtl="0">
              <a:spcBef>
                <a:spcPts val="960"/>
              </a:spcBef>
              <a:spcAft>
                <a:spcPts val="0"/>
              </a:spcAft>
              <a:buSzPts val="1800"/>
              <a:buChar char="🞆"/>
            </a:pPr>
            <a:r>
              <a:rPr lang="en-US" b="1">
                <a:solidFill>
                  <a:srgbClr val="92D050"/>
                </a:solidFill>
              </a:rPr>
              <a:t>IDE connector – cổng kết nối:</a:t>
            </a:r>
            <a:endParaRPr>
              <a:solidFill>
                <a:srgbClr val="92D050"/>
              </a:solidFill>
            </a:endParaRPr>
          </a:p>
          <a:p>
            <a:pPr marL="342900" lvl="0" indent="-342900" algn="l" rtl="0">
              <a:spcBef>
                <a:spcPts val="960"/>
              </a:spcBef>
              <a:spcAft>
                <a:spcPts val="0"/>
              </a:spcAft>
              <a:buSzPts val="1800"/>
              <a:buChar char="🞆"/>
            </a:pPr>
            <a:r>
              <a:rPr lang="en-US" b="1">
                <a:solidFill>
                  <a:srgbClr val="00B0F0"/>
                </a:solidFill>
              </a:rPr>
              <a:t>Jumper – cổng giao thức:</a:t>
            </a:r>
            <a:endParaRPr/>
          </a:p>
        </p:txBody>
      </p:sp>
      <p:pic>
        <p:nvPicPr>
          <p:cNvPr id="223" name="Google Shape;223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92833" y="2050869"/>
            <a:ext cx="5114109" cy="45458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5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</a:pPr>
            <a:r>
              <a:rPr lang="en-US"/>
              <a:t>V. Components:</a:t>
            </a:r>
            <a:endParaRPr/>
          </a:p>
        </p:txBody>
      </p:sp>
      <p:sp>
        <p:nvSpPr>
          <p:cNvPr id="229" name="Google Shape;229;p25"/>
          <p:cNvSpPr txBox="1">
            <a:spLocks noGrp="1"/>
          </p:cNvSpPr>
          <p:nvPr>
            <p:ph type="body" idx="1"/>
          </p:nvPr>
        </p:nvSpPr>
        <p:spPr>
          <a:xfrm>
            <a:off x="818712" y="2222287"/>
            <a:ext cx="10554574" cy="3636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b="1"/>
              <a:t>d, Chassis:</a:t>
            </a:r>
            <a:endParaRPr/>
          </a:p>
          <a:p>
            <a:pPr marL="342900" lvl="0" indent="-342900" algn="l" rtl="0">
              <a:spcBef>
                <a:spcPts val="960"/>
              </a:spcBef>
              <a:spcAft>
                <a:spcPts val="0"/>
              </a:spcAft>
              <a:buSzPts val="1800"/>
              <a:buChar char="🞆"/>
            </a:pPr>
            <a:r>
              <a:rPr lang="en-US" b="1">
                <a:solidFill>
                  <a:srgbClr val="00B0F0"/>
                </a:solidFill>
              </a:rPr>
              <a:t>Cover the components and maintain tightness.</a:t>
            </a:r>
            <a:endParaRPr/>
          </a:p>
          <a:p>
            <a:pPr marL="0" lvl="0" indent="0" algn="l" rtl="0">
              <a:spcBef>
                <a:spcPts val="960"/>
              </a:spcBef>
              <a:spcAft>
                <a:spcPts val="0"/>
              </a:spcAft>
              <a:buSzPts val="1800"/>
              <a:buNone/>
            </a:pPr>
            <a:r>
              <a:rPr lang="en-US"/>
              <a:t>=&gt; Prevent dusts from gathering inside.</a:t>
            </a:r>
            <a:endParaRPr/>
          </a:p>
          <a:p>
            <a:pPr marL="342900" lvl="0" indent="-342900" algn="l" rtl="0">
              <a:spcBef>
                <a:spcPts val="960"/>
              </a:spcBef>
              <a:spcAft>
                <a:spcPts val="0"/>
              </a:spcAft>
              <a:buSzPts val="1800"/>
              <a:buChar char="🞆"/>
            </a:pPr>
            <a:r>
              <a:rPr lang="en-US" b="1">
                <a:solidFill>
                  <a:srgbClr val="92D050"/>
                </a:solidFill>
              </a:rPr>
              <a:t>Provide some resistance against impact and other factors.</a:t>
            </a:r>
            <a:endParaRPr/>
          </a:p>
          <a:p>
            <a:pPr marL="0" lvl="0" indent="0" algn="l" rtl="0">
              <a:spcBef>
                <a:spcPts val="96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pic>
        <p:nvPicPr>
          <p:cNvPr id="230" name="Google Shape;230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20564" y="2447816"/>
            <a:ext cx="4165866" cy="39695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6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</a:pPr>
            <a:r>
              <a:rPr lang="en-US"/>
              <a:t>VI. Platter:</a:t>
            </a:r>
            <a:endParaRPr/>
          </a:p>
        </p:txBody>
      </p:sp>
      <p:sp>
        <p:nvSpPr>
          <p:cNvPr id="236" name="Google Shape;236;p26"/>
          <p:cNvSpPr txBox="1">
            <a:spLocks noGrp="1"/>
          </p:cNvSpPr>
          <p:nvPr>
            <p:ph type="body" idx="1"/>
          </p:nvPr>
        </p:nvSpPr>
        <p:spPr>
          <a:xfrm>
            <a:off x="818712" y="2222287"/>
            <a:ext cx="10554574" cy="43222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🞆"/>
            </a:pPr>
            <a:r>
              <a:rPr lang="en-US" b="1">
                <a:solidFill>
                  <a:srgbClr val="00B0F0"/>
                </a:solidFill>
              </a:rPr>
              <a:t>Platter: </a:t>
            </a:r>
            <a:r>
              <a:rPr lang="en-US"/>
              <a:t>mostly made using </a:t>
            </a:r>
            <a:r>
              <a:rPr lang="en-US" b="1">
                <a:solidFill>
                  <a:srgbClr val="00B0F0"/>
                </a:solidFill>
              </a:rPr>
              <a:t>glass</a:t>
            </a:r>
            <a:r>
              <a:rPr lang="en-US"/>
              <a:t> or </a:t>
            </a:r>
            <a:r>
              <a:rPr lang="en-US" b="1">
                <a:solidFill>
                  <a:srgbClr val="00B0F0"/>
                </a:solidFill>
              </a:rPr>
              <a:t>aluminium</a:t>
            </a:r>
            <a:r>
              <a:rPr lang="en-US"/>
              <a:t>, covered with a </a:t>
            </a:r>
            <a:r>
              <a:rPr lang="en-US" b="1">
                <a:solidFill>
                  <a:srgbClr val="00B0F0"/>
                </a:solidFill>
              </a:rPr>
              <a:t>magnetic coat</a:t>
            </a:r>
            <a:r>
              <a:rPr lang="en-US"/>
              <a:t>.</a:t>
            </a:r>
            <a:endParaRPr/>
          </a:p>
          <a:p>
            <a:pPr marL="342900" lvl="0" indent="-342900" algn="l" rtl="0">
              <a:spcBef>
                <a:spcPts val="960"/>
              </a:spcBef>
              <a:spcAft>
                <a:spcPts val="0"/>
              </a:spcAft>
              <a:buSzPts val="1800"/>
              <a:buChar char="🞆"/>
            </a:pPr>
            <a:r>
              <a:rPr lang="en-US" b="1">
                <a:solidFill>
                  <a:srgbClr val="FF0000"/>
                </a:solidFill>
              </a:rPr>
              <a:t>Hard drives </a:t>
            </a:r>
            <a:r>
              <a:rPr lang="en-US"/>
              <a:t>have several </a:t>
            </a:r>
            <a:r>
              <a:rPr lang="en-US" b="1">
                <a:solidFill>
                  <a:srgbClr val="00B0F0"/>
                </a:solidFill>
              </a:rPr>
              <a:t>platters</a:t>
            </a:r>
            <a:r>
              <a:rPr lang="en-US"/>
              <a:t> mounted </a:t>
            </a:r>
            <a:r>
              <a:rPr lang="en-US" b="1">
                <a:solidFill>
                  <a:srgbClr val="00B050"/>
                </a:solidFill>
              </a:rPr>
              <a:t>parallelly</a:t>
            </a:r>
            <a:r>
              <a:rPr lang="en-US"/>
              <a:t>, </a:t>
            </a:r>
            <a:r>
              <a:rPr lang="en-US" b="1">
                <a:solidFill>
                  <a:srgbClr val="FF0000"/>
                </a:solidFill>
              </a:rPr>
              <a:t>spin</a:t>
            </a:r>
            <a:r>
              <a:rPr lang="en-US"/>
              <a:t> on the </a:t>
            </a:r>
            <a:r>
              <a:rPr lang="en-US" b="1">
                <a:solidFill>
                  <a:srgbClr val="00B050"/>
                </a:solidFill>
              </a:rPr>
              <a:t>same spindle </a:t>
            </a:r>
            <a:r>
              <a:rPr lang="en-US"/>
              <a:t>at the </a:t>
            </a:r>
            <a:r>
              <a:rPr lang="en-US" b="1">
                <a:solidFill>
                  <a:srgbClr val="00B050"/>
                </a:solidFill>
              </a:rPr>
              <a:t>same speed</a:t>
            </a:r>
            <a:r>
              <a:rPr lang="en-US"/>
              <a:t>.</a:t>
            </a:r>
            <a:endParaRPr/>
          </a:p>
          <a:p>
            <a:pPr marL="342900" lvl="0" indent="-342900" algn="l" rtl="0">
              <a:spcBef>
                <a:spcPts val="960"/>
              </a:spcBef>
              <a:spcAft>
                <a:spcPts val="0"/>
              </a:spcAft>
              <a:buSzPts val="1800"/>
              <a:buChar char="🞆"/>
            </a:pPr>
            <a:r>
              <a:rPr lang="en-US"/>
              <a:t>Each </a:t>
            </a:r>
            <a:r>
              <a:rPr lang="en-US" b="1">
                <a:solidFill>
                  <a:srgbClr val="00B0F0"/>
                </a:solidFill>
              </a:rPr>
              <a:t>platter</a:t>
            </a:r>
            <a:r>
              <a:rPr lang="en-US"/>
              <a:t> can </a:t>
            </a:r>
            <a:r>
              <a:rPr lang="en-US" b="1">
                <a:solidFill>
                  <a:srgbClr val="00B050"/>
                </a:solidFill>
              </a:rPr>
              <a:t>store information </a:t>
            </a:r>
            <a:r>
              <a:rPr lang="en-US"/>
              <a:t>on </a:t>
            </a:r>
            <a:r>
              <a:rPr lang="en-US" b="1">
                <a:solidFill>
                  <a:srgbClr val="00B050"/>
                </a:solidFill>
              </a:rPr>
              <a:t>both sides</a:t>
            </a:r>
            <a:r>
              <a:rPr lang="en-US"/>
              <a:t>.</a:t>
            </a:r>
            <a:endParaRPr/>
          </a:p>
          <a:p>
            <a:pPr marL="342900" lvl="0" indent="-342900" algn="l" rtl="0">
              <a:spcBef>
                <a:spcPts val="960"/>
              </a:spcBef>
              <a:spcAft>
                <a:spcPts val="0"/>
              </a:spcAft>
              <a:buSzPts val="1800"/>
              <a:buChar char="🞆"/>
            </a:pPr>
            <a:r>
              <a:rPr lang="en-US" b="1">
                <a:solidFill>
                  <a:srgbClr val="00B0F0"/>
                </a:solidFill>
              </a:rPr>
              <a:t>Platters</a:t>
            </a:r>
            <a:r>
              <a:rPr lang="en-US"/>
              <a:t> are divided into </a:t>
            </a:r>
            <a:r>
              <a:rPr lang="en-US" b="1">
                <a:solidFill>
                  <a:srgbClr val="92D050"/>
                </a:solidFill>
              </a:rPr>
              <a:t>tracks</a:t>
            </a:r>
            <a:r>
              <a:rPr lang="en-US"/>
              <a:t> - concentric circles.</a:t>
            </a:r>
            <a:endParaRPr/>
          </a:p>
          <a:p>
            <a:pPr marL="342900" lvl="0" indent="-342900" algn="l" rtl="0">
              <a:spcBef>
                <a:spcPts val="960"/>
              </a:spcBef>
              <a:spcAft>
                <a:spcPts val="0"/>
              </a:spcAft>
              <a:buSzPts val="1800"/>
              <a:buChar char="🞆"/>
            </a:pPr>
            <a:r>
              <a:rPr lang="en-US"/>
              <a:t>Each </a:t>
            </a:r>
            <a:r>
              <a:rPr lang="en-US" b="1">
                <a:solidFill>
                  <a:srgbClr val="92D050"/>
                </a:solidFill>
              </a:rPr>
              <a:t>track</a:t>
            </a:r>
            <a:r>
              <a:rPr lang="en-US"/>
              <a:t> is divided into </a:t>
            </a:r>
            <a:r>
              <a:rPr lang="en-US" b="1">
                <a:solidFill>
                  <a:srgbClr val="FFC000"/>
                </a:solidFill>
              </a:rPr>
              <a:t>sectors</a:t>
            </a:r>
            <a:r>
              <a:rPr lang="en-US"/>
              <a:t>.</a:t>
            </a:r>
            <a:endParaRPr/>
          </a:p>
          <a:p>
            <a:pPr marL="342900" lvl="0" indent="-342900" algn="l" rtl="0">
              <a:spcBef>
                <a:spcPts val="960"/>
              </a:spcBef>
              <a:spcAft>
                <a:spcPts val="0"/>
              </a:spcAft>
              <a:buSzPts val="1800"/>
              <a:buChar char="🞆"/>
            </a:pPr>
            <a:r>
              <a:rPr lang="en-US" b="1">
                <a:solidFill>
                  <a:srgbClr val="00B0F0"/>
                </a:solidFill>
              </a:rPr>
              <a:t>Cylinders</a:t>
            </a:r>
            <a:r>
              <a:rPr lang="en-US"/>
              <a:t>: set of </a:t>
            </a:r>
            <a:r>
              <a:rPr lang="en-US" b="1">
                <a:solidFill>
                  <a:srgbClr val="92D050"/>
                </a:solidFill>
              </a:rPr>
              <a:t>tracks</a:t>
            </a:r>
            <a:r>
              <a:rPr lang="en-US"/>
              <a:t> on different </a:t>
            </a:r>
            <a:r>
              <a:rPr lang="en-US" b="1">
                <a:solidFill>
                  <a:srgbClr val="00B0F0"/>
                </a:solidFill>
              </a:rPr>
              <a:t>platters</a:t>
            </a:r>
            <a:r>
              <a:rPr lang="en-US"/>
              <a:t>.</a:t>
            </a:r>
            <a:endParaRPr/>
          </a:p>
          <a:p>
            <a:pPr marL="342900" lvl="0" indent="-228600" algn="l" rtl="0">
              <a:spcBef>
                <a:spcPts val="96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pic>
        <p:nvPicPr>
          <p:cNvPr id="237" name="Google Shape;237;p26" descr="https://lh3.googleusercontent.com/proxy/ge1JCwWYZ32mVlG-ebf9Hc7axJhLuRyrKV373hJELj2ZuPRK2q_FAvRPqdrb8IcbeUz-p6_7trSzIYBkBojHJmdiXHdqmHv4kvFLJJeE2xFrrW--F1E4sQ7djwqscokSxhWH_3hx8hDn5etr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30794" y="3131282"/>
            <a:ext cx="3684556" cy="35673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3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3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000"/>
                            </p:stCondLst>
                            <p:childTnLst>
                              <p:par>
                                <p:cTn id="4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7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</a:pPr>
            <a:r>
              <a:rPr lang="en-US"/>
              <a:t>VII. Spindle:</a:t>
            </a:r>
            <a:endParaRPr/>
          </a:p>
        </p:txBody>
      </p:sp>
      <p:sp>
        <p:nvSpPr>
          <p:cNvPr id="243" name="Google Shape;243;p27"/>
          <p:cNvSpPr txBox="1">
            <a:spLocks noGrp="1"/>
          </p:cNvSpPr>
          <p:nvPr>
            <p:ph type="body" idx="1"/>
          </p:nvPr>
        </p:nvSpPr>
        <p:spPr>
          <a:xfrm>
            <a:off x="818712" y="2222287"/>
            <a:ext cx="10554574" cy="43222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🞆"/>
            </a:pPr>
            <a:r>
              <a:rPr lang="en-US" b="1"/>
              <a:t>Use</a:t>
            </a:r>
            <a:r>
              <a:rPr lang="en-US" b="1">
                <a:solidFill>
                  <a:srgbClr val="00B0F0"/>
                </a:solidFill>
              </a:rPr>
              <a:t> </a:t>
            </a:r>
            <a:r>
              <a:rPr lang="en-US" b="1">
                <a:solidFill>
                  <a:srgbClr val="FFC000"/>
                </a:solidFill>
              </a:rPr>
              <a:t>energy from motor </a:t>
            </a:r>
            <a:r>
              <a:rPr lang="en-US" b="1"/>
              <a:t>to</a:t>
            </a:r>
            <a:r>
              <a:rPr lang="en-US" b="1">
                <a:solidFill>
                  <a:srgbClr val="00B0F0"/>
                </a:solidFill>
              </a:rPr>
              <a:t> spin platter.</a:t>
            </a:r>
            <a:endParaRPr b="1"/>
          </a:p>
          <a:p>
            <a:pPr marL="342900" lvl="0" indent="-342900" algn="l" rtl="0">
              <a:spcBef>
                <a:spcPts val="960"/>
              </a:spcBef>
              <a:spcAft>
                <a:spcPts val="0"/>
              </a:spcAft>
              <a:buSzPts val="1800"/>
              <a:buChar char="🞆"/>
            </a:pPr>
            <a:r>
              <a:rPr lang="en-US" b="1"/>
              <a:t>Usually</a:t>
            </a:r>
            <a:r>
              <a:rPr lang="en-US"/>
              <a:t> </a:t>
            </a:r>
            <a:r>
              <a:rPr lang="en-US" b="1"/>
              <a:t>made</a:t>
            </a:r>
            <a:r>
              <a:rPr lang="en-US"/>
              <a:t> </a:t>
            </a:r>
            <a:r>
              <a:rPr lang="en-US" b="1"/>
              <a:t>from</a:t>
            </a:r>
            <a:r>
              <a:rPr lang="en-US"/>
              <a:t> </a:t>
            </a:r>
            <a:r>
              <a:rPr lang="en-US" b="1">
                <a:solidFill>
                  <a:srgbClr val="43FFF5"/>
                </a:solidFill>
              </a:rPr>
              <a:t>aluminium alloy</a:t>
            </a:r>
            <a:r>
              <a:rPr lang="en-US"/>
              <a:t>.</a:t>
            </a:r>
            <a:endParaRPr/>
          </a:p>
          <a:p>
            <a:pPr marL="342900" lvl="0" indent="-342900" algn="l" rtl="0">
              <a:spcBef>
                <a:spcPts val="960"/>
              </a:spcBef>
              <a:spcAft>
                <a:spcPts val="0"/>
              </a:spcAft>
              <a:buSzPts val="1800"/>
              <a:buChar char="🞆"/>
            </a:pPr>
            <a:r>
              <a:rPr lang="en-US" b="1"/>
              <a:t>Must</a:t>
            </a:r>
            <a:r>
              <a:rPr lang="en-US" b="1">
                <a:solidFill>
                  <a:srgbClr val="00B0F0"/>
                </a:solidFill>
              </a:rPr>
              <a:t> </a:t>
            </a:r>
            <a:r>
              <a:rPr lang="en-US" b="1"/>
              <a:t>be</a:t>
            </a:r>
            <a:r>
              <a:rPr lang="en-US"/>
              <a:t> </a:t>
            </a:r>
            <a:r>
              <a:rPr lang="en-US" b="1">
                <a:solidFill>
                  <a:srgbClr val="FF0000"/>
                </a:solidFill>
              </a:rPr>
              <a:t>completely</a:t>
            </a:r>
            <a:r>
              <a:rPr lang="en-US"/>
              <a:t> </a:t>
            </a:r>
            <a:r>
              <a:rPr lang="en-US" b="1">
                <a:solidFill>
                  <a:srgbClr val="FF0000"/>
                </a:solidFill>
              </a:rPr>
              <a:t>precise</a:t>
            </a:r>
            <a:r>
              <a:rPr lang="en-US"/>
              <a:t>.</a:t>
            </a:r>
            <a:endParaRPr/>
          </a:p>
        </p:txBody>
      </p:sp>
      <p:pic>
        <p:nvPicPr>
          <p:cNvPr id="244" name="Google Shape;244;p27"/>
          <p:cNvPicPr preferRelativeResize="0"/>
          <p:nvPr/>
        </p:nvPicPr>
        <p:blipFill rotWithShape="1">
          <a:blip r:embed="rId3">
            <a:alphaModFix/>
          </a:blip>
          <a:srcRect l="-522" t="895" r="30917" b="-528"/>
          <a:stretch/>
        </p:blipFill>
        <p:spPr>
          <a:xfrm>
            <a:off x="6095999" y="2050156"/>
            <a:ext cx="5584271" cy="46664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8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</a:pPr>
            <a:r>
              <a:rPr lang="en-US"/>
              <a:t>VIII. Read/write head:</a:t>
            </a:r>
            <a:endParaRPr/>
          </a:p>
        </p:txBody>
      </p:sp>
      <p:sp>
        <p:nvSpPr>
          <p:cNvPr id="250" name="Google Shape;250;p28"/>
          <p:cNvSpPr txBox="1">
            <a:spLocks noGrp="1"/>
          </p:cNvSpPr>
          <p:nvPr>
            <p:ph type="body" idx="1"/>
          </p:nvPr>
        </p:nvSpPr>
        <p:spPr>
          <a:xfrm>
            <a:off x="818712" y="2222287"/>
            <a:ext cx="10554574" cy="43222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🞆"/>
            </a:pPr>
            <a:r>
              <a:rPr lang="en-US" b="1"/>
              <a:t>Consist of an </a:t>
            </a:r>
            <a:r>
              <a:rPr lang="en-US" b="1">
                <a:solidFill>
                  <a:srgbClr val="FFC000"/>
                </a:solidFill>
              </a:rPr>
              <a:t>ferrite core </a:t>
            </a:r>
            <a:r>
              <a:rPr lang="en-US" b="1"/>
              <a:t>and </a:t>
            </a:r>
            <a:r>
              <a:rPr lang="en-US" b="1">
                <a:solidFill>
                  <a:srgbClr val="FFC000"/>
                </a:solidFill>
              </a:rPr>
              <a:t>copper wire coil</a:t>
            </a:r>
            <a:r>
              <a:rPr lang="en-US" b="1"/>
              <a:t>.</a:t>
            </a:r>
            <a:endParaRPr/>
          </a:p>
          <a:p>
            <a:pPr marL="342900" lvl="0" indent="-342900" algn="l" rtl="0">
              <a:spcBef>
                <a:spcPts val="960"/>
              </a:spcBef>
              <a:spcAft>
                <a:spcPts val="0"/>
              </a:spcAft>
              <a:buSzPts val="1800"/>
              <a:buChar char="🞆"/>
            </a:pPr>
            <a:r>
              <a:rPr lang="en-US" b="1">
                <a:solidFill>
                  <a:srgbClr val="00B0F0"/>
                </a:solidFill>
              </a:rPr>
              <a:t>Read </a:t>
            </a:r>
            <a:r>
              <a:rPr lang="en-US" b="1"/>
              <a:t>and</a:t>
            </a:r>
            <a:r>
              <a:rPr lang="en-US" b="1">
                <a:solidFill>
                  <a:srgbClr val="00B0F0"/>
                </a:solidFill>
              </a:rPr>
              <a:t> write data </a:t>
            </a:r>
            <a:r>
              <a:rPr lang="en-US" b="1"/>
              <a:t>on</a:t>
            </a:r>
            <a:r>
              <a:rPr lang="en-US" b="1">
                <a:solidFill>
                  <a:srgbClr val="00B0F0"/>
                </a:solidFill>
              </a:rPr>
              <a:t> </a:t>
            </a:r>
            <a:r>
              <a:rPr lang="en-US" b="1">
                <a:solidFill>
                  <a:srgbClr val="FFFF00"/>
                </a:solidFill>
              </a:rPr>
              <a:t>platter</a:t>
            </a:r>
            <a:r>
              <a:rPr lang="en-US" b="1">
                <a:solidFill>
                  <a:srgbClr val="00B0F0"/>
                </a:solidFill>
              </a:rPr>
              <a:t> </a:t>
            </a:r>
            <a:r>
              <a:rPr lang="en-US" b="1"/>
              <a:t>using</a:t>
            </a:r>
            <a:r>
              <a:rPr lang="en-US" b="1">
                <a:solidFill>
                  <a:srgbClr val="00B0F0"/>
                </a:solidFill>
              </a:rPr>
              <a:t> magnetization.</a:t>
            </a:r>
            <a:endParaRPr/>
          </a:p>
          <a:p>
            <a:pPr marL="0" lvl="0" indent="0" algn="l" rtl="0">
              <a:spcBef>
                <a:spcPts val="96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pic>
        <p:nvPicPr>
          <p:cNvPr id="251" name="Google Shape;251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37989" y="2222287"/>
            <a:ext cx="4828905" cy="3657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9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Disk Physical Characteristics</a:t>
            </a:r>
            <a:endParaRPr/>
          </a:p>
        </p:txBody>
      </p:sp>
      <p:sp>
        <p:nvSpPr>
          <p:cNvPr id="258" name="Google Shape;258;p29"/>
          <p:cNvSpPr txBox="1">
            <a:spLocks noGrp="1"/>
          </p:cNvSpPr>
          <p:nvPr>
            <p:ph type="body" idx="1"/>
          </p:nvPr>
        </p:nvSpPr>
        <p:spPr>
          <a:xfrm>
            <a:off x="818700" y="2172700"/>
            <a:ext cx="10554600" cy="4397100"/>
          </a:xfrm>
          <a:prstGeom prst="rect">
            <a:avLst/>
          </a:prstGeom>
          <a:ln w="38100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00FFFF"/>
                </a:solidFill>
              </a:rPr>
              <a:t>Head Motion	</a:t>
            </a:r>
            <a:r>
              <a:rPr lang="en-US" b="1" dirty="0"/>
              <a:t>			</a:t>
            </a:r>
            <a:r>
              <a:rPr lang="en-US" b="1" dirty="0"/>
              <a:t> </a:t>
            </a:r>
            <a:r>
              <a:rPr lang="en-US" b="1" dirty="0" smtClean="0"/>
              <a:t>             </a:t>
            </a:r>
            <a:r>
              <a:rPr lang="en-US" sz="2400" b="1" dirty="0" smtClean="0">
                <a:solidFill>
                  <a:srgbClr val="00FFFF"/>
                </a:solidFill>
              </a:rPr>
              <a:t>Platter</a:t>
            </a:r>
            <a:endParaRPr sz="2400" b="1" dirty="0">
              <a:solidFill>
                <a:srgbClr val="00FFFF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00FFFF"/>
                </a:solidFill>
              </a:rPr>
              <a:t> </a:t>
            </a:r>
            <a:r>
              <a:rPr lang="en-US" sz="2000" b="1" dirty="0" smtClean="0">
                <a:solidFill>
                  <a:srgbClr val="00FFFF"/>
                </a:solidFill>
              </a:rPr>
              <a:t>•    </a:t>
            </a:r>
            <a:r>
              <a:rPr lang="en-US" sz="2000" b="1" dirty="0" smtClean="0"/>
              <a:t>Fixed </a:t>
            </a:r>
            <a:r>
              <a:rPr lang="en-US" sz="2000" b="1" dirty="0"/>
              <a:t>head (one per track)			</a:t>
            </a:r>
            <a:r>
              <a:rPr lang="en-US" sz="2000" b="1" dirty="0" smtClean="0"/>
              <a:t> </a:t>
            </a:r>
            <a:r>
              <a:rPr lang="en-US" sz="2000" b="1" dirty="0" smtClean="0">
                <a:solidFill>
                  <a:srgbClr val="00FFFF"/>
                </a:solidFill>
              </a:rPr>
              <a:t>•    </a:t>
            </a:r>
            <a:r>
              <a:rPr lang="en-US" sz="2000" b="1" dirty="0" smtClean="0"/>
              <a:t>Single </a:t>
            </a:r>
            <a:r>
              <a:rPr lang="en-US" sz="2000" b="1" dirty="0"/>
              <a:t>platter</a:t>
            </a:r>
            <a:endParaRPr sz="2000" b="1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00FFFF"/>
                </a:solidFill>
              </a:rPr>
              <a:t> • </a:t>
            </a:r>
            <a:r>
              <a:rPr lang="en-US" sz="2000" b="1" dirty="0" smtClean="0">
                <a:solidFill>
                  <a:srgbClr val="00FFFF"/>
                </a:solidFill>
              </a:rPr>
              <a:t>   </a:t>
            </a:r>
            <a:r>
              <a:rPr lang="en-US" sz="2000" b="1" dirty="0" smtClean="0"/>
              <a:t>Movable </a:t>
            </a:r>
            <a:r>
              <a:rPr lang="en-US" sz="2000" b="1" dirty="0"/>
              <a:t>head (one per surface)		</a:t>
            </a:r>
            <a:r>
              <a:rPr lang="en-US" sz="2000" b="1" dirty="0"/>
              <a:t> </a:t>
            </a:r>
            <a:r>
              <a:rPr lang="en-US" sz="2000" b="1" dirty="0" smtClean="0"/>
              <a:t>             </a:t>
            </a:r>
            <a:r>
              <a:rPr lang="en-US" sz="2000" b="1" dirty="0" smtClean="0">
                <a:solidFill>
                  <a:srgbClr val="00FFFF"/>
                </a:solidFill>
              </a:rPr>
              <a:t>•    </a:t>
            </a:r>
            <a:r>
              <a:rPr lang="en-US" sz="2000" b="1" dirty="0" smtClean="0"/>
              <a:t>Multiple </a:t>
            </a:r>
            <a:r>
              <a:rPr lang="en-US" sz="2000" b="1" dirty="0"/>
              <a:t>platters</a:t>
            </a:r>
            <a:endParaRPr sz="2000" b="1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b="1" dirty="0"/>
          </a:p>
          <a:p>
            <a:pPr marL="0" indent="0">
              <a:spcBef>
                <a:spcPts val="600"/>
              </a:spcBef>
              <a:buNone/>
            </a:pPr>
            <a:r>
              <a:rPr lang="en-US" sz="2400" b="1" dirty="0">
                <a:solidFill>
                  <a:srgbClr val="00FFFF"/>
                </a:solidFill>
              </a:rPr>
              <a:t>Disk </a:t>
            </a:r>
            <a:r>
              <a:rPr lang="en-US" sz="2400" b="1" dirty="0" smtClean="0">
                <a:solidFill>
                  <a:srgbClr val="00FFFF"/>
                </a:solidFill>
              </a:rPr>
              <a:t>portability                                                  </a:t>
            </a:r>
            <a:r>
              <a:rPr lang="en-US" sz="2400" b="1" dirty="0" smtClean="0">
                <a:solidFill>
                  <a:srgbClr val="00FFFF"/>
                </a:solidFill>
              </a:rPr>
              <a:t>Head </a:t>
            </a:r>
            <a:r>
              <a:rPr lang="en-US" sz="2400" b="1" dirty="0">
                <a:solidFill>
                  <a:srgbClr val="00FFFF"/>
                </a:solidFill>
              </a:rPr>
              <a:t>mechanism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b="1" dirty="0">
                <a:solidFill>
                  <a:srgbClr val="00FFFF"/>
                </a:solidFill>
              </a:rPr>
              <a:t> </a:t>
            </a:r>
            <a:r>
              <a:rPr lang="en-US" sz="2000" b="1" dirty="0" smtClean="0">
                <a:solidFill>
                  <a:srgbClr val="00FFFF"/>
                </a:solidFill>
              </a:rPr>
              <a:t>•     </a:t>
            </a:r>
            <a:r>
              <a:rPr lang="en-US" sz="2000" b="1" dirty="0" smtClean="0"/>
              <a:t>Non-removable </a:t>
            </a:r>
            <a:r>
              <a:rPr lang="en-US" sz="2000" b="1" dirty="0"/>
              <a:t>disk			</a:t>
            </a:r>
            <a:r>
              <a:rPr lang="en-US" sz="2000" b="1" dirty="0"/>
              <a:t> </a:t>
            </a:r>
            <a:r>
              <a:rPr lang="en-US" sz="2000" b="1" dirty="0" smtClean="0"/>
              <a:t>             </a:t>
            </a:r>
            <a:r>
              <a:rPr lang="en-US" sz="2000" b="1" dirty="0" smtClean="0">
                <a:solidFill>
                  <a:srgbClr val="00FFFF"/>
                </a:solidFill>
              </a:rPr>
              <a:t>•    </a:t>
            </a:r>
            <a:r>
              <a:rPr lang="en-US" sz="2000" b="1" dirty="0" smtClean="0"/>
              <a:t>Contact </a:t>
            </a:r>
            <a:r>
              <a:rPr lang="en-US" sz="2000" b="1" dirty="0"/>
              <a:t>(floppy</a:t>
            </a:r>
            <a:r>
              <a:rPr lang="en-US" sz="2000" b="1" dirty="0" smtClean="0"/>
              <a:t>)</a:t>
            </a:r>
            <a:endParaRPr lang="en-US" sz="2000" b="1" dirty="0" smtClean="0"/>
          </a:p>
          <a:p>
            <a:pPr marL="0" indent="0">
              <a:spcBef>
                <a:spcPts val="600"/>
              </a:spcBef>
              <a:buNone/>
            </a:pPr>
            <a:r>
              <a:rPr lang="en-US" sz="2000" b="1" dirty="0" smtClean="0"/>
              <a:t> </a:t>
            </a:r>
            <a:r>
              <a:rPr lang="en-US" sz="2000" b="1" dirty="0">
                <a:solidFill>
                  <a:srgbClr val="00FFFF"/>
                </a:solidFill>
              </a:rPr>
              <a:t>•</a:t>
            </a:r>
            <a:r>
              <a:rPr lang="en-US" sz="2000" b="1" dirty="0"/>
              <a:t> </a:t>
            </a:r>
            <a:r>
              <a:rPr lang="en-US" sz="2000" b="1" dirty="0" smtClean="0"/>
              <a:t>    Removable </a:t>
            </a:r>
            <a:r>
              <a:rPr lang="en-US" sz="2000" b="1" dirty="0"/>
              <a:t>disk                                                 </a:t>
            </a:r>
            <a:r>
              <a:rPr lang="en-US" sz="2000" b="1" dirty="0" smtClean="0"/>
              <a:t>  </a:t>
            </a:r>
            <a:r>
              <a:rPr lang="en-US" sz="2000" b="1" dirty="0"/>
              <a:t>	</a:t>
            </a:r>
            <a:r>
              <a:rPr lang="en-US" sz="2000" b="1" dirty="0" smtClean="0"/>
              <a:t> </a:t>
            </a:r>
            <a:r>
              <a:rPr lang="en-US" sz="2000" b="1" dirty="0" smtClean="0">
                <a:solidFill>
                  <a:srgbClr val="00FFFF"/>
                </a:solidFill>
              </a:rPr>
              <a:t>•</a:t>
            </a:r>
            <a:r>
              <a:rPr lang="en-US" sz="2000" b="1" dirty="0" smtClean="0"/>
              <a:t>    Fixed </a:t>
            </a:r>
            <a:r>
              <a:rPr lang="en-US" sz="2000" b="1" dirty="0"/>
              <a:t>gap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000" b="1" dirty="0" smtClean="0"/>
              <a:t> </a:t>
            </a:r>
            <a:r>
              <a:rPr lang="en-US" sz="2000" b="1" dirty="0"/>
              <a:t>							</a:t>
            </a:r>
            <a:r>
              <a:rPr lang="en-US" sz="2000" b="1" dirty="0" smtClean="0"/>
              <a:t> </a:t>
            </a:r>
            <a:r>
              <a:rPr lang="en-US" sz="2000" b="1" dirty="0" smtClean="0">
                <a:solidFill>
                  <a:srgbClr val="00FFFF"/>
                </a:solidFill>
              </a:rPr>
              <a:t>•</a:t>
            </a:r>
            <a:r>
              <a:rPr lang="en-US" sz="2000" b="1" dirty="0" smtClean="0"/>
              <a:t>    Aerodynamic </a:t>
            </a:r>
            <a:r>
              <a:rPr lang="en-US" sz="2000" b="1" dirty="0"/>
              <a:t>gap</a:t>
            </a:r>
          </a:p>
          <a:p>
            <a:pPr marL="0" lvl="0" indent="0">
              <a:spcBef>
                <a:spcPts val="600"/>
              </a:spcBef>
              <a:buNone/>
            </a:pPr>
            <a:r>
              <a:rPr lang="en-US" sz="2400" b="1" dirty="0" smtClean="0">
                <a:solidFill>
                  <a:srgbClr val="00FFFF"/>
                </a:solidFill>
              </a:rPr>
              <a:t>Sides</a:t>
            </a:r>
            <a:endParaRPr sz="2400" b="1" dirty="0">
              <a:solidFill>
                <a:srgbClr val="00FFFF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1" dirty="0"/>
              <a:t> </a:t>
            </a:r>
            <a:r>
              <a:rPr lang="en-US" sz="2000" b="1" dirty="0" smtClean="0">
                <a:solidFill>
                  <a:srgbClr val="00FFFF"/>
                </a:solidFill>
              </a:rPr>
              <a:t>•</a:t>
            </a:r>
            <a:r>
              <a:rPr lang="en-US" b="1" dirty="0"/>
              <a:t> </a:t>
            </a:r>
            <a:r>
              <a:rPr lang="en-US" b="1" dirty="0" smtClean="0"/>
              <a:t>     </a:t>
            </a:r>
            <a:r>
              <a:rPr lang="en-US" sz="2000" b="1" dirty="0" smtClean="0"/>
              <a:t>Single </a:t>
            </a:r>
            <a:r>
              <a:rPr lang="en-US" sz="2000" b="1" dirty="0"/>
              <a:t>sided</a:t>
            </a:r>
            <a:endParaRPr sz="2000" b="1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1" dirty="0"/>
              <a:t> </a:t>
            </a:r>
            <a:r>
              <a:rPr lang="en-US" sz="2000" b="1" dirty="0" smtClean="0">
                <a:solidFill>
                  <a:srgbClr val="00FFFF"/>
                </a:solidFill>
              </a:rPr>
              <a:t>•</a:t>
            </a:r>
            <a:r>
              <a:rPr lang="en-US" sz="2000" b="1" dirty="0"/>
              <a:t> </a:t>
            </a:r>
            <a:r>
              <a:rPr lang="en-US" sz="2000" b="1" dirty="0" smtClean="0"/>
              <a:t>    </a:t>
            </a:r>
            <a:r>
              <a:rPr lang="en-US" sz="2000" b="1" dirty="0" smtClean="0"/>
              <a:t>Double </a:t>
            </a:r>
            <a:r>
              <a:rPr lang="en-US" sz="2000" b="1" dirty="0"/>
              <a:t>sided</a:t>
            </a:r>
            <a:endParaRPr sz="2000" b="1" dirty="0"/>
          </a:p>
          <a:p>
            <a:pPr marL="0" lvl="0" indent="0" algn="l" rtl="0">
              <a:spcBef>
                <a:spcPts val="600"/>
              </a:spcBef>
              <a:spcAft>
                <a:spcPts val="600"/>
              </a:spcAft>
              <a:buNone/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4" name="Google Shape;264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4925" y="0"/>
            <a:ext cx="70471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30"/>
          <p:cNvSpPr txBox="1"/>
          <p:nvPr/>
        </p:nvSpPr>
        <p:spPr>
          <a:xfrm>
            <a:off x="8192650" y="1355175"/>
            <a:ext cx="2915700" cy="14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66" name="Google Shape;266;p30"/>
          <p:cNvSpPr txBox="1"/>
          <p:nvPr/>
        </p:nvSpPr>
        <p:spPr>
          <a:xfrm>
            <a:off x="8726500" y="2073825"/>
            <a:ext cx="2073900" cy="176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600">
                <a:solidFill>
                  <a:srgbClr val="663366"/>
                </a:solidFill>
              </a:rPr>
              <a:t>Disk</a:t>
            </a:r>
            <a:endParaRPr sz="3600">
              <a:solidFill>
                <a:srgbClr val="663366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600">
                <a:solidFill>
                  <a:srgbClr val="663366"/>
                </a:solidFill>
              </a:rPr>
              <a:t>Data</a:t>
            </a:r>
            <a:endParaRPr sz="3600">
              <a:solidFill>
                <a:srgbClr val="663366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663366"/>
                </a:solidFill>
              </a:rPr>
              <a:t>Layout</a:t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2" name="Google Shape;272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80113" y="-26837"/>
            <a:ext cx="9631775" cy="6911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8" name="Google Shape;278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412" y="0"/>
            <a:ext cx="12194825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3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HDD Parameters</a:t>
            </a:r>
            <a:endParaRPr/>
          </a:p>
        </p:txBody>
      </p:sp>
      <p:sp>
        <p:nvSpPr>
          <p:cNvPr id="285" name="Google Shape;285;p33"/>
          <p:cNvSpPr txBox="1">
            <a:spLocks noGrp="1"/>
          </p:cNvSpPr>
          <p:nvPr>
            <p:ph type="body" idx="1"/>
          </p:nvPr>
        </p:nvSpPr>
        <p:spPr>
          <a:xfrm>
            <a:off x="818712" y="2222287"/>
            <a:ext cx="10554600" cy="3636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92D050"/>
                </a:solidFill>
              </a:rPr>
              <a:t>Disk Capacity:</a:t>
            </a:r>
            <a:endParaRPr sz="2400" b="1">
              <a:solidFill>
                <a:srgbClr val="92D050"/>
              </a:solidFill>
            </a:endParaRPr>
          </a:p>
          <a:p>
            <a:pPr marL="457200" lvl="0" indent="-355600" algn="l" rtl="0">
              <a:spcBef>
                <a:spcPts val="600"/>
              </a:spcBef>
              <a:spcAft>
                <a:spcPts val="0"/>
              </a:spcAft>
              <a:buSzPts val="2000"/>
              <a:buChar char="🞆"/>
            </a:pPr>
            <a:r>
              <a:rPr lang="en-US" sz="2000"/>
              <a:t>Calculated by (bytes/sector) * (sectors/track) * (cylinders) * (write-read heads) </a:t>
            </a:r>
            <a:endParaRPr sz="200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🞆"/>
            </a:pPr>
            <a:r>
              <a:rPr lang="en-US" sz="2000"/>
              <a:t>Units: byte, KB, MB, GB, TB</a:t>
            </a:r>
            <a:endParaRPr sz="200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🞆"/>
            </a:pPr>
            <a:r>
              <a:rPr lang="en-US" sz="2000"/>
              <a:t>True capacity is usually lower in reality</a:t>
            </a:r>
            <a:endParaRPr sz="20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b="1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accent4"/>
                </a:solidFill>
              </a:rPr>
              <a:t>Cache memory:</a:t>
            </a:r>
            <a:endParaRPr sz="2400" b="1">
              <a:solidFill>
                <a:schemeClr val="accent4"/>
              </a:solidFill>
            </a:endParaRPr>
          </a:p>
          <a:p>
            <a:pPr marL="457200" lvl="0" indent="-355600" algn="l" rtl="0">
              <a:spcBef>
                <a:spcPts val="600"/>
              </a:spcBef>
              <a:spcAft>
                <a:spcPts val="0"/>
              </a:spcAft>
              <a:buSzPts val="2000"/>
              <a:buChar char="🞆"/>
            </a:pPr>
            <a:r>
              <a:rPr lang="en-US" sz="2000"/>
              <a:t>Temporarily store data while working</a:t>
            </a:r>
            <a:endParaRPr sz="200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🞆"/>
            </a:pPr>
            <a:r>
              <a:rPr lang="en-US" sz="2000"/>
              <a:t>Units: KB, MB </a:t>
            </a:r>
            <a:endParaRPr sz="200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🞆"/>
            </a:pPr>
            <a:r>
              <a:rPr lang="en-US" sz="2000"/>
              <a:t>Higher memory →  better performance</a:t>
            </a:r>
            <a:endParaRPr sz="20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4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HDD Parameters</a:t>
            </a:r>
            <a:endParaRPr/>
          </a:p>
        </p:txBody>
      </p:sp>
      <p:sp>
        <p:nvSpPr>
          <p:cNvPr id="292" name="Google Shape;292;p34"/>
          <p:cNvSpPr txBox="1">
            <a:spLocks noGrp="1"/>
          </p:cNvSpPr>
          <p:nvPr>
            <p:ph type="body" idx="1"/>
          </p:nvPr>
        </p:nvSpPr>
        <p:spPr>
          <a:xfrm>
            <a:off x="818712" y="2222287"/>
            <a:ext cx="10554600" cy="3636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B050"/>
                </a:solidFill>
              </a:rPr>
              <a:t>Size: </a:t>
            </a:r>
            <a:endParaRPr sz="2400" b="1">
              <a:solidFill>
                <a:srgbClr val="00B050"/>
              </a:solidFill>
            </a:endParaRPr>
          </a:p>
          <a:p>
            <a:pPr marL="457200" lvl="0" indent="-355600" algn="l" rtl="0">
              <a:spcBef>
                <a:spcPts val="600"/>
              </a:spcBef>
              <a:spcAft>
                <a:spcPts val="0"/>
              </a:spcAft>
              <a:buSzPts val="2000"/>
              <a:buChar char="🞆"/>
            </a:pPr>
            <a:r>
              <a:rPr lang="en-US" sz="2000"/>
              <a:t>Usually standardized for assembly</a:t>
            </a:r>
            <a:endParaRPr sz="200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🞆"/>
            </a:pPr>
            <a:r>
              <a:rPr lang="en-US" sz="2000"/>
              <a:t>Unit: inch </a:t>
            </a:r>
            <a:endParaRPr sz="20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400" b="1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B050"/>
                </a:solidFill>
              </a:rPr>
              <a:t>Spindle Speed:</a:t>
            </a:r>
            <a:endParaRPr sz="2400" b="1">
              <a:solidFill>
                <a:srgbClr val="00B050"/>
              </a:solidFill>
            </a:endParaRPr>
          </a:p>
          <a:p>
            <a:pPr marL="457200" lvl="0" indent="-355600" algn="l" rtl="0">
              <a:spcBef>
                <a:spcPts val="600"/>
              </a:spcBef>
              <a:spcAft>
                <a:spcPts val="0"/>
              </a:spcAft>
              <a:buSzPts val="2000"/>
              <a:buChar char="🞆"/>
            </a:pPr>
            <a:r>
              <a:rPr lang="en-US" sz="2000"/>
              <a:t>Unit: rpm (revolutions per minutes)</a:t>
            </a:r>
            <a:endParaRPr sz="200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🞆"/>
            </a:pPr>
            <a:r>
              <a:rPr lang="en-US" sz="2000"/>
              <a:t>The higher the speed, the better the performance</a:t>
            </a:r>
            <a:endParaRPr sz="200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🞆"/>
            </a:pPr>
            <a:r>
              <a:rPr lang="en-US" sz="2000"/>
              <a:t>Common speed: 5400 rpm, 7200 rpm, 10000 rpm, 15000 rpm</a:t>
            </a:r>
            <a:endParaRPr sz="2000"/>
          </a:p>
          <a:p>
            <a:pPr marL="0" lvl="0" indent="0" algn="l" rtl="0">
              <a:spcBef>
                <a:spcPts val="600"/>
              </a:spcBef>
              <a:spcAft>
                <a:spcPts val="600"/>
              </a:spcAft>
              <a:buNone/>
            </a:pPr>
            <a:endParaRPr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5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HDD Parameters</a:t>
            </a:r>
            <a:endParaRPr/>
          </a:p>
        </p:txBody>
      </p:sp>
      <p:sp>
        <p:nvSpPr>
          <p:cNvPr id="299" name="Google Shape;299;p35"/>
          <p:cNvSpPr txBox="1">
            <a:spLocks noGrp="1"/>
          </p:cNvSpPr>
          <p:nvPr>
            <p:ph type="body" idx="1"/>
          </p:nvPr>
        </p:nvSpPr>
        <p:spPr>
          <a:xfrm>
            <a:off x="818700" y="2222274"/>
            <a:ext cx="10554600" cy="399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92D050"/>
                </a:solidFill>
              </a:rPr>
              <a:t>Seek Time (ms):</a:t>
            </a:r>
            <a:endParaRPr sz="2400" b="1">
              <a:solidFill>
                <a:srgbClr val="92D050"/>
              </a:solidFill>
            </a:endParaRPr>
          </a:p>
          <a:p>
            <a:pPr marL="457200" lvl="0" indent="-355600" algn="l" rtl="0">
              <a:spcBef>
                <a:spcPts val="600"/>
              </a:spcBef>
              <a:spcAft>
                <a:spcPts val="0"/>
              </a:spcAft>
              <a:buSzPts val="2000"/>
              <a:buChar char="🞆"/>
            </a:pPr>
            <a:r>
              <a:rPr lang="en-US" sz="2000"/>
              <a:t>The time it takes to move the head from one cylinder to another</a:t>
            </a:r>
            <a:endParaRPr sz="200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🞆"/>
            </a:pPr>
            <a:r>
              <a:rPr lang="en-US" sz="2000"/>
              <a:t>Unit: ms</a:t>
            </a:r>
            <a:endParaRPr sz="200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🞆"/>
            </a:pPr>
            <a:r>
              <a:rPr lang="en-US" sz="2000"/>
              <a:t>Lower time →  better performance</a:t>
            </a:r>
            <a:endParaRPr sz="20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000" b="1">
              <a:solidFill>
                <a:srgbClr val="92D050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92D050"/>
                </a:solidFill>
              </a:rPr>
              <a:t>Rotational Delay/Latency (ms):</a:t>
            </a:r>
            <a:endParaRPr sz="2400" b="1">
              <a:solidFill>
                <a:srgbClr val="92D050"/>
              </a:solidFill>
            </a:endParaRPr>
          </a:p>
          <a:p>
            <a:pPr marL="457200" lvl="0" indent="-355600" algn="l" rtl="0">
              <a:spcBef>
                <a:spcPts val="600"/>
              </a:spcBef>
              <a:spcAft>
                <a:spcPts val="0"/>
              </a:spcAft>
              <a:buSzPts val="2000"/>
              <a:buChar char="🞆"/>
            </a:pPr>
            <a:r>
              <a:rPr lang="en-US" sz="2000"/>
              <a:t>The time it takes for the sector to reach the head</a:t>
            </a:r>
            <a:endParaRPr sz="200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🞆"/>
            </a:pPr>
            <a:r>
              <a:rPr lang="en-US" sz="2000"/>
              <a:t>Unit: ms</a:t>
            </a:r>
            <a:endParaRPr sz="200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🞆"/>
            </a:pPr>
            <a:r>
              <a:rPr lang="en-US" sz="2000"/>
              <a:t>Lower time → better performance</a:t>
            </a:r>
            <a:endParaRPr sz="2000"/>
          </a:p>
          <a:p>
            <a:pPr marL="0" lvl="0" indent="0" algn="l" rtl="0">
              <a:spcBef>
                <a:spcPts val="600"/>
              </a:spcBef>
              <a:spcAft>
                <a:spcPts val="600"/>
              </a:spcAft>
              <a:buNone/>
            </a:pPr>
            <a:endParaRPr sz="200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6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HDD Parameters</a:t>
            </a:r>
            <a:endParaRPr/>
          </a:p>
        </p:txBody>
      </p:sp>
      <p:sp>
        <p:nvSpPr>
          <p:cNvPr id="306" name="Google Shape;306;p36"/>
          <p:cNvSpPr txBox="1">
            <a:spLocks noGrp="1"/>
          </p:cNvSpPr>
          <p:nvPr>
            <p:ph type="body" idx="1"/>
          </p:nvPr>
        </p:nvSpPr>
        <p:spPr>
          <a:xfrm>
            <a:off x="818700" y="2222275"/>
            <a:ext cx="10554600" cy="4206300"/>
          </a:xfrm>
          <a:prstGeom prst="rect">
            <a:avLst/>
          </a:prstGeom>
        </p:spPr>
        <p:txBody>
          <a:bodyPr spcFirstLastPara="1" wrap="square" lIns="91425" tIns="45700" rIns="91425" bIns="914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92D050"/>
                </a:solidFill>
              </a:rPr>
              <a:t>Access Time (ms):</a:t>
            </a:r>
            <a:r>
              <a:rPr lang="en-US" sz="2400" b="1"/>
              <a:t> </a:t>
            </a:r>
            <a:endParaRPr sz="2400" b="1"/>
          </a:p>
          <a:p>
            <a:pPr marL="457200" lvl="0" indent="-355600" algn="l" rtl="0">
              <a:spcBef>
                <a:spcPts val="600"/>
              </a:spcBef>
              <a:spcAft>
                <a:spcPts val="0"/>
              </a:spcAft>
              <a:buSzPts val="2000"/>
              <a:buChar char="🞆"/>
            </a:pPr>
            <a:r>
              <a:rPr lang="en-US" sz="2000"/>
              <a:t>The sum of seek time and rotational delay</a:t>
            </a:r>
            <a:endParaRPr sz="200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🞆"/>
            </a:pPr>
            <a:r>
              <a:rPr lang="en-US" sz="2000"/>
              <a:t>The time it takes to access random data</a:t>
            </a:r>
            <a:endParaRPr sz="200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🞆"/>
            </a:pPr>
            <a:r>
              <a:rPr lang="en-US" sz="2000"/>
              <a:t>Lower time → better performance</a:t>
            </a:r>
            <a:endParaRPr sz="20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000" b="1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92D050"/>
                </a:solidFill>
              </a:rPr>
              <a:t>Transfer Time (ms):</a:t>
            </a:r>
            <a:r>
              <a:rPr lang="en-US" sz="2400" b="1"/>
              <a:t>  T =           with </a:t>
            </a:r>
            <a:endParaRPr sz="2400" b="1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000" b="1"/>
          </a:p>
          <a:p>
            <a:pPr marL="457200" lvl="0" indent="-355600" algn="l" rtl="0">
              <a:spcBef>
                <a:spcPts val="600"/>
              </a:spcBef>
              <a:spcAft>
                <a:spcPts val="0"/>
              </a:spcAft>
              <a:buSzPts val="2000"/>
              <a:buChar char="🞆"/>
            </a:pPr>
            <a:r>
              <a:rPr lang="en-US" sz="2000"/>
              <a:t> Depend on:</a:t>
            </a:r>
            <a:endParaRPr sz="2000"/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Char char="🞆"/>
            </a:pPr>
            <a:r>
              <a:rPr lang="en-US" sz="2000"/>
              <a:t> Spindle speed, the number of platters, cache memory</a:t>
            </a:r>
            <a:endParaRPr sz="2000"/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Char char="🞆"/>
            </a:pPr>
            <a:r>
              <a:rPr lang="en-US" sz="2000"/>
              <a:t>Manufacture technology</a:t>
            </a:r>
            <a:endParaRPr sz="200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🞆"/>
            </a:pPr>
            <a:r>
              <a:rPr lang="en-US" sz="2000"/>
              <a:t>Lower time → better performance</a:t>
            </a:r>
            <a:endParaRPr sz="2000"/>
          </a:p>
          <a:p>
            <a:pPr marL="0" lvl="0" indent="0" algn="l" rtl="0">
              <a:spcBef>
                <a:spcPts val="600"/>
              </a:spcBef>
              <a:spcAft>
                <a:spcPts val="600"/>
              </a:spcAft>
              <a:buNone/>
            </a:pPr>
            <a:endParaRPr b="1"/>
          </a:p>
        </p:txBody>
      </p:sp>
      <p:graphicFrame>
        <p:nvGraphicFramePr>
          <p:cNvPr id="307" name="Google Shape;307;p36"/>
          <p:cNvGraphicFramePr/>
          <p:nvPr/>
        </p:nvGraphicFramePr>
        <p:xfrm>
          <a:off x="4329391" y="3839838"/>
          <a:ext cx="581175" cy="1036260"/>
        </p:xfrm>
        <a:graphic>
          <a:graphicData uri="http://schemas.openxmlformats.org/drawingml/2006/table">
            <a:tbl>
              <a:tblPr>
                <a:noFill/>
                <a:tableStyleId>{2509BF21-CCCB-485E-90EE-2DFBDEE46054}</a:tableStyleId>
              </a:tblPr>
              <a:tblGrid>
                <a:gridCol w="581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3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solidFill>
                            <a:srgbClr val="FFFFFF"/>
                          </a:solidFill>
                        </a:rPr>
                        <a:t>b</a:t>
                      </a:r>
                      <a:endParaRPr sz="2200"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solidFill>
                            <a:srgbClr val="FFFFFF"/>
                          </a:solidFill>
                        </a:rPr>
                        <a:t>rN</a:t>
                      </a:r>
                      <a:endParaRPr sz="2200"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08" name="Google Shape;308;p36"/>
          <p:cNvSpPr txBox="1"/>
          <p:nvPr/>
        </p:nvSpPr>
        <p:spPr>
          <a:xfrm>
            <a:off x="6015200" y="3809275"/>
            <a:ext cx="4230600" cy="1032600"/>
          </a:xfrm>
          <a:prstGeom prst="rect">
            <a:avLst/>
          </a:prstGeom>
          <a:noFill/>
          <a:ln w="38100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b: Bytes transferred (Bytes)</a:t>
            </a:r>
            <a:endParaRPr sz="2000" b="1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N: Bytes per track (Bytes/track)</a:t>
            </a:r>
            <a:endParaRPr sz="2000" b="1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r: Spindle speed (rps)</a:t>
            </a:r>
            <a:endParaRPr sz="2000" b="1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7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</a:pPr>
            <a:r>
              <a:rPr lang="en-US"/>
              <a:t>XI. Application:</a:t>
            </a:r>
            <a:endParaRPr/>
          </a:p>
        </p:txBody>
      </p:sp>
      <p:sp>
        <p:nvSpPr>
          <p:cNvPr id="314" name="Google Shape;314;p37"/>
          <p:cNvSpPr txBox="1">
            <a:spLocks noGrp="1"/>
          </p:cNvSpPr>
          <p:nvPr>
            <p:ph type="body" idx="1"/>
          </p:nvPr>
        </p:nvSpPr>
        <p:spPr>
          <a:xfrm>
            <a:off x="818712" y="2222287"/>
            <a:ext cx="10554574" cy="43222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🞆"/>
            </a:pPr>
            <a:r>
              <a:rPr lang="en-US" b="1"/>
              <a:t>Used mostly on </a:t>
            </a:r>
            <a:r>
              <a:rPr lang="en-US" b="1">
                <a:solidFill>
                  <a:srgbClr val="00B0F0"/>
                </a:solidFill>
              </a:rPr>
              <a:t>Computers.</a:t>
            </a:r>
            <a:endParaRPr/>
          </a:p>
          <a:p>
            <a:pPr marL="342900" lvl="0" indent="-342900" algn="l" rtl="0">
              <a:spcBef>
                <a:spcPts val="960"/>
              </a:spcBef>
              <a:spcAft>
                <a:spcPts val="0"/>
              </a:spcAft>
              <a:buSzPts val="1800"/>
              <a:buChar char="🞆"/>
            </a:pPr>
            <a:r>
              <a:rPr lang="en-US" b="1"/>
              <a:t>Provide </a:t>
            </a:r>
            <a:r>
              <a:rPr lang="en-US" b="1">
                <a:solidFill>
                  <a:srgbClr val="00B0F0"/>
                </a:solidFill>
              </a:rPr>
              <a:t>storage</a:t>
            </a:r>
            <a:r>
              <a:rPr lang="en-US" b="1"/>
              <a:t> for many devices, like </a:t>
            </a:r>
            <a:r>
              <a:rPr lang="en-US" b="1">
                <a:solidFill>
                  <a:srgbClr val="92D050"/>
                </a:solidFill>
              </a:rPr>
              <a:t>Phone, Camera, Server,...</a:t>
            </a:r>
            <a:endParaRPr/>
          </a:p>
        </p:txBody>
      </p:sp>
      <p:pic>
        <p:nvPicPr>
          <p:cNvPr id="315" name="Google Shape;315;p37" descr="https://infomindsolutions.com/infomind/wp-content/uploads/2018/05/computer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8692" y="3290660"/>
            <a:ext cx="3253831" cy="3253831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p3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17446" y="3290660"/>
            <a:ext cx="5366951" cy="3253831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p3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12521" y="3290659"/>
            <a:ext cx="3104924" cy="130836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p37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412522" y="4599018"/>
            <a:ext cx="3104923" cy="1945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8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</a:pPr>
            <a:r>
              <a:rPr lang="en-US"/>
              <a:t>IX. Phương thức hoạt động:</a:t>
            </a:r>
            <a:endParaRPr/>
          </a:p>
        </p:txBody>
      </p:sp>
      <p:pic>
        <p:nvPicPr>
          <p:cNvPr id="324" name="Google Shape;324;p38" descr="View full lesson: http://ed.ted.com/lessons/how-do-hard-drives-work-kanawat-senanan&#10;&#10;The modern hard drive is an object that can likely hold more information than your local library. But how does it store so much information in such a small space? Kanawat Senanan details the generations of engineers, material scientists, and quantum physicists who influenced the creation of this incredibly powerful and precise tool.&#10;&#10;Lesson by Kanawat Senanan, animation by TED-Ed." title="How do hard drives work? - Kanawat Senanan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66675" y="0"/>
            <a:ext cx="12192000" cy="6852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9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</a:pPr>
            <a:r>
              <a:rPr lang="en-US"/>
              <a:t>References</a:t>
            </a:r>
            <a:endParaRPr/>
          </a:p>
        </p:txBody>
      </p:sp>
      <p:sp>
        <p:nvSpPr>
          <p:cNvPr id="330" name="Google Shape;330;p39"/>
          <p:cNvSpPr txBox="1">
            <a:spLocks noGrp="1"/>
          </p:cNvSpPr>
          <p:nvPr>
            <p:ph type="body" idx="1"/>
          </p:nvPr>
        </p:nvSpPr>
        <p:spPr>
          <a:xfrm>
            <a:off x="818712" y="2222287"/>
            <a:ext cx="10554574" cy="363651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🞆"/>
            </a:pPr>
            <a:r>
              <a:rPr lang="en-US"/>
              <a:t>1. </a:t>
            </a:r>
            <a:r>
              <a:rPr lang="en-US" b="1"/>
              <a:t>Internet</a:t>
            </a:r>
            <a:r>
              <a:rPr lang="en-US"/>
              <a:t>.</a:t>
            </a:r>
            <a:endParaRPr/>
          </a:p>
          <a:p>
            <a:pPr marL="342900" lvl="0" indent="-342900" algn="l" rtl="0">
              <a:spcBef>
                <a:spcPts val="960"/>
              </a:spcBef>
              <a:spcAft>
                <a:spcPts val="0"/>
              </a:spcAft>
              <a:buSzPts val="1800"/>
              <a:buChar char="🞆"/>
            </a:pPr>
            <a:r>
              <a:rPr lang="en-US"/>
              <a:t>2. How do hard drives work? - Kanawat Senanan, 2015.</a:t>
            </a:r>
            <a:br>
              <a:rPr lang="en-US"/>
            </a:br>
            <a:r>
              <a:rPr lang="en-US" u="sng">
                <a:solidFill>
                  <a:schemeClr val="hlink"/>
                </a:solidFill>
                <a:hlinkClick r:id="rId3"/>
              </a:rPr>
              <a:t>https://www.youtube.com/watch?v=wteUW2sL7bc</a:t>
            </a:r>
            <a:endParaRPr/>
          </a:p>
          <a:p>
            <a:pPr marL="342900" lvl="0" indent="-342900" algn="l" rtl="0">
              <a:spcBef>
                <a:spcPts val="960"/>
              </a:spcBef>
              <a:spcAft>
                <a:spcPts val="0"/>
              </a:spcAft>
              <a:buSzPts val="1800"/>
              <a:buChar char="🞆"/>
            </a:pPr>
            <a:r>
              <a:rPr lang="en-US"/>
              <a:t/>
            </a:r>
            <a:br>
              <a:rPr lang="en-US"/>
            </a:b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Quotable">
  <a:themeElements>
    <a:clrScheme name="Quotable">
      <a:dk1>
        <a:srgbClr val="000000"/>
      </a:dk1>
      <a:lt1>
        <a:srgbClr val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752</Words>
  <Application>Microsoft Office PowerPoint</Application>
  <PresentationFormat>Widescreen</PresentationFormat>
  <Paragraphs>152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Calibri</vt:lpstr>
      <vt:lpstr>Century Gothic</vt:lpstr>
      <vt:lpstr>Noto Sans Symbols</vt:lpstr>
      <vt:lpstr>Quotable</vt:lpstr>
      <vt:lpstr>Magnetic Disk - Đĩa từ - </vt:lpstr>
      <vt:lpstr>I. Magnetic Disk:</vt:lpstr>
      <vt:lpstr>II. Type of Magnetic Disk:</vt:lpstr>
      <vt:lpstr>III. Hard disk drive:</vt:lpstr>
      <vt:lpstr>IV. History of HDDs:</vt:lpstr>
      <vt:lpstr>The development of HDDs through time:</vt:lpstr>
      <vt:lpstr>V. Components :</vt:lpstr>
      <vt:lpstr>V. Components:</vt:lpstr>
      <vt:lpstr>V. Components :</vt:lpstr>
      <vt:lpstr>V. Components:</vt:lpstr>
      <vt:lpstr>VI. Platter:</vt:lpstr>
      <vt:lpstr>VII. Spindle:</vt:lpstr>
      <vt:lpstr>VIII. Read/write head:</vt:lpstr>
      <vt:lpstr>Disk Physical Characteristics</vt:lpstr>
      <vt:lpstr>PowerPoint Presentation</vt:lpstr>
      <vt:lpstr>PowerPoint Presentation</vt:lpstr>
      <vt:lpstr>PowerPoint Presentation</vt:lpstr>
      <vt:lpstr>HDD Parameters</vt:lpstr>
      <vt:lpstr>HDD Parameters</vt:lpstr>
      <vt:lpstr>HDD Parameters</vt:lpstr>
      <vt:lpstr>HDD Parameters</vt:lpstr>
      <vt:lpstr>XI. Application:</vt:lpstr>
      <vt:lpstr>IX. Phương thức hoạt động: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Magnetic Disk - Đĩa từ - </dc:title>
  <cp:lastModifiedBy>Admin</cp:lastModifiedBy>
  <cp:revision>1</cp:revision>
  <dcterms:modified xsi:type="dcterms:W3CDTF">2020-07-16T01:43:55Z</dcterms:modified>
</cp:coreProperties>
</file>