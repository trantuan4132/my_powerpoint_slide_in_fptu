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1" r:id="rId6"/>
    <p:sldId id="269" r:id="rId7"/>
    <p:sldId id="263" r:id="rId8"/>
    <p:sldId id="264" r:id="rId9"/>
    <p:sldId id="265" r:id="rId10"/>
    <p:sldId id="267" r:id="rId11"/>
    <p:sldId id="268" r:id="rId12"/>
    <p:sldId id="262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9F9F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5153" autoAdjust="0"/>
  </p:normalViewPr>
  <p:slideViewPr>
    <p:cSldViewPr snapToGrid="0">
      <p:cViewPr varScale="1">
        <p:scale>
          <a:sx n="65" d="100"/>
          <a:sy n="65" d="100"/>
        </p:scale>
        <p:origin x="58" y="48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2_2">
  <dgm:title val=""/>
  <dgm:desc val=""/>
  <dgm:catLst>
    <dgm:cat type="accent2" pri="112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ln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6_2">
  <dgm:title val=""/>
  <dgm:desc val=""/>
  <dgm:catLst>
    <dgm:cat type="accent6" pri="11200"/>
  </dgm:catLst>
  <dgm:styleLbl name="node0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6"/>
    </dgm:fillClrLst>
    <dgm:linClrLst meth="repeat">
      <a:schemeClr val="accent6"/>
    </dgm:linClrLst>
    <dgm:effectClrLst/>
    <dgm:txLinClrLst/>
    <dgm:txFillClrLst/>
    <dgm:txEffectClrLst/>
  </dgm:styleLbl>
  <dgm:styleLbl name="lnNode1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6"/>
    </dgm:fillClrLst>
    <dgm:linClrLst meth="repeat">
      <a:schemeClr val="accent6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6"/>
    </dgm:fillClrLst>
    <dgm:linClrLst meth="repeat">
      <a:schemeClr val="accent6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/>
    </dgm:fillClrLst>
    <dgm:linClrLst meth="repeat">
      <a:schemeClr val="accent6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/>
    </dgm:fillClrLst>
    <dgm:linClrLst meth="repeat">
      <a:schemeClr val="accent6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/>
    </dgm:fillClrLst>
    <dgm:linClrLst meth="repeat">
      <a:schemeClr val="accent6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6">
        <a:alpha val="90000"/>
        <a:tint val="40000"/>
      </a:schemeClr>
    </dgm:fillClrLst>
    <dgm:linClrLst meth="repeat">
      <a:schemeClr val="accent6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6">
        <a:alpha val="90000"/>
        <a:tint val="40000"/>
      </a:schemeClr>
    </dgm:fillClrLst>
    <dgm:linClrLst meth="repeat">
      <a:schemeClr val="accent6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6">
        <a:alpha val="90000"/>
        <a:tint val="40000"/>
      </a:schemeClr>
    </dgm:fillClrLst>
    <dgm:linClrLst meth="repeat">
      <a:schemeClr val="accent6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6"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6">
        <a:shade val="80000"/>
      </a:schemeClr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6">
        <a:tint val="50000"/>
        <a:alpha val="40000"/>
      </a:schemeClr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6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E05DD1A7-3C8B-4F77-9C22-DA94FFFFC0A8}" type="doc">
      <dgm:prSet loTypeId="urn:microsoft.com/office/officeart/2005/8/layout/vList2" loCatId="list" qsTypeId="urn:microsoft.com/office/officeart/2005/8/quickstyle/simple4" qsCatId="simple" csTypeId="urn:microsoft.com/office/officeart/2005/8/colors/accent2_2" csCatId="accent2" phldr="1"/>
      <dgm:spPr/>
      <dgm:t>
        <a:bodyPr/>
        <a:lstStyle/>
        <a:p>
          <a:endParaRPr lang="en-US"/>
        </a:p>
      </dgm:t>
    </dgm:pt>
    <dgm:pt modelId="{D816FFF3-3174-4E3C-BC1A-580B75DB2F51}">
      <dgm:prSet/>
      <dgm:spPr/>
      <dgm:t>
        <a:bodyPr/>
        <a:lstStyle/>
        <a:p>
          <a:pPr rtl="0"/>
          <a:r>
            <a:rPr lang="en-US" dirty="0" smtClean="0"/>
            <a:t>Not good for groups lacking needed skills, motivation, adherence to deadlines</a:t>
          </a:r>
          <a:endParaRPr lang="en-US" dirty="0"/>
        </a:p>
      </dgm:t>
    </dgm:pt>
    <dgm:pt modelId="{151A4944-EFD3-46B7-85A0-4255AAD62946}" type="parTrans" cxnId="{7AB6E4B1-6712-434F-96E8-BD2AA34CC74A}">
      <dgm:prSet/>
      <dgm:spPr/>
      <dgm:t>
        <a:bodyPr/>
        <a:lstStyle/>
        <a:p>
          <a:endParaRPr lang="en-US"/>
        </a:p>
      </dgm:t>
    </dgm:pt>
    <dgm:pt modelId="{7705BD8E-836C-4043-9866-9BF6A583F29D}" type="sibTrans" cxnId="{7AB6E4B1-6712-434F-96E8-BD2AA34CC74A}">
      <dgm:prSet/>
      <dgm:spPr/>
      <dgm:t>
        <a:bodyPr/>
        <a:lstStyle/>
        <a:p>
          <a:endParaRPr lang="en-US"/>
        </a:p>
      </dgm:t>
    </dgm:pt>
    <dgm:pt modelId="{7BC551ED-0159-46C6-8BDB-42364299BF35}">
      <dgm:prSet/>
      <dgm:spPr/>
      <dgm:t>
        <a:bodyPr/>
        <a:lstStyle/>
        <a:p>
          <a:pPr rtl="0"/>
          <a:r>
            <a:rPr lang="en-US" dirty="0" smtClean="0"/>
            <a:t>Can result in poor performance and outcomes</a:t>
          </a:r>
          <a:endParaRPr lang="en-US" dirty="0"/>
        </a:p>
      </dgm:t>
    </dgm:pt>
    <dgm:pt modelId="{00D523F3-B5F8-482C-A8A8-9C1113A2B98E}" type="parTrans" cxnId="{BEFC7625-4A2B-41FD-AA60-1380654A725F}">
      <dgm:prSet/>
      <dgm:spPr/>
      <dgm:t>
        <a:bodyPr/>
        <a:lstStyle/>
        <a:p>
          <a:endParaRPr lang="en-US"/>
        </a:p>
      </dgm:t>
    </dgm:pt>
    <dgm:pt modelId="{A2C34E55-4EFA-42FA-970C-076C15ED9DAE}" type="sibTrans" cxnId="{BEFC7625-4A2B-41FD-AA60-1380654A725F}">
      <dgm:prSet/>
      <dgm:spPr/>
      <dgm:t>
        <a:bodyPr/>
        <a:lstStyle/>
        <a:p>
          <a:endParaRPr lang="en-US"/>
        </a:p>
      </dgm:t>
    </dgm:pt>
    <dgm:pt modelId="{B9BD2D55-AD0D-4651-A486-736399AB2A51}">
      <dgm:prSet/>
      <dgm:spPr/>
      <dgm:t>
        <a:bodyPr/>
        <a:lstStyle/>
        <a:p>
          <a:pPr rtl="0"/>
          <a:r>
            <a:rPr lang="en-US" dirty="0" smtClean="0"/>
            <a:t>Leader may appear uninvolved</a:t>
          </a:r>
          <a:endParaRPr lang="en-US" dirty="0"/>
        </a:p>
      </dgm:t>
    </dgm:pt>
    <dgm:pt modelId="{265276BB-ADAB-4652-B83A-CF52150EA26A}" type="parTrans" cxnId="{79365A3D-94B6-4D04-B935-84EA090174FC}">
      <dgm:prSet/>
      <dgm:spPr/>
      <dgm:t>
        <a:bodyPr/>
        <a:lstStyle/>
        <a:p>
          <a:endParaRPr lang="en-US"/>
        </a:p>
      </dgm:t>
    </dgm:pt>
    <dgm:pt modelId="{04854E3E-77C4-430C-886F-6BCF8418773F}" type="sibTrans" cxnId="{79365A3D-94B6-4D04-B935-84EA090174FC}">
      <dgm:prSet/>
      <dgm:spPr/>
      <dgm:t>
        <a:bodyPr/>
        <a:lstStyle/>
        <a:p>
          <a:endParaRPr lang="en-US"/>
        </a:p>
      </dgm:t>
    </dgm:pt>
    <dgm:pt modelId="{2C821539-97D1-439E-BE46-2DCFC43327A2}">
      <dgm:prSet/>
      <dgm:spPr/>
      <dgm:t>
        <a:bodyPr/>
        <a:lstStyle/>
        <a:p>
          <a:pPr rtl="0"/>
          <a:r>
            <a:rPr lang="en-US" smtClean="0"/>
            <a:t>Confusion over roles in the group</a:t>
          </a:r>
          <a:endParaRPr lang="en-US"/>
        </a:p>
      </dgm:t>
    </dgm:pt>
    <dgm:pt modelId="{233C14E6-5C52-481E-99D0-BEA7EEE36155}" type="parTrans" cxnId="{38DF0F30-AEE4-4DE6-81A8-15BBC1612B88}">
      <dgm:prSet/>
      <dgm:spPr/>
      <dgm:t>
        <a:bodyPr/>
        <a:lstStyle/>
        <a:p>
          <a:endParaRPr lang="en-US"/>
        </a:p>
      </dgm:t>
    </dgm:pt>
    <dgm:pt modelId="{ED684723-9C98-40B7-BCC0-D84801AB7848}" type="sibTrans" cxnId="{38DF0F30-AEE4-4DE6-81A8-15BBC1612B88}">
      <dgm:prSet/>
      <dgm:spPr/>
      <dgm:t>
        <a:bodyPr/>
        <a:lstStyle/>
        <a:p>
          <a:endParaRPr lang="en-US"/>
        </a:p>
      </dgm:t>
    </dgm:pt>
    <dgm:pt modelId="{767F725B-0A5F-4211-AA67-DF310E4790CC}" type="pres">
      <dgm:prSet presAssocID="{E05DD1A7-3C8B-4F77-9C22-DA94FFFFC0A8}" presName="linear" presStyleCnt="0">
        <dgm:presLayoutVars>
          <dgm:animLvl val="lvl"/>
          <dgm:resizeHandles val="exact"/>
        </dgm:presLayoutVars>
      </dgm:prSet>
      <dgm:spPr/>
      <dgm:t>
        <a:bodyPr/>
        <a:lstStyle/>
        <a:p>
          <a:endParaRPr lang="en-US"/>
        </a:p>
      </dgm:t>
    </dgm:pt>
    <dgm:pt modelId="{B16496E8-1D7E-449B-B88B-245C82B18593}" type="pres">
      <dgm:prSet presAssocID="{D816FFF3-3174-4E3C-BC1A-580B75DB2F51}" presName="parentText" presStyleLbl="node1" presStyleIdx="0" presStyleCnt="4" custScaleY="131016">
        <dgm:presLayoutVars>
          <dgm:chMax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ADDF0921-0968-436A-9554-415A39CE5705}" type="pres">
      <dgm:prSet presAssocID="{7705BD8E-836C-4043-9866-9BF6A583F29D}" presName="spacer" presStyleCnt="0"/>
      <dgm:spPr/>
    </dgm:pt>
    <dgm:pt modelId="{3C078CBE-6E1B-4143-B140-8D4C395D3A44}" type="pres">
      <dgm:prSet presAssocID="{7BC551ED-0159-46C6-8BDB-42364299BF35}" presName="parentText" presStyleLbl="node1" presStyleIdx="1" presStyleCnt="4" custScaleY="111205">
        <dgm:presLayoutVars>
          <dgm:chMax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0F140A33-9337-4BEC-9842-C214BF76783D}" type="pres">
      <dgm:prSet presAssocID="{A2C34E55-4EFA-42FA-970C-076C15ED9DAE}" presName="spacer" presStyleCnt="0"/>
      <dgm:spPr/>
    </dgm:pt>
    <dgm:pt modelId="{246BEE24-5B0C-40C5-B7A8-2C6EEABBC989}" type="pres">
      <dgm:prSet presAssocID="{B9BD2D55-AD0D-4651-A486-736399AB2A51}" presName="parentText" presStyleLbl="node1" presStyleIdx="2" presStyleCnt="4">
        <dgm:presLayoutVars>
          <dgm:chMax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79579743-B155-4D95-B8DF-FB624CC53F94}" type="pres">
      <dgm:prSet presAssocID="{04854E3E-77C4-430C-886F-6BCF8418773F}" presName="spacer" presStyleCnt="0"/>
      <dgm:spPr/>
    </dgm:pt>
    <dgm:pt modelId="{39333FCD-E546-44EB-819D-4123DBB78769}" type="pres">
      <dgm:prSet presAssocID="{2C821539-97D1-439E-BE46-2DCFC43327A2}" presName="parentText" presStyleLbl="node1" presStyleIdx="3" presStyleCnt="4" custScaleY="128351" custLinFactNeighborY="-1652">
        <dgm:presLayoutVars>
          <dgm:chMax val="0"/>
          <dgm:bulletEnabled val="1"/>
        </dgm:presLayoutVars>
      </dgm:prSet>
      <dgm:spPr/>
      <dgm:t>
        <a:bodyPr/>
        <a:lstStyle/>
        <a:p>
          <a:endParaRPr lang="en-US"/>
        </a:p>
      </dgm:t>
    </dgm:pt>
  </dgm:ptLst>
  <dgm:cxnLst>
    <dgm:cxn modelId="{B7EE38F0-339A-43F7-ABEA-3BE195AFB470}" type="presOf" srcId="{B9BD2D55-AD0D-4651-A486-736399AB2A51}" destId="{246BEE24-5B0C-40C5-B7A8-2C6EEABBC989}" srcOrd="0" destOrd="0" presId="urn:microsoft.com/office/officeart/2005/8/layout/vList2"/>
    <dgm:cxn modelId="{629978B7-08D1-41B9-A601-594233845471}" type="presOf" srcId="{E05DD1A7-3C8B-4F77-9C22-DA94FFFFC0A8}" destId="{767F725B-0A5F-4211-AA67-DF310E4790CC}" srcOrd="0" destOrd="0" presId="urn:microsoft.com/office/officeart/2005/8/layout/vList2"/>
    <dgm:cxn modelId="{7F021ECA-39B0-4D44-9BCC-1973E288F69B}" type="presOf" srcId="{D816FFF3-3174-4E3C-BC1A-580B75DB2F51}" destId="{B16496E8-1D7E-449B-B88B-245C82B18593}" srcOrd="0" destOrd="0" presId="urn:microsoft.com/office/officeart/2005/8/layout/vList2"/>
    <dgm:cxn modelId="{76A48374-ADD4-4C34-9A5C-F3222AEF3D27}" type="presOf" srcId="{7BC551ED-0159-46C6-8BDB-42364299BF35}" destId="{3C078CBE-6E1B-4143-B140-8D4C395D3A44}" srcOrd="0" destOrd="0" presId="urn:microsoft.com/office/officeart/2005/8/layout/vList2"/>
    <dgm:cxn modelId="{BEFC7625-4A2B-41FD-AA60-1380654A725F}" srcId="{E05DD1A7-3C8B-4F77-9C22-DA94FFFFC0A8}" destId="{7BC551ED-0159-46C6-8BDB-42364299BF35}" srcOrd="1" destOrd="0" parTransId="{00D523F3-B5F8-482C-A8A8-9C1113A2B98E}" sibTransId="{A2C34E55-4EFA-42FA-970C-076C15ED9DAE}"/>
    <dgm:cxn modelId="{79365A3D-94B6-4D04-B935-84EA090174FC}" srcId="{E05DD1A7-3C8B-4F77-9C22-DA94FFFFC0A8}" destId="{B9BD2D55-AD0D-4651-A486-736399AB2A51}" srcOrd="2" destOrd="0" parTransId="{265276BB-ADAB-4652-B83A-CF52150EA26A}" sibTransId="{04854E3E-77C4-430C-886F-6BCF8418773F}"/>
    <dgm:cxn modelId="{7AB6E4B1-6712-434F-96E8-BD2AA34CC74A}" srcId="{E05DD1A7-3C8B-4F77-9C22-DA94FFFFC0A8}" destId="{D816FFF3-3174-4E3C-BC1A-580B75DB2F51}" srcOrd="0" destOrd="0" parTransId="{151A4944-EFD3-46B7-85A0-4255AAD62946}" sibTransId="{7705BD8E-836C-4043-9866-9BF6A583F29D}"/>
    <dgm:cxn modelId="{992B0595-2D4A-4F85-98EE-26E137D95D6E}" type="presOf" srcId="{2C821539-97D1-439E-BE46-2DCFC43327A2}" destId="{39333FCD-E546-44EB-819D-4123DBB78769}" srcOrd="0" destOrd="0" presId="urn:microsoft.com/office/officeart/2005/8/layout/vList2"/>
    <dgm:cxn modelId="{38DF0F30-AEE4-4DE6-81A8-15BBC1612B88}" srcId="{E05DD1A7-3C8B-4F77-9C22-DA94FFFFC0A8}" destId="{2C821539-97D1-439E-BE46-2DCFC43327A2}" srcOrd="3" destOrd="0" parTransId="{233C14E6-5C52-481E-99D0-BEA7EEE36155}" sibTransId="{ED684723-9C98-40B7-BCC0-D84801AB7848}"/>
    <dgm:cxn modelId="{4F0226FA-0A6B-44C2-8C08-49626D3631E9}" type="presParOf" srcId="{767F725B-0A5F-4211-AA67-DF310E4790CC}" destId="{B16496E8-1D7E-449B-B88B-245C82B18593}" srcOrd="0" destOrd="0" presId="urn:microsoft.com/office/officeart/2005/8/layout/vList2"/>
    <dgm:cxn modelId="{C03F266A-FDA2-4C7F-8B8A-4523F7CE9F58}" type="presParOf" srcId="{767F725B-0A5F-4211-AA67-DF310E4790CC}" destId="{ADDF0921-0968-436A-9554-415A39CE5705}" srcOrd="1" destOrd="0" presId="urn:microsoft.com/office/officeart/2005/8/layout/vList2"/>
    <dgm:cxn modelId="{4F1C4FD5-D091-4BEC-9E14-97B3468EC366}" type="presParOf" srcId="{767F725B-0A5F-4211-AA67-DF310E4790CC}" destId="{3C078CBE-6E1B-4143-B140-8D4C395D3A44}" srcOrd="2" destOrd="0" presId="urn:microsoft.com/office/officeart/2005/8/layout/vList2"/>
    <dgm:cxn modelId="{986F7057-2D5F-4AB7-B25C-302D312F7487}" type="presParOf" srcId="{767F725B-0A5F-4211-AA67-DF310E4790CC}" destId="{0F140A33-9337-4BEC-9842-C214BF76783D}" srcOrd="3" destOrd="0" presId="urn:microsoft.com/office/officeart/2005/8/layout/vList2"/>
    <dgm:cxn modelId="{EB18C522-82E9-4510-8069-9DB37F18267A}" type="presParOf" srcId="{767F725B-0A5F-4211-AA67-DF310E4790CC}" destId="{246BEE24-5B0C-40C5-B7A8-2C6EEABBC989}" srcOrd="4" destOrd="0" presId="urn:microsoft.com/office/officeart/2005/8/layout/vList2"/>
    <dgm:cxn modelId="{808A3AB5-A90E-49D3-BA3E-A1D1C1174838}" type="presParOf" srcId="{767F725B-0A5F-4211-AA67-DF310E4790CC}" destId="{79579743-B155-4D95-B8DF-FB624CC53F94}" srcOrd="5" destOrd="0" presId="urn:microsoft.com/office/officeart/2005/8/layout/vList2"/>
    <dgm:cxn modelId="{9B992481-5C03-459D-AB46-E64FE5EC254F}" type="presParOf" srcId="{767F725B-0A5F-4211-AA67-DF310E4790CC}" destId="{39333FCD-E546-44EB-819D-4123DBB78769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A6413685-C808-4813-8F1E-89D758C4AC51}" type="doc">
      <dgm:prSet loTypeId="urn:microsoft.com/office/officeart/2005/8/layout/vList2" loCatId="list" qsTypeId="urn:microsoft.com/office/officeart/2005/8/quickstyle/simple4" qsCatId="simple" csTypeId="urn:microsoft.com/office/officeart/2005/8/colors/accent6_2" csCatId="accent6"/>
      <dgm:spPr/>
      <dgm:t>
        <a:bodyPr/>
        <a:lstStyle/>
        <a:p>
          <a:endParaRPr lang="en-US"/>
        </a:p>
      </dgm:t>
    </dgm:pt>
    <dgm:pt modelId="{7DBF93F8-FD2D-4DBB-BD1A-DEF6B76D4894}">
      <dgm:prSet/>
      <dgm:spPr/>
      <dgm:t>
        <a:bodyPr/>
        <a:lstStyle/>
        <a:p>
          <a:pPr rtl="0"/>
          <a:r>
            <a:rPr lang="en-US" dirty="0" smtClean="0"/>
            <a:t>Can work for motivated teams with high expertise and skills</a:t>
          </a:r>
          <a:endParaRPr lang="en-US" dirty="0"/>
        </a:p>
      </dgm:t>
    </dgm:pt>
    <dgm:pt modelId="{DD7AE6EE-8384-48F0-8A2C-C244F35206DB}" type="parTrans" cxnId="{30D62D7D-49A4-461A-A2CD-972B5A97A4A8}">
      <dgm:prSet/>
      <dgm:spPr/>
      <dgm:t>
        <a:bodyPr/>
        <a:lstStyle/>
        <a:p>
          <a:endParaRPr lang="en-US"/>
        </a:p>
      </dgm:t>
    </dgm:pt>
    <dgm:pt modelId="{F6ABDCA1-699C-4202-ADAA-4A2AA1C4CDED}" type="sibTrans" cxnId="{30D62D7D-49A4-461A-A2CD-972B5A97A4A8}">
      <dgm:prSet/>
      <dgm:spPr/>
      <dgm:t>
        <a:bodyPr/>
        <a:lstStyle/>
        <a:p>
          <a:endParaRPr lang="en-US"/>
        </a:p>
      </dgm:t>
    </dgm:pt>
    <dgm:pt modelId="{0E253B22-6890-424D-B54D-E6176A3EBC10}">
      <dgm:prSet/>
      <dgm:spPr/>
      <dgm:t>
        <a:bodyPr/>
        <a:lstStyle/>
        <a:p>
          <a:pPr rtl="0"/>
          <a:r>
            <a:rPr lang="en-US" dirty="0" smtClean="0"/>
            <a:t>Creative teams may value the independence</a:t>
          </a:r>
          <a:endParaRPr lang="en-US" dirty="0"/>
        </a:p>
      </dgm:t>
    </dgm:pt>
    <dgm:pt modelId="{D226DAAD-85E2-4FAC-91C2-5939C42C9B75}" type="parTrans" cxnId="{CB8DC3BA-C98F-475D-A6E1-125D3284D43B}">
      <dgm:prSet/>
      <dgm:spPr/>
      <dgm:t>
        <a:bodyPr/>
        <a:lstStyle/>
        <a:p>
          <a:endParaRPr lang="en-US"/>
        </a:p>
      </dgm:t>
    </dgm:pt>
    <dgm:pt modelId="{572CA725-097D-4334-9182-04E207272E02}" type="sibTrans" cxnId="{CB8DC3BA-C98F-475D-A6E1-125D3284D43B}">
      <dgm:prSet/>
      <dgm:spPr/>
      <dgm:t>
        <a:bodyPr/>
        <a:lstStyle/>
        <a:p>
          <a:endParaRPr lang="en-US"/>
        </a:p>
      </dgm:t>
    </dgm:pt>
    <dgm:pt modelId="{29DB55CB-21AC-45BD-B3F5-B2F09F75FAD8}">
      <dgm:prSet/>
      <dgm:spPr/>
      <dgm:t>
        <a:bodyPr/>
        <a:lstStyle/>
        <a:p>
          <a:pPr rtl="0"/>
          <a:r>
            <a:rPr lang="en-US" dirty="0" smtClean="0"/>
            <a:t>Works well when leader provides needed information and materials at start of project</a:t>
          </a:r>
          <a:endParaRPr lang="en-US" dirty="0"/>
        </a:p>
      </dgm:t>
    </dgm:pt>
    <dgm:pt modelId="{1B491998-460A-4863-B700-5D338D85D01B}" type="parTrans" cxnId="{234FCA75-3C76-4541-827E-2146C34DA6EE}">
      <dgm:prSet/>
      <dgm:spPr/>
      <dgm:t>
        <a:bodyPr/>
        <a:lstStyle/>
        <a:p>
          <a:endParaRPr lang="en-US"/>
        </a:p>
      </dgm:t>
    </dgm:pt>
    <dgm:pt modelId="{6F40B3D4-9AA4-4F54-AC01-1977F9842E18}" type="sibTrans" cxnId="{234FCA75-3C76-4541-827E-2146C34DA6EE}">
      <dgm:prSet/>
      <dgm:spPr/>
      <dgm:t>
        <a:bodyPr/>
        <a:lstStyle/>
        <a:p>
          <a:endParaRPr lang="en-US"/>
        </a:p>
      </dgm:t>
    </dgm:pt>
    <dgm:pt modelId="{CAF8F650-A85C-428B-9967-07AD78ECDAAE}" type="pres">
      <dgm:prSet presAssocID="{A6413685-C808-4813-8F1E-89D758C4AC51}" presName="linear" presStyleCnt="0">
        <dgm:presLayoutVars>
          <dgm:animLvl val="lvl"/>
          <dgm:resizeHandles val="exact"/>
        </dgm:presLayoutVars>
      </dgm:prSet>
      <dgm:spPr/>
      <dgm:t>
        <a:bodyPr/>
        <a:lstStyle/>
        <a:p>
          <a:endParaRPr lang="en-US"/>
        </a:p>
      </dgm:t>
    </dgm:pt>
    <dgm:pt modelId="{76A922ED-7EDC-4D00-8964-508A944FEF55}" type="pres">
      <dgm:prSet presAssocID="{7DBF93F8-FD2D-4DBB-BD1A-DEF6B76D4894}" presName="parentText" presStyleLbl="node1" presStyleIdx="0" presStyleCnt="3">
        <dgm:presLayoutVars>
          <dgm:chMax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565321E5-CD1B-42CE-B95F-0F885BACB0EE}" type="pres">
      <dgm:prSet presAssocID="{F6ABDCA1-699C-4202-ADAA-4A2AA1C4CDED}" presName="spacer" presStyleCnt="0"/>
      <dgm:spPr/>
    </dgm:pt>
    <dgm:pt modelId="{B71BBE6B-42AD-4FE1-BE95-C3FAA4B1634D}" type="pres">
      <dgm:prSet presAssocID="{0E253B22-6890-424D-B54D-E6176A3EBC10}" presName="parentText" presStyleLbl="node1" presStyleIdx="1" presStyleCnt="3">
        <dgm:presLayoutVars>
          <dgm:chMax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A6D91EAB-3D1D-47DF-ABBB-B68949E585DB}" type="pres">
      <dgm:prSet presAssocID="{572CA725-097D-4334-9182-04E207272E02}" presName="spacer" presStyleCnt="0"/>
      <dgm:spPr/>
    </dgm:pt>
    <dgm:pt modelId="{DE8485C7-F6C2-49B2-ACFB-07A36B2C0367}" type="pres">
      <dgm:prSet presAssocID="{29DB55CB-21AC-45BD-B3F5-B2F09F75FAD8}" presName="parentText" presStyleLbl="node1" presStyleIdx="2" presStyleCnt="3">
        <dgm:presLayoutVars>
          <dgm:chMax val="0"/>
          <dgm:bulletEnabled val="1"/>
        </dgm:presLayoutVars>
      </dgm:prSet>
      <dgm:spPr/>
      <dgm:t>
        <a:bodyPr/>
        <a:lstStyle/>
        <a:p>
          <a:endParaRPr lang="en-US"/>
        </a:p>
      </dgm:t>
    </dgm:pt>
  </dgm:ptLst>
  <dgm:cxnLst>
    <dgm:cxn modelId="{7C45E8C3-CCD0-423F-94F6-09ABFC7EEB7E}" type="presOf" srcId="{29DB55CB-21AC-45BD-B3F5-B2F09F75FAD8}" destId="{DE8485C7-F6C2-49B2-ACFB-07A36B2C0367}" srcOrd="0" destOrd="0" presId="urn:microsoft.com/office/officeart/2005/8/layout/vList2"/>
    <dgm:cxn modelId="{57FBECFB-0147-400E-91B8-45A5383A34F1}" type="presOf" srcId="{7DBF93F8-FD2D-4DBB-BD1A-DEF6B76D4894}" destId="{76A922ED-7EDC-4D00-8964-508A944FEF55}" srcOrd="0" destOrd="0" presId="urn:microsoft.com/office/officeart/2005/8/layout/vList2"/>
    <dgm:cxn modelId="{CB8DC3BA-C98F-475D-A6E1-125D3284D43B}" srcId="{A6413685-C808-4813-8F1E-89D758C4AC51}" destId="{0E253B22-6890-424D-B54D-E6176A3EBC10}" srcOrd="1" destOrd="0" parTransId="{D226DAAD-85E2-4FAC-91C2-5939C42C9B75}" sibTransId="{572CA725-097D-4334-9182-04E207272E02}"/>
    <dgm:cxn modelId="{0DA5A989-7F86-42CD-A2BE-FB27E894CBEA}" type="presOf" srcId="{0E253B22-6890-424D-B54D-E6176A3EBC10}" destId="{B71BBE6B-42AD-4FE1-BE95-C3FAA4B1634D}" srcOrd="0" destOrd="0" presId="urn:microsoft.com/office/officeart/2005/8/layout/vList2"/>
    <dgm:cxn modelId="{234FCA75-3C76-4541-827E-2146C34DA6EE}" srcId="{A6413685-C808-4813-8F1E-89D758C4AC51}" destId="{29DB55CB-21AC-45BD-B3F5-B2F09F75FAD8}" srcOrd="2" destOrd="0" parTransId="{1B491998-460A-4863-B700-5D338D85D01B}" sibTransId="{6F40B3D4-9AA4-4F54-AC01-1977F9842E18}"/>
    <dgm:cxn modelId="{30D62D7D-49A4-461A-A2CD-972B5A97A4A8}" srcId="{A6413685-C808-4813-8F1E-89D758C4AC51}" destId="{7DBF93F8-FD2D-4DBB-BD1A-DEF6B76D4894}" srcOrd="0" destOrd="0" parTransId="{DD7AE6EE-8384-48F0-8A2C-C244F35206DB}" sibTransId="{F6ABDCA1-699C-4202-ADAA-4A2AA1C4CDED}"/>
    <dgm:cxn modelId="{BFB9A544-B9BA-4A2B-AD65-C210E65099E9}" type="presOf" srcId="{A6413685-C808-4813-8F1E-89D758C4AC51}" destId="{CAF8F650-A85C-428B-9967-07AD78ECDAAE}" srcOrd="0" destOrd="0" presId="urn:microsoft.com/office/officeart/2005/8/layout/vList2"/>
    <dgm:cxn modelId="{AF442D9A-2EE5-4A77-B17E-615250F40816}" type="presParOf" srcId="{CAF8F650-A85C-428B-9967-07AD78ECDAAE}" destId="{76A922ED-7EDC-4D00-8964-508A944FEF55}" srcOrd="0" destOrd="0" presId="urn:microsoft.com/office/officeart/2005/8/layout/vList2"/>
    <dgm:cxn modelId="{36CA1A0D-2729-4289-8848-305D6A702292}" type="presParOf" srcId="{CAF8F650-A85C-428B-9967-07AD78ECDAAE}" destId="{565321E5-CD1B-42CE-B95F-0F885BACB0EE}" srcOrd="1" destOrd="0" presId="urn:microsoft.com/office/officeart/2005/8/layout/vList2"/>
    <dgm:cxn modelId="{EA684117-9352-4374-979E-2188140FD457}" type="presParOf" srcId="{CAF8F650-A85C-428B-9967-07AD78ECDAAE}" destId="{B71BBE6B-42AD-4FE1-BE95-C3FAA4B1634D}" srcOrd="2" destOrd="0" presId="urn:microsoft.com/office/officeart/2005/8/layout/vList2"/>
    <dgm:cxn modelId="{1A0730F4-A217-4E9D-A2B8-BB83CA0A5C84}" type="presParOf" srcId="{CAF8F650-A85C-428B-9967-07AD78ECDAAE}" destId="{A6D91EAB-3D1D-47DF-ABBB-B68949E585DB}" srcOrd="3" destOrd="0" presId="urn:microsoft.com/office/officeart/2005/8/layout/vList2"/>
    <dgm:cxn modelId="{6BC3761F-D7A2-4B4C-B9B5-95772A78D3E5}" type="presParOf" srcId="{CAF8F650-A85C-428B-9967-07AD78ECDAAE}" destId="{DE8485C7-F6C2-49B2-ACFB-07A36B2C0367}" srcOrd="4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11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16496E8-1D7E-449B-B88B-245C82B18593}">
      <dsp:nvSpPr>
        <dsp:cNvPr id="0" name=""/>
        <dsp:cNvSpPr/>
      </dsp:nvSpPr>
      <dsp:spPr>
        <a:xfrm>
          <a:off x="0" y="72105"/>
          <a:ext cx="5105401" cy="1146599"/>
        </a:xfrm>
        <a:prstGeom prst="round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lvl="0" algn="l" defTabSz="97790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200" kern="1200" dirty="0" smtClean="0"/>
            <a:t>Not good for groups lacking needed skills, motivation, adherence to deadlines</a:t>
          </a:r>
          <a:endParaRPr lang="en-US" sz="2200" kern="1200" dirty="0"/>
        </a:p>
      </dsp:txBody>
      <dsp:txXfrm>
        <a:off x="55972" y="128077"/>
        <a:ext cx="4993457" cy="1034655"/>
      </dsp:txXfrm>
    </dsp:sp>
    <dsp:sp modelId="{3C078CBE-6E1B-4143-B140-8D4C395D3A44}">
      <dsp:nvSpPr>
        <dsp:cNvPr id="0" name=""/>
        <dsp:cNvSpPr/>
      </dsp:nvSpPr>
      <dsp:spPr>
        <a:xfrm>
          <a:off x="0" y="1282065"/>
          <a:ext cx="5105401" cy="973221"/>
        </a:xfrm>
        <a:prstGeom prst="round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lvl="0" algn="l" defTabSz="97790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200" kern="1200" dirty="0" smtClean="0"/>
            <a:t>Can result in poor performance and outcomes</a:t>
          </a:r>
          <a:endParaRPr lang="en-US" sz="2200" kern="1200" dirty="0"/>
        </a:p>
      </dsp:txBody>
      <dsp:txXfrm>
        <a:off x="47509" y="1329574"/>
        <a:ext cx="5010383" cy="878203"/>
      </dsp:txXfrm>
    </dsp:sp>
    <dsp:sp modelId="{246BEE24-5B0C-40C5-B7A8-2C6EEABBC989}">
      <dsp:nvSpPr>
        <dsp:cNvPr id="0" name=""/>
        <dsp:cNvSpPr/>
      </dsp:nvSpPr>
      <dsp:spPr>
        <a:xfrm>
          <a:off x="0" y="2318646"/>
          <a:ext cx="5105401" cy="875160"/>
        </a:xfrm>
        <a:prstGeom prst="round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lvl="0" algn="l" defTabSz="97790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200" kern="1200" dirty="0" smtClean="0"/>
            <a:t>Leader may appear uninvolved</a:t>
          </a:r>
          <a:endParaRPr lang="en-US" sz="2200" kern="1200" dirty="0"/>
        </a:p>
      </dsp:txBody>
      <dsp:txXfrm>
        <a:off x="42722" y="2361368"/>
        <a:ext cx="5019957" cy="789716"/>
      </dsp:txXfrm>
    </dsp:sp>
    <dsp:sp modelId="{39333FCD-E546-44EB-819D-4123DBB78769}">
      <dsp:nvSpPr>
        <dsp:cNvPr id="0" name=""/>
        <dsp:cNvSpPr/>
      </dsp:nvSpPr>
      <dsp:spPr>
        <a:xfrm>
          <a:off x="0" y="3256120"/>
          <a:ext cx="5105401" cy="1123276"/>
        </a:xfrm>
        <a:prstGeom prst="round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lvl="0" algn="l" defTabSz="97790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200" kern="1200" smtClean="0"/>
            <a:t>Confusion over roles in the group</a:t>
          </a:r>
          <a:endParaRPr lang="en-US" sz="2200" kern="1200"/>
        </a:p>
      </dsp:txBody>
      <dsp:txXfrm>
        <a:off x="54834" y="3310954"/>
        <a:ext cx="4995733" cy="1013608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6A922ED-7EDC-4D00-8964-508A944FEF55}">
      <dsp:nvSpPr>
        <dsp:cNvPr id="0" name=""/>
        <dsp:cNvSpPr/>
      </dsp:nvSpPr>
      <dsp:spPr>
        <a:xfrm>
          <a:off x="0" y="56501"/>
          <a:ext cx="5295899" cy="1398515"/>
        </a:xfrm>
        <a:prstGeom prst="roundRect">
          <a:avLst/>
        </a:prstGeom>
        <a:gradFill rotWithShape="0">
          <a:gsLst>
            <a:gs pos="0">
              <a:schemeClr val="accent6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6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6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lvl="0" algn="l" defTabSz="111125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500" kern="1200" dirty="0" smtClean="0"/>
            <a:t>Can work for motivated teams with high expertise and skills</a:t>
          </a:r>
          <a:endParaRPr lang="en-US" sz="2500" kern="1200" dirty="0"/>
        </a:p>
      </dsp:txBody>
      <dsp:txXfrm>
        <a:off x="68270" y="124771"/>
        <a:ext cx="5159359" cy="1261975"/>
      </dsp:txXfrm>
    </dsp:sp>
    <dsp:sp modelId="{B71BBE6B-42AD-4FE1-BE95-C3FAA4B1634D}">
      <dsp:nvSpPr>
        <dsp:cNvPr id="0" name=""/>
        <dsp:cNvSpPr/>
      </dsp:nvSpPr>
      <dsp:spPr>
        <a:xfrm>
          <a:off x="0" y="1527017"/>
          <a:ext cx="5295899" cy="1398515"/>
        </a:xfrm>
        <a:prstGeom prst="roundRect">
          <a:avLst/>
        </a:prstGeom>
        <a:gradFill rotWithShape="0">
          <a:gsLst>
            <a:gs pos="0">
              <a:schemeClr val="accent6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6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6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lvl="0" algn="l" defTabSz="111125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500" kern="1200" dirty="0" smtClean="0"/>
            <a:t>Creative teams may value the independence</a:t>
          </a:r>
          <a:endParaRPr lang="en-US" sz="2500" kern="1200" dirty="0"/>
        </a:p>
      </dsp:txBody>
      <dsp:txXfrm>
        <a:off x="68270" y="1595287"/>
        <a:ext cx="5159359" cy="1261975"/>
      </dsp:txXfrm>
    </dsp:sp>
    <dsp:sp modelId="{DE8485C7-F6C2-49B2-ACFB-07A36B2C0367}">
      <dsp:nvSpPr>
        <dsp:cNvPr id="0" name=""/>
        <dsp:cNvSpPr/>
      </dsp:nvSpPr>
      <dsp:spPr>
        <a:xfrm>
          <a:off x="0" y="2997532"/>
          <a:ext cx="5295899" cy="1398515"/>
        </a:xfrm>
        <a:prstGeom prst="roundRect">
          <a:avLst/>
        </a:prstGeom>
        <a:gradFill rotWithShape="0">
          <a:gsLst>
            <a:gs pos="0">
              <a:schemeClr val="accent6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6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6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lvl="0" algn="l" defTabSz="111125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500" kern="1200" dirty="0" smtClean="0"/>
            <a:t>Works well when leader provides needed information and materials at start of project</a:t>
          </a:r>
          <a:endParaRPr lang="en-US" sz="2500" kern="1200" dirty="0"/>
        </a:p>
      </dsp:txBody>
      <dsp:txXfrm>
        <a:off x="68270" y="3065802"/>
        <a:ext cx="5159359" cy="1261975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912D01-48F4-430C-AE8C-6C5CB3143EFB}" type="datetimeFigureOut">
              <a:rPr lang="en-US" smtClean="0"/>
              <a:t>15/06/2020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F165BC-B71D-499E-940B-8CEE6949DE1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177478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912D01-48F4-430C-AE8C-6C5CB3143EFB}" type="datetimeFigureOut">
              <a:rPr lang="en-US" smtClean="0"/>
              <a:t>15/06/2020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F165BC-B71D-499E-940B-8CEE6949DE1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067502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912D01-48F4-430C-AE8C-6C5CB3143EFB}" type="datetimeFigureOut">
              <a:rPr lang="en-US" smtClean="0"/>
              <a:t>15/06/2020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F165BC-B71D-499E-940B-8CEE6949DE1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115881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912D01-48F4-430C-AE8C-6C5CB3143EFB}" type="datetimeFigureOut">
              <a:rPr lang="en-US" smtClean="0"/>
              <a:t>15/06/2020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F165BC-B71D-499E-940B-8CEE6949DE1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75760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912D01-48F4-430C-AE8C-6C5CB3143EFB}" type="datetimeFigureOut">
              <a:rPr lang="en-US" smtClean="0"/>
              <a:t>15/06/2020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F165BC-B71D-499E-940B-8CEE6949DE1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948621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912D01-48F4-430C-AE8C-6C5CB3143EFB}" type="datetimeFigureOut">
              <a:rPr lang="en-US" smtClean="0"/>
              <a:t>15/06/2020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F165BC-B71D-499E-940B-8CEE6949DE1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692844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912D01-48F4-430C-AE8C-6C5CB3143EFB}" type="datetimeFigureOut">
              <a:rPr lang="en-US" smtClean="0"/>
              <a:t>15/06/2020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F165BC-B71D-499E-940B-8CEE6949DE1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482928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912D01-48F4-430C-AE8C-6C5CB3143EFB}" type="datetimeFigureOut">
              <a:rPr lang="en-US" smtClean="0"/>
              <a:t>15/06/2020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F165BC-B71D-499E-940B-8CEE6949DE1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458342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912D01-48F4-430C-AE8C-6C5CB3143EFB}" type="datetimeFigureOut">
              <a:rPr lang="en-US" smtClean="0"/>
              <a:t>15/06/2020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F165BC-B71D-499E-940B-8CEE6949DE1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257028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912D01-48F4-430C-AE8C-6C5CB3143EFB}" type="datetimeFigureOut">
              <a:rPr lang="en-US" smtClean="0"/>
              <a:t>15/06/2020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F165BC-B71D-499E-940B-8CEE6949DE1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120330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912D01-48F4-430C-AE8C-6C5CB3143EFB}" type="datetimeFigureOut">
              <a:rPr lang="en-US" smtClean="0"/>
              <a:t>15/06/2020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F165BC-B71D-499E-940B-8CEE6949DE1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988058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B912D01-48F4-430C-AE8C-6C5CB3143EFB}" type="datetimeFigureOut">
              <a:rPr lang="en-US" smtClean="0"/>
              <a:t>15/06/2020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CF165BC-B71D-499E-940B-8CEE6949DE1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71373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diagramLayout" Target="../diagrams/layout2.xml"/><Relationship Id="rId3" Type="http://schemas.openxmlformats.org/officeDocument/2006/relationships/diagramLayout" Target="../diagrams/layout1.xml"/><Relationship Id="rId7" Type="http://schemas.openxmlformats.org/officeDocument/2006/relationships/diagramData" Target="../diagrams/data2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11" Type="http://schemas.microsoft.com/office/2007/relationships/diagramDrawing" Target="../diagrams/drawing2.xml"/><Relationship Id="rId5" Type="http://schemas.openxmlformats.org/officeDocument/2006/relationships/diagramColors" Target="../diagrams/colors1.xml"/><Relationship Id="rId10" Type="http://schemas.openxmlformats.org/officeDocument/2006/relationships/diagramColors" Target="../diagrams/colors2.xml"/><Relationship Id="rId4" Type="http://schemas.openxmlformats.org/officeDocument/2006/relationships/diagramQuickStyle" Target="../diagrams/quickStyle1.xml"/><Relationship Id="rId9" Type="http://schemas.openxmlformats.org/officeDocument/2006/relationships/diagramQuickStyle" Target="../diagrams/quickStyl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246887"/>
            <a:ext cx="9144000" cy="1150811"/>
          </a:xfrm>
        </p:spPr>
        <p:txBody>
          <a:bodyPr/>
          <a:lstStyle/>
          <a:p>
            <a:r>
              <a:rPr lang="en-US" dirty="0" smtClean="0">
                <a:latin typeface="Georgia" panose="02040502050405020303" pitchFamily="18" charset="0"/>
                <a:cs typeface="Helvetica" panose="020B0604020202020204" pitchFamily="34" charset="0"/>
              </a:rPr>
              <a:t>Mark Zuckerberg</a:t>
            </a:r>
            <a:endParaRPr lang="en-US" dirty="0">
              <a:latin typeface="Georgia" panose="02040502050405020303" pitchFamily="18" charset="0"/>
              <a:cs typeface="Helvetica" panose="020B0604020202020204" pitchFamily="34" charset="0"/>
            </a:endParaRPr>
          </a:p>
        </p:txBody>
      </p:sp>
      <p:sp>
        <p:nvSpPr>
          <p:cNvPr id="4" name="AutoShape 2" descr="Mark Zuckerberg - Wikipedia"/>
          <p:cNvSpPr>
            <a:spLocks noGrp="1" noChangeAspect="1" noChangeArrowheads="1"/>
          </p:cNvSpPr>
          <p:nvPr>
            <p:ph type="subTitle" idx="1"/>
          </p:nvPr>
        </p:nvSpPr>
        <p:spPr bwMode="auto">
          <a:xfrm rot="10800000" flipV="1">
            <a:off x="3814484" y="5917502"/>
            <a:ext cx="4303776" cy="4010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/>
          </a:bodyPr>
          <a:lstStyle/>
          <a:p>
            <a:r>
              <a:rPr lang="en-US" sz="1800" i="1" dirty="0" smtClean="0">
                <a:latin typeface="Century Gothic" panose="020B0502020202020204" pitchFamily="34" charset="0"/>
              </a:rPr>
              <a:t>Co-founder of Facebook</a:t>
            </a:r>
            <a:endParaRPr lang="en-US" sz="1800" i="1" dirty="0">
              <a:latin typeface="Century Gothic" panose="020B0502020202020204" pitchFamily="34" charset="0"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51959" y="1499616"/>
            <a:ext cx="3428827" cy="4315968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79329" y="5917502"/>
            <a:ext cx="402913" cy="4010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33268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264383"/>
          </a:xfrm>
        </p:spPr>
        <p:txBody>
          <a:bodyPr>
            <a:normAutofit/>
          </a:bodyPr>
          <a:lstStyle/>
          <a:p>
            <a:r>
              <a:rPr lang="en-US" sz="6000" dirty="0" smtClean="0">
                <a:latin typeface="Georgia" panose="02040502050405020303" pitchFamily="18" charset="0"/>
              </a:rPr>
              <a:t>Introduction</a:t>
            </a:r>
            <a:endParaRPr lang="en-US" sz="6000" dirty="0">
              <a:latin typeface="Georgia" panose="02040502050405020303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20056" y="2914650"/>
            <a:ext cx="6115050" cy="3419474"/>
          </a:xfrm>
          <a:noFill/>
        </p:spPr>
        <p:txBody>
          <a:bodyPr/>
          <a:lstStyle/>
          <a:p>
            <a:pPr>
              <a:lnSpc>
                <a:spcPct val="100000"/>
              </a:lnSpc>
              <a:spcBef>
                <a:spcPts val="1200"/>
              </a:spcBef>
            </a:pPr>
            <a:r>
              <a:rPr lang="en-US" dirty="0" smtClean="0">
                <a:latin typeface="Helvetica" panose="020B0604020202020204" pitchFamily="34" charset="0"/>
                <a:ea typeface="Tahoma" panose="020B0604030504040204" pitchFamily="34" charset="0"/>
                <a:cs typeface="Helvetica" panose="020B0604020202020204" pitchFamily="34" charset="0"/>
              </a:rPr>
              <a:t>Mark Zuckerberg was born in 1984 </a:t>
            </a:r>
            <a:r>
              <a:rPr lang="en-US" dirty="0">
                <a:latin typeface="Helvetica" panose="020B0604020202020204" pitchFamily="34" charset="0"/>
                <a:ea typeface="Tahoma" panose="020B0604030504040204" pitchFamily="34" charset="0"/>
                <a:cs typeface="Helvetica" panose="020B0604020202020204" pitchFamily="34" charset="0"/>
              </a:rPr>
              <a:t>in White Plains, New </a:t>
            </a:r>
            <a:r>
              <a:rPr lang="en-US" dirty="0" smtClean="0">
                <a:latin typeface="Helvetica" panose="020B0604020202020204" pitchFamily="34" charset="0"/>
                <a:ea typeface="Tahoma" panose="020B0604030504040204" pitchFamily="34" charset="0"/>
                <a:cs typeface="Helvetica" panose="020B0604020202020204" pitchFamily="34" charset="0"/>
              </a:rPr>
              <a:t>York. </a:t>
            </a:r>
          </a:p>
          <a:p>
            <a:pPr marL="0" indent="0">
              <a:lnSpc>
                <a:spcPct val="100000"/>
              </a:lnSpc>
              <a:spcBef>
                <a:spcPts val="1200"/>
              </a:spcBef>
              <a:buNone/>
            </a:pPr>
            <a:endParaRPr lang="en-US" sz="500" dirty="0" smtClean="0"/>
          </a:p>
          <a:p>
            <a:pPr>
              <a:lnSpc>
                <a:spcPct val="100000"/>
              </a:lnSpc>
              <a:spcBef>
                <a:spcPts val="500"/>
              </a:spcBef>
            </a:pPr>
            <a:r>
              <a:rPr lang="en-US" dirty="0" smtClean="0">
                <a:latin typeface="Helvetica" panose="020B0604020202020204" pitchFamily="34" charset="0"/>
                <a:cs typeface="Helvetica" panose="020B0604020202020204" pitchFamily="34" charset="0"/>
              </a:rPr>
              <a:t>He developed </a:t>
            </a:r>
            <a:r>
              <a:rPr lang="en-US" dirty="0">
                <a:latin typeface="Helvetica" panose="020B0604020202020204" pitchFamily="34" charset="0"/>
                <a:cs typeface="Helvetica" panose="020B0604020202020204" pitchFamily="34" charset="0"/>
              </a:rPr>
              <a:t>an interest for computers at an early age</a:t>
            </a:r>
            <a:r>
              <a:rPr lang="en-US" dirty="0" smtClean="0">
                <a:latin typeface="Helvetica" panose="020B0604020202020204" pitchFamily="34" charset="0"/>
                <a:cs typeface="Helvetica" panose="020B0604020202020204" pitchFamily="34" charset="0"/>
              </a:rPr>
              <a:t>.</a:t>
            </a:r>
          </a:p>
          <a:p>
            <a:pPr lvl="1">
              <a:lnSpc>
                <a:spcPct val="100000"/>
              </a:lnSpc>
              <a:buFont typeface="Wingdings" panose="05000000000000000000" pitchFamily="2" charset="2"/>
              <a:buChar char="Ø"/>
            </a:pPr>
            <a:r>
              <a:rPr lang="en-US" dirty="0" smtClean="0"/>
              <a:t> </a:t>
            </a:r>
            <a:r>
              <a:rPr lang="en-US" dirty="0" smtClean="0">
                <a:latin typeface="Garamond" panose="02020404030301010803" pitchFamily="18" charset="0"/>
              </a:rPr>
              <a:t>Zuckerberg </a:t>
            </a:r>
            <a:r>
              <a:rPr lang="en-US" dirty="0">
                <a:latin typeface="Garamond" panose="02020404030301010803" pitchFamily="18" charset="0"/>
              </a:rPr>
              <a:t>began using computers and writing software in </a:t>
            </a:r>
            <a:r>
              <a:rPr lang="en-US" b="1" dirty="0" smtClean="0">
                <a:latin typeface="Garamond" panose="02020404030301010803" pitchFamily="18" charset="0"/>
              </a:rPr>
              <a:t>middle school</a:t>
            </a:r>
            <a:r>
              <a:rPr lang="en-US" dirty="0" smtClean="0">
                <a:latin typeface="Garamond" panose="02020404030301010803" pitchFamily="18" charset="0"/>
              </a:rPr>
              <a:t>. </a:t>
            </a:r>
            <a:endParaRPr lang="en-US" dirty="0">
              <a:latin typeface="Garamond" panose="02020404030301010803" pitchFamily="18" charset="0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728215"/>
            <a:ext cx="3428827" cy="4605909"/>
          </a:xfrm>
          <a:prstGeom prst="rect">
            <a:avLst/>
          </a:prstGeom>
        </p:spPr>
      </p:pic>
      <p:cxnSp>
        <p:nvCxnSpPr>
          <p:cNvPr id="6" name="Straight Connector 5"/>
          <p:cNvCxnSpPr/>
          <p:nvPr/>
        </p:nvCxnSpPr>
        <p:spPr>
          <a:xfrm>
            <a:off x="838200" y="1428750"/>
            <a:ext cx="10296906" cy="0"/>
          </a:xfrm>
          <a:prstGeom prst="line">
            <a:avLst/>
          </a:prstGeom>
          <a:ln w="25400">
            <a:solidFill>
              <a:srgbClr val="FF000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4837176" y="1728216"/>
            <a:ext cx="6297930" cy="997077"/>
          </a:xfrm>
          <a:prstGeom prst="roundRect">
            <a:avLst/>
          </a:prstGeom>
          <a:gradFill flip="none" rotWithShape="1">
            <a:gsLst>
              <a:gs pos="0">
                <a:schemeClr val="accent1">
                  <a:lumMod val="67000"/>
                </a:schemeClr>
              </a:gs>
              <a:gs pos="48000">
                <a:schemeClr val="accent1">
                  <a:lumMod val="97000"/>
                  <a:lumOff val="3000"/>
                </a:schemeClr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16200000" scaled="1"/>
            <a:tileRect/>
          </a:gra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>
              <a:lnSpc>
                <a:spcPct val="90000"/>
              </a:lnSpc>
              <a:spcBef>
                <a:spcPts val="1000"/>
              </a:spcBef>
            </a:pPr>
            <a:r>
              <a:rPr lang="en-US" sz="5400" dirty="0">
                <a:solidFill>
                  <a:schemeClr val="bg1"/>
                </a:solidFill>
                <a:latin typeface="Georgia" panose="02040502050405020303" pitchFamily="18" charset="0"/>
                <a:ea typeface="Verdana" panose="020B0604030504040204" pitchFamily="34" charset="0"/>
              </a:rPr>
              <a:t>Early life</a:t>
            </a:r>
          </a:p>
        </p:txBody>
      </p:sp>
    </p:spTree>
    <p:extLst>
      <p:ext uri="{BB962C8B-B14F-4D97-AF65-F5344CB8AC3E}">
        <p14:creationId xmlns:p14="http://schemas.microsoft.com/office/powerpoint/2010/main" val="2659275772"/>
      </p:ext>
    </p:extLst>
  </p:cSld>
  <p:clrMapOvr>
    <a:masterClrMapping/>
  </p:clrMapOvr>
  <p:transition spd="slow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292225"/>
          </a:xfrm>
        </p:spPr>
        <p:txBody>
          <a:bodyPr/>
          <a:lstStyle/>
          <a:p>
            <a:r>
              <a:rPr lang="en-US" sz="6000" dirty="0">
                <a:solidFill>
                  <a:prstClr val="black"/>
                </a:solidFill>
                <a:latin typeface="Georgia" panose="02040502050405020303" pitchFamily="18" charset="0"/>
              </a:rPr>
              <a:t>Introduction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01768" y="2944368"/>
            <a:ext cx="6152007" cy="3389756"/>
          </a:xfrm>
        </p:spPr>
        <p:txBody>
          <a:bodyPr>
            <a:normAutofit fontScale="92500" lnSpcReduction="10000"/>
          </a:bodyPr>
          <a:lstStyle/>
          <a:p>
            <a:pPr>
              <a:lnSpc>
                <a:spcPct val="100000"/>
              </a:lnSpc>
            </a:pPr>
            <a:r>
              <a:rPr lang="en-US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Zuckerberg 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is considered a leader with intellectual </a:t>
            </a:r>
            <a:r>
              <a:rPr lang="en-US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ability.</a:t>
            </a:r>
          </a:p>
          <a:p>
            <a:pPr marL="0" indent="0">
              <a:lnSpc>
                <a:spcPct val="100000"/>
              </a:lnSpc>
              <a:buNone/>
            </a:pPr>
            <a:endParaRPr lang="en-US" sz="200" dirty="0" smtClean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lvl="1">
              <a:lnSpc>
                <a:spcPct val="100000"/>
              </a:lnSpc>
              <a:buFont typeface="Wingdings" panose="05000000000000000000" pitchFamily="2" charset="2"/>
              <a:buChar char="Ø"/>
            </a:pPr>
            <a:r>
              <a:rPr lang="en-US" dirty="0" smtClean="0">
                <a:latin typeface="Century Gothic" panose="020B0502020202020204" pitchFamily="34" charset="0"/>
              </a:rPr>
              <a:t> </a:t>
            </a:r>
            <a:r>
              <a:rPr lang="en-US" dirty="0" smtClean="0">
                <a:latin typeface="Garamond" panose="02020404030301010803" pitchFamily="18" charset="0"/>
              </a:rPr>
              <a:t>He </a:t>
            </a:r>
            <a:r>
              <a:rPr lang="en-US" dirty="0">
                <a:latin typeface="Garamond" panose="02020404030301010803" pitchFamily="18" charset="0"/>
              </a:rPr>
              <a:t>has build one of the </a:t>
            </a:r>
            <a:r>
              <a:rPr lang="en-US" b="1" dirty="0">
                <a:latin typeface="Garamond" panose="02020404030301010803" pitchFamily="18" charset="0"/>
              </a:rPr>
              <a:t>largest</a:t>
            </a:r>
            <a:r>
              <a:rPr lang="en-US" dirty="0">
                <a:latin typeface="Garamond" panose="02020404030301010803" pitchFamily="18" charset="0"/>
              </a:rPr>
              <a:t> and </a:t>
            </a:r>
            <a:r>
              <a:rPr lang="en-US" b="1" dirty="0">
                <a:latin typeface="Garamond" panose="02020404030301010803" pitchFamily="18" charset="0"/>
              </a:rPr>
              <a:t>successful</a:t>
            </a:r>
            <a:r>
              <a:rPr lang="en-US" dirty="0">
                <a:latin typeface="Garamond" panose="02020404030301010803" pitchFamily="18" charset="0"/>
              </a:rPr>
              <a:t> </a:t>
            </a:r>
            <a:r>
              <a:rPr lang="en-US" b="1" dirty="0" smtClean="0">
                <a:latin typeface="Garamond" panose="02020404030301010803" pitchFamily="18" charset="0"/>
              </a:rPr>
              <a:t>global </a:t>
            </a:r>
            <a:r>
              <a:rPr lang="en-US" b="1" dirty="0">
                <a:latin typeface="Garamond" panose="02020404030301010803" pitchFamily="18" charset="0"/>
              </a:rPr>
              <a:t>social networks </a:t>
            </a:r>
            <a:r>
              <a:rPr lang="en-US" dirty="0">
                <a:latin typeface="Garamond" panose="02020404030301010803" pitchFamily="18" charset="0"/>
              </a:rPr>
              <a:t>by being a </a:t>
            </a:r>
            <a:r>
              <a:rPr lang="en-US" b="1" dirty="0">
                <a:latin typeface="Garamond" panose="02020404030301010803" pitchFamily="18" charset="0"/>
              </a:rPr>
              <a:t>college </a:t>
            </a:r>
            <a:r>
              <a:rPr lang="en-US" b="1" dirty="0" smtClean="0">
                <a:latin typeface="Garamond" panose="02020404030301010803" pitchFamily="18" charset="0"/>
              </a:rPr>
              <a:t>dropout</a:t>
            </a:r>
            <a:r>
              <a:rPr lang="en-US" dirty="0" smtClean="0">
                <a:latin typeface="Garamond" panose="02020404030301010803" pitchFamily="18" charset="0"/>
              </a:rPr>
              <a:t>.</a:t>
            </a:r>
          </a:p>
          <a:p>
            <a:pPr marL="457200" lvl="1" indent="0">
              <a:lnSpc>
                <a:spcPct val="100000"/>
              </a:lnSpc>
              <a:buNone/>
            </a:pPr>
            <a:endParaRPr lang="en-US" sz="300" dirty="0" smtClean="0">
              <a:latin typeface="Garamond" panose="02020404030301010803" pitchFamily="18" charset="0"/>
            </a:endParaRPr>
          </a:p>
          <a:p>
            <a:pPr lvl="1">
              <a:lnSpc>
                <a:spcPct val="100000"/>
              </a:lnSpc>
              <a:buFont typeface="Wingdings" panose="05000000000000000000" pitchFamily="2" charset="2"/>
              <a:buChar char="Ø"/>
            </a:pPr>
            <a:r>
              <a:rPr lang="en-US" dirty="0" smtClean="0"/>
              <a:t> </a:t>
            </a:r>
            <a:r>
              <a:rPr lang="en-US" dirty="0" smtClean="0">
                <a:latin typeface="Garamond" panose="02020404030301010803" pitchFamily="18" charset="0"/>
              </a:rPr>
              <a:t>Mr</a:t>
            </a:r>
            <a:r>
              <a:rPr lang="en-US" dirty="0">
                <a:latin typeface="Garamond" panose="02020404030301010803" pitchFamily="18" charset="0"/>
              </a:rPr>
              <a:t>. Zuckerberg dropped out of Harvard to fulfill his dream which was to “</a:t>
            </a:r>
            <a:r>
              <a:rPr lang="en-US" i="1" dirty="0">
                <a:latin typeface="Garamond" panose="02020404030301010803" pitchFamily="18" charset="0"/>
              </a:rPr>
              <a:t>build something that only a few on the planet had the privilege to build</a:t>
            </a:r>
            <a:r>
              <a:rPr lang="en-US" dirty="0">
                <a:latin typeface="Garamond" panose="02020404030301010803" pitchFamily="18" charset="0"/>
              </a:rPr>
              <a:t>” (Walter, 2014). 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728215"/>
            <a:ext cx="3428827" cy="4605909"/>
          </a:xfrm>
          <a:prstGeom prst="rect">
            <a:avLst/>
          </a:prstGeom>
        </p:spPr>
      </p:pic>
      <p:cxnSp>
        <p:nvCxnSpPr>
          <p:cNvPr id="7" name="Straight Connector 6"/>
          <p:cNvCxnSpPr/>
          <p:nvPr/>
        </p:nvCxnSpPr>
        <p:spPr>
          <a:xfrm>
            <a:off x="838200" y="1438274"/>
            <a:ext cx="10315575" cy="0"/>
          </a:xfrm>
          <a:prstGeom prst="line">
            <a:avLst/>
          </a:prstGeom>
          <a:ln w="25400">
            <a:solidFill>
              <a:srgbClr val="FF000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4" name="Rounded Rectangle 3"/>
          <p:cNvSpPr/>
          <p:nvPr/>
        </p:nvSpPr>
        <p:spPr>
          <a:xfrm>
            <a:off x="4818887" y="1728216"/>
            <a:ext cx="6334888" cy="976122"/>
          </a:xfrm>
          <a:prstGeom prst="roundRect">
            <a:avLst/>
          </a:prstGeom>
          <a:gradFill flip="none" rotWithShape="1">
            <a:gsLst>
              <a:gs pos="0">
                <a:schemeClr val="accent1">
                  <a:lumMod val="67000"/>
                </a:schemeClr>
              </a:gs>
              <a:gs pos="48000">
                <a:schemeClr val="accent1">
                  <a:lumMod val="97000"/>
                  <a:lumOff val="3000"/>
                </a:schemeClr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16200000" scaled="1"/>
            <a:tileRect/>
          </a:gra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>
              <a:lnSpc>
                <a:spcPct val="90000"/>
              </a:lnSpc>
              <a:spcBef>
                <a:spcPts val="1000"/>
              </a:spcBef>
            </a:pPr>
            <a:r>
              <a:rPr lang="en-US" sz="5400" dirty="0">
                <a:solidFill>
                  <a:schemeClr val="bg1"/>
                </a:solidFill>
                <a:latin typeface="Georgia" panose="02040502050405020303" pitchFamily="18" charset="0"/>
                <a:ea typeface="Verdana" panose="020B0604030504040204" pitchFamily="34" charset="0"/>
              </a:rPr>
              <a:t>Leader becoming</a:t>
            </a:r>
          </a:p>
        </p:txBody>
      </p:sp>
    </p:spTree>
    <p:extLst>
      <p:ext uri="{BB962C8B-B14F-4D97-AF65-F5344CB8AC3E}">
        <p14:creationId xmlns:p14="http://schemas.microsoft.com/office/powerpoint/2010/main" val="35955399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2317750"/>
            <a:ext cx="10515600" cy="2578100"/>
          </a:xfrm>
        </p:spPr>
        <p:txBody>
          <a:bodyPr>
            <a:noAutofit/>
          </a:bodyPr>
          <a:lstStyle/>
          <a:p>
            <a:pPr algn="ctr"/>
            <a:r>
              <a:rPr lang="en-US" sz="8000" dirty="0" smtClean="0">
                <a:latin typeface="Arial" panose="020B0604020202020204" pitchFamily="34" charset="0"/>
                <a:cs typeface="Arial" panose="020B0604020202020204" pitchFamily="34" charset="0"/>
              </a:rPr>
              <a:t>Mark Zuckerberg </a:t>
            </a:r>
            <a:r>
              <a:rPr lang="en-US" sz="6000" dirty="0" smtClean="0"/>
              <a:t/>
            </a:r>
            <a:br>
              <a:rPr lang="en-US" sz="6000" dirty="0" smtClean="0"/>
            </a:br>
            <a:endParaRPr lang="en-US" sz="3200" i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3838575"/>
            <a:ext cx="10515600" cy="666750"/>
          </a:xfrm>
        </p:spPr>
        <p:txBody>
          <a:bodyPr/>
          <a:lstStyle/>
          <a:p>
            <a:pPr marL="0" indent="0" algn="ctr">
              <a:buNone/>
            </a:pPr>
            <a:r>
              <a:rPr lang="en-US" sz="3600" i="1" dirty="0">
                <a:latin typeface="+mj-lt"/>
              </a:rPr>
              <a:t>a laissez-faire leader</a:t>
            </a:r>
          </a:p>
          <a:p>
            <a:endParaRPr lang="en-US" dirty="0"/>
          </a:p>
        </p:txBody>
      </p:sp>
      <p:cxnSp>
        <p:nvCxnSpPr>
          <p:cNvPr id="6" name="Straight Connector 5"/>
          <p:cNvCxnSpPr/>
          <p:nvPr/>
        </p:nvCxnSpPr>
        <p:spPr>
          <a:xfrm flipV="1">
            <a:off x="609600" y="590550"/>
            <a:ext cx="0" cy="1123950"/>
          </a:xfrm>
          <a:prstGeom prst="line">
            <a:avLst/>
          </a:prstGeom>
          <a:ln w="25400">
            <a:solidFill>
              <a:srgbClr val="FF000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7" name="Straight Connector 6"/>
          <p:cNvCxnSpPr/>
          <p:nvPr/>
        </p:nvCxnSpPr>
        <p:spPr>
          <a:xfrm flipH="1">
            <a:off x="609600" y="590550"/>
            <a:ext cx="1123949" cy="0"/>
          </a:xfrm>
          <a:prstGeom prst="line">
            <a:avLst/>
          </a:prstGeom>
          <a:ln w="25400">
            <a:solidFill>
              <a:srgbClr val="FF000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8" name="Straight Connector 7"/>
          <p:cNvCxnSpPr/>
          <p:nvPr/>
        </p:nvCxnSpPr>
        <p:spPr>
          <a:xfrm>
            <a:off x="10620375" y="6524625"/>
            <a:ext cx="1095375" cy="0"/>
          </a:xfrm>
          <a:prstGeom prst="line">
            <a:avLst/>
          </a:prstGeom>
          <a:ln w="25400">
            <a:solidFill>
              <a:srgbClr val="FF000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9" name="Straight Connector 8"/>
          <p:cNvCxnSpPr/>
          <p:nvPr/>
        </p:nvCxnSpPr>
        <p:spPr>
          <a:xfrm flipV="1">
            <a:off x="11731869" y="5400675"/>
            <a:ext cx="0" cy="1123950"/>
          </a:xfrm>
          <a:prstGeom prst="line">
            <a:avLst/>
          </a:prstGeom>
          <a:ln w="25400">
            <a:solidFill>
              <a:srgbClr val="FF000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01629929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225550"/>
          </a:xfrm>
        </p:spPr>
        <p:txBody>
          <a:bodyPr>
            <a:noAutofit/>
          </a:bodyPr>
          <a:lstStyle/>
          <a:p>
            <a:r>
              <a:rPr lang="en-US" sz="6000" dirty="0" smtClean="0">
                <a:latin typeface="Georgia" panose="02040502050405020303" pitchFamily="18" charset="0"/>
              </a:rPr>
              <a:t>Laissez-faire </a:t>
            </a:r>
            <a:r>
              <a:rPr lang="en-US" sz="6000" dirty="0">
                <a:latin typeface="Georgia" panose="02040502050405020303" pitchFamily="18" charset="0"/>
              </a:rPr>
              <a:t>leader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5295900" cy="4529947"/>
          </a:xfrm>
        </p:spPr>
        <p:txBody>
          <a:bodyPr/>
          <a:lstStyle/>
          <a:p>
            <a:r>
              <a:rPr lang="en-US" dirty="0" smtClean="0"/>
              <a:t>Zuckerberg </a:t>
            </a:r>
            <a:r>
              <a:rPr lang="en-US" dirty="0"/>
              <a:t>has created an open communication </a:t>
            </a:r>
            <a:r>
              <a:rPr lang="en-US" dirty="0" smtClean="0"/>
              <a:t>culture:</a:t>
            </a:r>
          </a:p>
          <a:p>
            <a:pPr marL="0" indent="0">
              <a:buNone/>
            </a:pPr>
            <a:endParaRPr lang="en-US" sz="300" dirty="0" smtClean="0"/>
          </a:p>
          <a:p>
            <a:pPr lvl="1">
              <a:buFont typeface="Wingdings" panose="05000000000000000000" pitchFamily="2" charset="2"/>
              <a:buChar char="Ø"/>
            </a:pPr>
            <a:r>
              <a:rPr lang="en-US" dirty="0"/>
              <a:t> </a:t>
            </a:r>
            <a:r>
              <a:rPr lang="en-US" dirty="0" smtClean="0">
                <a:latin typeface="Garamond" panose="02020404030301010803" pitchFamily="18" charset="0"/>
              </a:rPr>
              <a:t>Allow employees to share their ideas, speak their minds.</a:t>
            </a:r>
          </a:p>
          <a:p>
            <a:pPr marL="457200" lvl="1" indent="0">
              <a:buNone/>
            </a:pPr>
            <a:endParaRPr lang="en-US" sz="500" dirty="0" smtClean="0"/>
          </a:p>
          <a:p>
            <a:pPr lvl="1">
              <a:buFont typeface="Wingdings" panose="05000000000000000000" pitchFamily="2" charset="2"/>
              <a:buChar char="Ø"/>
            </a:pPr>
            <a:r>
              <a:rPr lang="en-US" dirty="0"/>
              <a:t> </a:t>
            </a:r>
            <a:r>
              <a:rPr lang="en-US" dirty="0">
                <a:latin typeface="Garamond" panose="02020404030301010803" pitchFamily="18" charset="0"/>
              </a:rPr>
              <a:t>According to Walter, Facebook is committed to its product and innovation to further its goal which is to connect people.</a:t>
            </a:r>
          </a:p>
        </p:txBody>
      </p:sp>
      <p:pic>
        <p:nvPicPr>
          <p:cNvPr id="1026" name="Picture 2" descr="Mark Zuckerberg từ bỏ những thách thức cá nhân hàng năm của mình ...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34100" y="1825626"/>
            <a:ext cx="5287962" cy="452994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5" name="Straight Connector 4"/>
          <p:cNvCxnSpPr/>
          <p:nvPr/>
        </p:nvCxnSpPr>
        <p:spPr>
          <a:xfrm>
            <a:off x="838200" y="1438274"/>
            <a:ext cx="10583862" cy="1"/>
          </a:xfrm>
          <a:prstGeom prst="line">
            <a:avLst/>
          </a:prstGeom>
          <a:ln w="25400">
            <a:solidFill>
              <a:srgbClr val="FF000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41271648"/>
      </p:ext>
    </p:extLst>
  </p:cSld>
  <p:clrMapOvr>
    <a:masterClrMapping/>
  </p:clrMapOvr>
  <p:transition spd="slow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859752"/>
          </a:xfrm>
        </p:spPr>
        <p:txBody>
          <a:bodyPr>
            <a:noAutofit/>
          </a:bodyPr>
          <a:lstStyle/>
          <a:p>
            <a:pPr algn="ctr"/>
            <a:r>
              <a:rPr lang="en-US" sz="6000" dirty="0" smtClean="0">
                <a:solidFill>
                  <a:srgbClr val="FF0000"/>
                </a:solidFill>
                <a:latin typeface="Georgia" panose="02040502050405020303" pitchFamily="18" charset="0"/>
              </a:rPr>
              <a:t>Open communication culture</a:t>
            </a:r>
            <a:endParaRPr lang="en-US" sz="6000" dirty="0">
              <a:solidFill>
                <a:srgbClr val="FF0000"/>
              </a:solidFill>
              <a:latin typeface="Georgia" panose="02040502050405020303" pitchFamily="18" charset="0"/>
            </a:endParaRPr>
          </a:p>
        </p:txBody>
      </p:sp>
      <p:pic>
        <p:nvPicPr>
          <p:cNvPr id="26" name="Picture 2" descr="Addressing Challenges In Corporate Communications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00150" y="1224878"/>
            <a:ext cx="9791700" cy="54027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449420144"/>
      </p:ext>
    </p:extLst>
  </p:cSld>
  <p:clrMapOvr>
    <a:masterClrMapping/>
  </p:clrMapOvr>
  <p:transition spd="slow">
    <p:cover/>
  </p:transition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225550"/>
          </a:xfrm>
        </p:spPr>
        <p:txBody>
          <a:bodyPr>
            <a:noAutofit/>
          </a:bodyPr>
          <a:lstStyle/>
          <a:p>
            <a:r>
              <a:rPr lang="en-US" sz="6000" dirty="0" smtClean="0">
                <a:latin typeface="Georgia" panose="02040502050405020303" pitchFamily="18" charset="0"/>
              </a:rPr>
              <a:t>Laissez-faire </a:t>
            </a:r>
            <a:r>
              <a:rPr lang="en-US" sz="6000" dirty="0">
                <a:latin typeface="Georgia" panose="02040502050405020303" pitchFamily="18" charset="0"/>
              </a:rPr>
              <a:t>leader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66775" y="1825625"/>
            <a:ext cx="5191125" cy="4543037"/>
          </a:xfrm>
        </p:spPr>
        <p:txBody>
          <a:bodyPr>
            <a:normAutofit/>
          </a:bodyPr>
          <a:lstStyle/>
          <a:p>
            <a:r>
              <a:rPr lang="en-US" dirty="0" smtClean="0"/>
              <a:t>Zuckerberg builds strong relationships with his employees and partners:</a:t>
            </a:r>
          </a:p>
          <a:p>
            <a:pPr marL="0" indent="0">
              <a:buNone/>
            </a:pPr>
            <a:endParaRPr lang="en-US" sz="300" dirty="0" smtClean="0"/>
          </a:p>
          <a:p>
            <a:pPr lvl="1">
              <a:buFont typeface="Wingdings" panose="05000000000000000000" pitchFamily="2" charset="2"/>
              <a:buChar char="Ø"/>
            </a:pPr>
            <a:r>
              <a:rPr lang="en-US" dirty="0"/>
              <a:t> </a:t>
            </a:r>
            <a:r>
              <a:rPr lang="en-US" sz="2200" dirty="0">
                <a:latin typeface="Garamond" panose="02020404030301010803" pitchFamily="18" charset="0"/>
              </a:rPr>
              <a:t>Partnering with the right investors </a:t>
            </a:r>
            <a:r>
              <a:rPr lang="en-US" sz="2200" dirty="0" smtClean="0">
                <a:latin typeface="Garamond" panose="02020404030301010803" pitchFamily="18" charset="0"/>
              </a:rPr>
              <a:t>and having </a:t>
            </a:r>
            <a:r>
              <a:rPr lang="en-US" sz="2200" dirty="0">
                <a:latin typeface="Garamond" panose="02020404030301010803" pitchFamily="18" charset="0"/>
              </a:rPr>
              <a:t>a strong management team is vital for a successful company</a:t>
            </a:r>
            <a:r>
              <a:rPr lang="en-US" dirty="0" smtClean="0">
                <a:latin typeface="Garamond" panose="02020404030301010803" pitchFamily="18" charset="0"/>
              </a:rPr>
              <a:t>.</a:t>
            </a:r>
          </a:p>
          <a:p>
            <a:pPr lvl="1">
              <a:buFont typeface="Wingdings" panose="05000000000000000000" pitchFamily="2" charset="2"/>
              <a:buChar char="Ø"/>
            </a:pPr>
            <a:endParaRPr lang="en-US" sz="500" dirty="0" smtClean="0">
              <a:latin typeface="Garamond" panose="02020404030301010803" pitchFamily="18" charset="0"/>
            </a:endParaRPr>
          </a:p>
          <a:p>
            <a:pPr lvl="1">
              <a:buFont typeface="Wingdings" panose="05000000000000000000" pitchFamily="2" charset="2"/>
              <a:buChar char="Ø"/>
            </a:pPr>
            <a:r>
              <a:rPr lang="en-US" dirty="0"/>
              <a:t> </a:t>
            </a:r>
            <a:r>
              <a:rPr lang="en-US" dirty="0">
                <a:latin typeface="Garamond" panose="02020404030301010803" pitchFamily="18" charset="0"/>
              </a:rPr>
              <a:t>An article by Walter states, “</a:t>
            </a:r>
            <a:r>
              <a:rPr lang="en-US" i="1" dirty="0">
                <a:latin typeface="Garamond" panose="02020404030301010803" pitchFamily="18" charset="0"/>
              </a:rPr>
              <a:t>Success is a team sport. Great leaders recognize their own weaknesses as much as their strengths and bring in the right people in to form partnerships that drive success</a:t>
            </a:r>
            <a:r>
              <a:rPr lang="en-US" dirty="0">
                <a:latin typeface="Garamond" panose="02020404030301010803" pitchFamily="18" charset="0"/>
              </a:rPr>
              <a:t>.”</a:t>
            </a:r>
          </a:p>
        </p:txBody>
      </p:sp>
      <p:pic>
        <p:nvPicPr>
          <p:cNvPr id="1026" name="Picture 2" descr="Mark Zuckerberg từ bỏ những thách thức cá nhân hàng năm của mình ...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34100" y="1825625"/>
            <a:ext cx="5287962" cy="45430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5" name="Straight Connector 4"/>
          <p:cNvCxnSpPr/>
          <p:nvPr/>
        </p:nvCxnSpPr>
        <p:spPr>
          <a:xfrm>
            <a:off x="838200" y="1438274"/>
            <a:ext cx="10583862" cy="1"/>
          </a:xfrm>
          <a:prstGeom prst="line">
            <a:avLst/>
          </a:prstGeom>
          <a:ln w="25400">
            <a:solidFill>
              <a:srgbClr val="FF000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79285964"/>
      </p:ext>
    </p:extLst>
  </p:cSld>
  <p:clrMapOvr>
    <a:masterClrMapping/>
  </p:clrMapOvr>
  <p:transition spd="med">
    <p:pull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225550"/>
          </a:xfrm>
        </p:spPr>
        <p:txBody>
          <a:bodyPr>
            <a:noAutofit/>
          </a:bodyPr>
          <a:lstStyle/>
          <a:p>
            <a:r>
              <a:rPr lang="en-US" sz="6000" dirty="0" smtClean="0">
                <a:latin typeface="Georgia" panose="02040502050405020303" pitchFamily="18" charset="0"/>
              </a:rPr>
              <a:t>Laissez-faire </a:t>
            </a:r>
            <a:r>
              <a:rPr lang="en-US" sz="6000" dirty="0">
                <a:latin typeface="Georgia" panose="02040502050405020303" pitchFamily="18" charset="0"/>
              </a:rPr>
              <a:t>leader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66775" y="1825625"/>
            <a:ext cx="5191125" cy="4543037"/>
          </a:xfrm>
        </p:spPr>
        <p:txBody>
          <a:bodyPr>
            <a:normAutofit/>
          </a:bodyPr>
          <a:lstStyle/>
          <a:p>
            <a:r>
              <a:rPr lang="en-US" sz="3200" dirty="0" smtClean="0"/>
              <a:t>He </a:t>
            </a:r>
            <a:r>
              <a:rPr lang="en-US" sz="3200" dirty="0"/>
              <a:t>is </a:t>
            </a:r>
            <a:r>
              <a:rPr lang="en-US" sz="3200" dirty="0" smtClean="0"/>
              <a:t>Throwing </a:t>
            </a:r>
            <a:r>
              <a:rPr lang="en-US" sz="3200" dirty="0"/>
              <a:t>Away Traditional Hierarchies</a:t>
            </a:r>
            <a:r>
              <a:rPr lang="en-US" dirty="0" smtClean="0"/>
              <a:t>:</a:t>
            </a:r>
            <a:endParaRPr lang="en-US" sz="300" dirty="0" smtClean="0"/>
          </a:p>
          <a:p>
            <a:pPr lvl="1">
              <a:buFont typeface="Wingdings" panose="05000000000000000000" pitchFamily="2" charset="2"/>
              <a:buChar char="Ø"/>
            </a:pPr>
            <a:r>
              <a:rPr lang="en-US" dirty="0"/>
              <a:t> </a:t>
            </a:r>
            <a:r>
              <a:rPr lang="en-US" dirty="0">
                <a:latin typeface="Garamond" panose="02020404030301010803" pitchFamily="18" charset="0"/>
              </a:rPr>
              <a:t>Rather than slotting people into roles based on age and experience, everyone’s ideas are valued in clear and obvious ways.</a:t>
            </a:r>
          </a:p>
        </p:txBody>
      </p:sp>
      <p:cxnSp>
        <p:nvCxnSpPr>
          <p:cNvPr id="5" name="Straight Connector 4"/>
          <p:cNvCxnSpPr/>
          <p:nvPr/>
        </p:nvCxnSpPr>
        <p:spPr>
          <a:xfrm>
            <a:off x="838200" y="1438274"/>
            <a:ext cx="10583862" cy="1"/>
          </a:xfrm>
          <a:prstGeom prst="line">
            <a:avLst/>
          </a:prstGeom>
          <a:ln w="25400">
            <a:solidFill>
              <a:srgbClr val="FF000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pic>
        <p:nvPicPr>
          <p:cNvPr id="6" name="Picture 5"/>
          <p:cNvPicPr>
            <a:picLocks noChangeAspect="1"/>
          </p:cNvPicPr>
          <p:nvPr/>
        </p:nvPicPr>
        <p:blipFill rotWithShape="1">
          <a:blip r:embed="rId2"/>
          <a:srcRect l="2040" t="428" r="2040" b="428"/>
          <a:stretch/>
        </p:blipFill>
        <p:spPr>
          <a:xfrm>
            <a:off x="6130131" y="1825625"/>
            <a:ext cx="5294422" cy="4543037"/>
          </a:xfrm>
          <a:prstGeom prst="rect">
            <a:avLst/>
          </a:prstGeom>
          <a:noFill/>
        </p:spPr>
      </p:pic>
      <p:sp>
        <p:nvSpPr>
          <p:cNvPr id="8" name="Rectangle 7"/>
          <p:cNvSpPr/>
          <p:nvPr/>
        </p:nvSpPr>
        <p:spPr>
          <a:xfrm rot="2441129">
            <a:off x="5358883" y="3968155"/>
            <a:ext cx="6967400" cy="154942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/>
          <p:cNvSpPr/>
          <p:nvPr/>
        </p:nvSpPr>
        <p:spPr>
          <a:xfrm rot="8394184">
            <a:off x="5288975" y="3994896"/>
            <a:ext cx="6967400" cy="154942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73814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225550"/>
          </a:xfrm>
        </p:spPr>
        <p:txBody>
          <a:bodyPr>
            <a:noAutofit/>
          </a:bodyPr>
          <a:lstStyle/>
          <a:p>
            <a:r>
              <a:rPr lang="en-US" sz="6000" dirty="0" smtClean="0">
                <a:latin typeface="Georgia" panose="02040502050405020303" pitchFamily="18" charset="0"/>
              </a:rPr>
              <a:t>Laissez-faire </a:t>
            </a:r>
            <a:r>
              <a:rPr lang="en-US" sz="6000" dirty="0">
                <a:latin typeface="Georgia" panose="02040502050405020303" pitchFamily="18" charset="0"/>
              </a:rPr>
              <a:t>leader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66775" y="1825625"/>
            <a:ext cx="4692777" cy="4543037"/>
          </a:xfrm>
        </p:spPr>
        <p:txBody>
          <a:bodyPr>
            <a:normAutofit/>
          </a:bodyPr>
          <a:lstStyle/>
          <a:p>
            <a:r>
              <a:rPr lang="en-US" sz="3200" dirty="0" smtClean="0"/>
              <a:t>He </a:t>
            </a:r>
            <a:r>
              <a:rPr lang="en-US" sz="3200" dirty="0"/>
              <a:t>is Removing Barriers</a:t>
            </a:r>
            <a:r>
              <a:rPr lang="en-US" dirty="0" smtClean="0"/>
              <a:t>:</a:t>
            </a:r>
            <a:endParaRPr lang="en-US" sz="300" dirty="0" smtClean="0"/>
          </a:p>
          <a:p>
            <a:pPr lvl="1">
              <a:buFont typeface="Wingdings" panose="05000000000000000000" pitchFamily="2" charset="2"/>
              <a:buChar char="Ø"/>
            </a:pPr>
            <a:r>
              <a:rPr lang="en-US" dirty="0"/>
              <a:t> </a:t>
            </a:r>
            <a:r>
              <a:rPr lang="en-US" dirty="0">
                <a:latin typeface="Garamond" panose="02020404030301010803" pitchFamily="18" charset="0"/>
              </a:rPr>
              <a:t>Part of doing away with hierarchies is breaking down the barriers between executives and other employees. Zuckerberg’s office has </a:t>
            </a:r>
            <a:r>
              <a:rPr lang="en-US" dirty="0" smtClean="0">
                <a:latin typeface="Garamond" panose="02020404030301010803" pitchFamily="18" charset="0"/>
              </a:rPr>
              <a:t>“glass walls”. </a:t>
            </a:r>
            <a:endParaRPr lang="en-US" dirty="0">
              <a:latin typeface="Garamond" panose="02020404030301010803" pitchFamily="18" charset="0"/>
            </a:endParaRPr>
          </a:p>
        </p:txBody>
      </p:sp>
      <p:cxnSp>
        <p:nvCxnSpPr>
          <p:cNvPr id="5" name="Straight Connector 4"/>
          <p:cNvCxnSpPr/>
          <p:nvPr/>
        </p:nvCxnSpPr>
        <p:spPr>
          <a:xfrm>
            <a:off x="838200" y="1438274"/>
            <a:ext cx="10583862" cy="1"/>
          </a:xfrm>
          <a:prstGeom prst="line">
            <a:avLst/>
          </a:prstGeom>
          <a:ln w="25400">
            <a:solidFill>
              <a:srgbClr val="FF000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pic>
        <p:nvPicPr>
          <p:cNvPr id="4" name="Picture 2" descr="MPK20 – The Facebook headquarters everyone wants to work in | The ...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59552" y="1825625"/>
            <a:ext cx="5862510" cy="431242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4437574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225550"/>
          </a:xfrm>
        </p:spPr>
        <p:txBody>
          <a:bodyPr>
            <a:noAutofit/>
          </a:bodyPr>
          <a:lstStyle/>
          <a:p>
            <a:r>
              <a:rPr lang="en-US" sz="6000" dirty="0" smtClean="0">
                <a:latin typeface="Georgia" panose="02040502050405020303" pitchFamily="18" charset="0"/>
              </a:rPr>
              <a:t>Laissez-faire </a:t>
            </a:r>
            <a:r>
              <a:rPr lang="en-US" sz="6000" dirty="0">
                <a:latin typeface="Georgia" panose="02040502050405020303" pitchFamily="18" charset="0"/>
              </a:rPr>
              <a:t>leader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66776" y="1825625"/>
            <a:ext cx="4548092" cy="4543037"/>
          </a:xfrm>
        </p:spPr>
        <p:txBody>
          <a:bodyPr>
            <a:normAutofit/>
          </a:bodyPr>
          <a:lstStyle/>
          <a:p>
            <a:r>
              <a:rPr lang="en-US" sz="3200" dirty="0" smtClean="0"/>
              <a:t>He has </a:t>
            </a:r>
            <a:r>
              <a:rPr lang="en-US" sz="3200" dirty="0"/>
              <a:t>a Clear Vision</a:t>
            </a:r>
            <a:r>
              <a:rPr lang="en-US" dirty="0" smtClean="0"/>
              <a:t>:</a:t>
            </a:r>
            <a:endParaRPr lang="en-US" sz="300" dirty="0" smtClean="0"/>
          </a:p>
          <a:p>
            <a:pPr lvl="1">
              <a:buFont typeface="Wingdings" panose="05000000000000000000" pitchFamily="2" charset="2"/>
              <a:buChar char="Ø"/>
            </a:pPr>
            <a:r>
              <a:rPr lang="en-US" dirty="0"/>
              <a:t> </a:t>
            </a:r>
            <a:r>
              <a:rPr lang="en-US" dirty="0">
                <a:latin typeface="Garamond" panose="02020404030301010803" pitchFamily="18" charset="0"/>
              </a:rPr>
              <a:t>Mark Zuckerberg’s life’s ambition is to create a more open and connected world and his commitment to that goal is unwavering.</a:t>
            </a:r>
          </a:p>
        </p:txBody>
      </p:sp>
      <p:cxnSp>
        <p:nvCxnSpPr>
          <p:cNvPr id="5" name="Straight Connector 4"/>
          <p:cNvCxnSpPr/>
          <p:nvPr/>
        </p:nvCxnSpPr>
        <p:spPr>
          <a:xfrm>
            <a:off x="838200" y="1438274"/>
            <a:ext cx="10583862" cy="1"/>
          </a:xfrm>
          <a:prstGeom prst="line">
            <a:avLst/>
          </a:prstGeom>
          <a:ln w="25400">
            <a:solidFill>
              <a:srgbClr val="FF000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pic>
        <p:nvPicPr>
          <p:cNvPr id="3074" name="Picture 2" descr="Facebook and Inappropriate Relationships - Women Living Well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23560" y="1825625"/>
            <a:ext cx="5873332" cy="42185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2308501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225550"/>
          </a:xfrm>
        </p:spPr>
        <p:txBody>
          <a:bodyPr>
            <a:noAutofit/>
          </a:bodyPr>
          <a:lstStyle/>
          <a:p>
            <a:r>
              <a:rPr lang="en-US" sz="6000" dirty="0" smtClean="0">
                <a:latin typeface="Georgia" panose="02040502050405020303" pitchFamily="18" charset="0"/>
              </a:rPr>
              <a:t>Laissez-faire </a:t>
            </a:r>
            <a:r>
              <a:rPr lang="en-US" sz="6000" dirty="0">
                <a:latin typeface="Georgia" panose="02040502050405020303" pitchFamily="18" charset="0"/>
              </a:rPr>
              <a:t>leader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66775" y="1825625"/>
            <a:ext cx="5191125" cy="4543037"/>
          </a:xfrm>
        </p:spPr>
        <p:txBody>
          <a:bodyPr>
            <a:normAutofit/>
          </a:bodyPr>
          <a:lstStyle/>
          <a:p>
            <a:r>
              <a:rPr lang="en-US" sz="3200" dirty="0" smtClean="0"/>
              <a:t>He </a:t>
            </a:r>
            <a:r>
              <a:rPr lang="en-US" sz="3200" dirty="0"/>
              <a:t>Empowers Employees</a:t>
            </a:r>
            <a:r>
              <a:rPr lang="en-US" dirty="0" smtClean="0"/>
              <a:t>:</a:t>
            </a:r>
            <a:endParaRPr lang="en-US" sz="300" dirty="0" smtClean="0"/>
          </a:p>
          <a:p>
            <a:pPr lvl="1">
              <a:buFont typeface="Wingdings" panose="05000000000000000000" pitchFamily="2" charset="2"/>
              <a:buChar char="Ø"/>
            </a:pPr>
            <a:r>
              <a:rPr lang="en-US" dirty="0"/>
              <a:t> </a:t>
            </a:r>
            <a:r>
              <a:rPr lang="en-US" dirty="0">
                <a:latin typeface="Garamond" panose="02020404030301010803" pitchFamily="18" charset="0"/>
              </a:rPr>
              <a:t>Employees at Facebook are able to act in creative ways outside the confines of bureaucracy and tradition that exist at many other larger companies. It is a difficult thing to run a company with thousands of employees in a way that maintains adaptability at the individual level.</a:t>
            </a:r>
          </a:p>
        </p:txBody>
      </p:sp>
      <p:pic>
        <p:nvPicPr>
          <p:cNvPr id="1026" name="Picture 2" descr="Mark Zuckerberg từ bỏ những thách thức cá nhân hàng năm của mình ...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34100" y="1825625"/>
            <a:ext cx="5287962" cy="45430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5" name="Straight Connector 4"/>
          <p:cNvCxnSpPr/>
          <p:nvPr/>
        </p:nvCxnSpPr>
        <p:spPr>
          <a:xfrm>
            <a:off x="838200" y="1438274"/>
            <a:ext cx="10583862" cy="1"/>
          </a:xfrm>
          <a:prstGeom prst="line">
            <a:avLst/>
          </a:prstGeom>
          <a:ln w="25400">
            <a:solidFill>
              <a:srgbClr val="FF000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236035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F9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0"/>
            <a:ext cx="6105525" cy="6858000"/>
          </a:xfrm>
          <a:prstGeom prst="rect">
            <a:avLst/>
          </a:prstGeom>
          <a:gradFill flip="none" rotWithShape="1">
            <a:gsLst>
              <a:gs pos="0">
                <a:schemeClr val="accent3">
                  <a:lumMod val="0"/>
                  <a:lumOff val="100000"/>
                </a:schemeClr>
              </a:gs>
              <a:gs pos="35000">
                <a:schemeClr val="accent3">
                  <a:lumMod val="0"/>
                  <a:lumOff val="100000"/>
                </a:schemeClr>
              </a:gs>
              <a:gs pos="100000">
                <a:schemeClr val="accent3">
                  <a:lumMod val="100000"/>
                </a:schemeClr>
              </a:gs>
            </a:gsLst>
            <a:path path="circle">
              <a:fillToRect l="50000" t="-80000" r="50000" b="18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0537" y="365125"/>
            <a:ext cx="5124450" cy="1325563"/>
          </a:xfrm>
        </p:spPr>
        <p:txBody>
          <a:bodyPr>
            <a:normAutofit/>
          </a:bodyPr>
          <a:lstStyle/>
          <a:p>
            <a:pPr algn="ctr"/>
            <a:r>
              <a:rPr lang="en-US" sz="6000" dirty="0" smtClean="0">
                <a:solidFill>
                  <a:srgbClr val="00B050"/>
                </a:solidFill>
                <a:latin typeface="Georgia" panose="02040502050405020303" pitchFamily="18" charset="0"/>
              </a:rPr>
              <a:t>Pros</a:t>
            </a:r>
            <a:endParaRPr lang="en-US" sz="6000" dirty="0">
              <a:solidFill>
                <a:srgbClr val="00B050"/>
              </a:solidFill>
              <a:latin typeface="Georgia" panose="02040502050405020303" pitchFamily="18" charset="0"/>
            </a:endParaRPr>
          </a:p>
        </p:txBody>
      </p:sp>
      <p:graphicFrame>
        <p:nvGraphicFramePr>
          <p:cNvPr id="7" name="Content Placeholder 6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370201603"/>
              </p:ext>
            </p:extLst>
          </p:nvPr>
        </p:nvGraphicFramePr>
        <p:xfrm>
          <a:off x="6629399" y="1781175"/>
          <a:ext cx="5105401" cy="445254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6" name="Title 1"/>
          <p:cNvSpPr txBox="1">
            <a:spLocks/>
          </p:cNvSpPr>
          <p:nvPr/>
        </p:nvSpPr>
        <p:spPr>
          <a:xfrm>
            <a:off x="6619874" y="365125"/>
            <a:ext cx="512445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6000" dirty="0" smtClean="0">
                <a:solidFill>
                  <a:srgbClr val="FF0000"/>
                </a:solidFill>
                <a:latin typeface="Georgia" panose="02040502050405020303" pitchFamily="18" charset="0"/>
              </a:rPr>
              <a:t>Cons</a:t>
            </a:r>
            <a:endParaRPr lang="en-US" sz="6000" dirty="0">
              <a:solidFill>
                <a:srgbClr val="FF0000"/>
              </a:solidFill>
              <a:latin typeface="Georgia" panose="02040502050405020303" pitchFamily="18" charset="0"/>
            </a:endParaRPr>
          </a:p>
        </p:txBody>
      </p:sp>
      <p:graphicFrame>
        <p:nvGraphicFramePr>
          <p:cNvPr id="5" name="Diagram 4"/>
          <p:cNvGraphicFramePr/>
          <p:nvPr>
            <p:extLst>
              <p:ext uri="{D42A27DB-BD31-4B8C-83A1-F6EECF244321}">
                <p14:modId xmlns:p14="http://schemas.microsoft.com/office/powerpoint/2010/main" val="2569903044"/>
              </p:ext>
            </p:extLst>
          </p:nvPr>
        </p:nvGraphicFramePr>
        <p:xfrm>
          <a:off x="404812" y="1781175"/>
          <a:ext cx="5295900" cy="445255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7" r:lo="rId8" r:qs="rId9" r:cs="rId10"/>
          </a:graphicData>
        </a:graphic>
      </p:graphicFrame>
    </p:spTree>
    <p:extLst>
      <p:ext uri="{BB962C8B-B14F-4D97-AF65-F5344CB8AC3E}">
        <p14:creationId xmlns:p14="http://schemas.microsoft.com/office/powerpoint/2010/main" val="476449617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7" grpId="0">
        <p:bldAsOne/>
      </p:bldGraphic>
      <p:bldGraphic spid="5" grpId="0">
        <p:bldAsOne/>
      </p:bldGraphic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527</TotalTime>
  <Words>443</Words>
  <Application>Microsoft Office PowerPoint</Application>
  <PresentationFormat>Widescreen</PresentationFormat>
  <Paragraphs>51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10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23" baseType="lpstr">
      <vt:lpstr>Arial</vt:lpstr>
      <vt:lpstr>Calibri</vt:lpstr>
      <vt:lpstr>Calibri Light</vt:lpstr>
      <vt:lpstr>Century Gothic</vt:lpstr>
      <vt:lpstr>Garamond</vt:lpstr>
      <vt:lpstr>Georgia</vt:lpstr>
      <vt:lpstr>Helvetica</vt:lpstr>
      <vt:lpstr>Tahoma</vt:lpstr>
      <vt:lpstr>Verdana</vt:lpstr>
      <vt:lpstr>Wingdings</vt:lpstr>
      <vt:lpstr>Office Theme</vt:lpstr>
      <vt:lpstr>Mark Zuckerberg</vt:lpstr>
      <vt:lpstr>Introduction</vt:lpstr>
      <vt:lpstr>Introduction</vt:lpstr>
      <vt:lpstr>Mark Zuckerberg  </vt:lpstr>
      <vt:lpstr>Laissez-faire leader</vt:lpstr>
      <vt:lpstr>Open communication culture</vt:lpstr>
      <vt:lpstr>Laissez-faire leader</vt:lpstr>
      <vt:lpstr>Laissez-faire leader</vt:lpstr>
      <vt:lpstr>Laissez-faire leader</vt:lpstr>
      <vt:lpstr>Laissez-faire leader</vt:lpstr>
      <vt:lpstr>Laissez-faire leader</vt:lpstr>
      <vt:lpstr>Pros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Mark Zuckerberg</dc:title>
  <dc:creator>Admin</dc:creator>
  <cp:lastModifiedBy>Admin</cp:lastModifiedBy>
  <cp:revision>50</cp:revision>
  <dcterms:created xsi:type="dcterms:W3CDTF">2020-06-14T02:58:04Z</dcterms:created>
  <dcterms:modified xsi:type="dcterms:W3CDTF">2020-06-15T10:13:59Z</dcterms:modified>
</cp:coreProperties>
</file>