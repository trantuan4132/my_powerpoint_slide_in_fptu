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5"/>
  </p:notesMasterIdLst>
  <p:sldIdLst>
    <p:sldId id="287" r:id="rId2"/>
    <p:sldId id="288" r:id="rId3"/>
    <p:sldId id="289" r:id="rId4"/>
    <p:sldId id="261" r:id="rId5"/>
    <p:sldId id="290" r:id="rId6"/>
    <p:sldId id="270" r:id="rId7"/>
    <p:sldId id="291" r:id="rId8"/>
    <p:sldId id="292" r:id="rId9"/>
    <p:sldId id="293" r:id="rId10"/>
    <p:sldId id="263" r:id="rId11"/>
    <p:sldId id="294" r:id="rId12"/>
    <p:sldId id="295" r:id="rId13"/>
    <p:sldId id="299" r:id="rId14"/>
    <p:sldId id="300" r:id="rId15"/>
    <p:sldId id="260" r:id="rId16"/>
    <p:sldId id="301" r:id="rId17"/>
    <p:sldId id="298" r:id="rId18"/>
    <p:sldId id="303" r:id="rId19"/>
    <p:sldId id="304" r:id="rId20"/>
    <p:sldId id="305" r:id="rId21"/>
    <p:sldId id="310" r:id="rId22"/>
    <p:sldId id="308" r:id="rId23"/>
    <p:sldId id="279" r:id="rId24"/>
  </p:sldIdLst>
  <p:sldSz cx="9144000" cy="5143500" type="screen16x9"/>
  <p:notesSz cx="6858000" cy="9144000"/>
  <p:embeddedFontLst>
    <p:embeddedFont>
      <p:font typeface="Open Sans" panose="020B0604020202020204" charset="0"/>
      <p:regular r:id="rId26"/>
      <p:bold r:id="rId27"/>
      <p:italic r:id="rId28"/>
      <p:boldItalic r:id="rId29"/>
    </p:embeddedFont>
    <p:embeddedFont>
      <p:font typeface="Bahnschrift Light SemiCondensed" panose="020B0502040204020203" pitchFamily="34" charset="0"/>
      <p:regular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Oswald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607896"/>
    <a:srgbClr val="0000FF"/>
    <a:srgbClr val="379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1ADB79-0709-46BD-95C0-5ED8D711E66A}">
  <a:tblStyle styleId="{A71ADB79-0709-46BD-95C0-5ED8D711E6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69426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885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406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161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850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37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94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978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130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571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340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449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392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167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714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6197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17387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0906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406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990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6816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55122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6035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4436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FF9900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25" name="Google Shape;25;p3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30" name="Google Shape;30;p3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31" name="Google Shape;31;p3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36" name="Google Shape;36;p3"/>
          <p:cNvSpPr txBox="1">
            <a:spLocks noGrp="1"/>
          </p:cNvSpPr>
          <p:nvPr>
            <p:ph type="ctrTitle"/>
          </p:nvPr>
        </p:nvSpPr>
        <p:spPr>
          <a:xfrm>
            <a:off x="685800" y="2421550"/>
            <a:ext cx="50745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1"/>
          </p:nvPr>
        </p:nvSpPr>
        <p:spPr>
          <a:xfrm>
            <a:off x="685800" y="3449654"/>
            <a:ext cx="50745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2822775" y="2161800"/>
            <a:ext cx="34983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»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●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○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■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grpSp>
        <p:nvGrpSpPr>
          <p:cNvPr id="41" name="Google Shape;41;p4"/>
          <p:cNvGrpSpPr/>
          <p:nvPr/>
        </p:nvGrpSpPr>
        <p:grpSpPr>
          <a:xfrm>
            <a:off x="5609666" y="2185857"/>
            <a:ext cx="3534604" cy="3432788"/>
            <a:chOff x="6172200" y="2656118"/>
            <a:chExt cx="2971754" cy="2886151"/>
          </a:xfrm>
        </p:grpSpPr>
        <p:sp>
          <p:nvSpPr>
            <p:cNvPr id="42" name="Google Shape;42;p4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grpSp>
        <p:nvGrpSpPr>
          <p:cNvPr id="47" name="Google Shape;47;p4"/>
          <p:cNvGrpSpPr/>
          <p:nvPr/>
        </p:nvGrpSpPr>
        <p:grpSpPr>
          <a:xfrm>
            <a:off x="-22" y="-324543"/>
            <a:ext cx="3068579" cy="1910876"/>
            <a:chOff x="-32" y="-215963"/>
            <a:chExt cx="2163561" cy="1347300"/>
          </a:xfrm>
        </p:grpSpPr>
        <p:sp>
          <p:nvSpPr>
            <p:cNvPr id="48" name="Google Shape;48;p4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53" name="Google Shape;53;p4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5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56" name="Google Shape;56;p5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61" name="Google Shape;61;p5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62" name="Google Shape;62;p5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»"/>
              <a:defRPr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6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72" name="Google Shape;72;p6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77" name="Google Shape;77;p6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78" name="Google Shape;78;p6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83" name="Google Shape;83;p6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body" idx="1"/>
          </p:nvPr>
        </p:nvSpPr>
        <p:spPr>
          <a:xfrm>
            <a:off x="1031425" y="1860875"/>
            <a:ext cx="2796000" cy="3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»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5" name="Google Shape;85;p6"/>
          <p:cNvSpPr txBox="1">
            <a:spLocks noGrp="1"/>
          </p:cNvSpPr>
          <p:nvPr>
            <p:ph type="body" idx="2"/>
          </p:nvPr>
        </p:nvSpPr>
        <p:spPr>
          <a:xfrm>
            <a:off x="3995772" y="1860875"/>
            <a:ext cx="2796000" cy="3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»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⋄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86" name="Google Shape;86;p6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137" name="Google Shape;137;p10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0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0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142" name="Google Shape;142;p10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43" name="Google Shape;143;p10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0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0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0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0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148" name="Google Shape;148;p10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parent Shapes">
  <p:cSld name="BLANK_1">
    <p:bg>
      <p:bgPr>
        <a:solidFill>
          <a:srgbClr val="3796B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1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151" name="Google Shape;151;p11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>
                <a:alpha val="33460"/>
              </a:srgbClr>
            </a:solidFill>
            <a:ln>
              <a:noFill/>
            </a:ln>
          </p:spPr>
        </p:sp>
      </p:grpSp>
      <p:grpSp>
        <p:nvGrpSpPr>
          <p:cNvPr id="156" name="Google Shape;156;p11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57" name="Google Shape;157;p11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1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>
                <a:alpha val="33460"/>
              </a:srgbClr>
            </a:solidFill>
            <a:ln>
              <a:noFill/>
            </a:ln>
          </p:spPr>
        </p:sp>
      </p:grpSp>
      <p:sp>
        <p:nvSpPr>
          <p:cNvPr id="162" name="Google Shape;162;p1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4BB5D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5609666" y="2185857"/>
            <a:ext cx="3534604" cy="3432788"/>
            <a:chOff x="6172200" y="2656118"/>
            <a:chExt cx="2971754" cy="2886151"/>
          </a:xfrm>
        </p:grpSpPr>
        <p:sp>
          <p:nvSpPr>
            <p:cNvPr id="11" name="Google Shape;11;p2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6" name="Google Shape;16;p2"/>
          <p:cNvGrpSpPr/>
          <p:nvPr/>
        </p:nvGrpSpPr>
        <p:grpSpPr>
          <a:xfrm>
            <a:off x="-22" y="-324543"/>
            <a:ext cx="3068579" cy="1910876"/>
            <a:chOff x="-32" y="-215963"/>
            <a:chExt cx="2163561" cy="1347300"/>
          </a:xfrm>
        </p:grpSpPr>
        <p:sp>
          <p:nvSpPr>
            <p:cNvPr id="17" name="Google Shape;17;p2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2753825"/>
            <a:ext cx="56715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531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rgbClr val="4BB5D9"/>
              </a:buClr>
              <a:buSzPts val="2000"/>
              <a:buFont typeface="Roboto Condensed"/>
              <a:buChar char="»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4BB5D9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●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○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■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7" r:id="rId6"/>
    <p:sldLayoutId id="2147483659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33 Best ONE DIRECTION LOGO images | One direction logo, One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 t="2755" r="1814" b="3707"/>
          <a:stretch/>
        </p:blipFill>
        <p:spPr bwMode="auto">
          <a:xfrm>
            <a:off x="5663074" y="1573497"/>
            <a:ext cx="2340863" cy="227719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Google Shape;167;p12"/>
          <p:cNvSpPr txBox="1">
            <a:spLocks noGrp="1"/>
          </p:cNvSpPr>
          <p:nvPr>
            <p:ph type="ctrTitle"/>
          </p:nvPr>
        </p:nvSpPr>
        <p:spPr>
          <a:xfrm>
            <a:off x="282082" y="1984203"/>
            <a:ext cx="6364224" cy="165048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-US" sz="6000" smtClean="0"/>
              <a:t>ONE DIRECTION</a:t>
            </a:r>
            <a:endParaRPr sz="6000" dirty="0"/>
          </a:p>
        </p:txBody>
      </p:sp>
      <p:sp>
        <p:nvSpPr>
          <p:cNvPr id="2" name="Rectangle 1"/>
          <p:cNvSpPr/>
          <p:nvPr/>
        </p:nvSpPr>
        <p:spPr>
          <a:xfrm>
            <a:off x="282082" y="2052955"/>
            <a:ext cx="41280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smtClean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The heartbreaking fall of</a:t>
            </a:r>
            <a:endParaRPr lang="en-US" sz="3200" dirty="0">
              <a:solidFill>
                <a:schemeClr val="bg1"/>
              </a:solidFill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80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>
            <a:spLocks noGrp="1"/>
          </p:cNvSpPr>
          <p:nvPr>
            <p:ph type="body" idx="1"/>
          </p:nvPr>
        </p:nvSpPr>
        <p:spPr>
          <a:xfrm>
            <a:off x="1862028" y="948422"/>
            <a:ext cx="5453172" cy="375175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endParaRPr sz="1200" dirty="0"/>
          </a:p>
          <a:p>
            <a:pPr marL="0" indent="0">
              <a:spcBef>
                <a:spcPts val="450"/>
              </a:spcBef>
              <a:buNone/>
            </a:pPr>
            <a:r>
              <a:rPr lang="en-US" sz="4050" b="1" dirty="0">
                <a:solidFill>
                  <a:srgbClr val="00B0F0"/>
                </a:solidFill>
                <a:latin typeface="Montserrat" panose="00000500000000000000" pitchFamily="2" charset="0"/>
              </a:rPr>
              <a:t>I.    </a:t>
            </a:r>
            <a:r>
              <a:rPr lang="en-US" sz="4050" b="1" dirty="0">
                <a:latin typeface="Montserrat" panose="00000500000000000000" pitchFamily="2" charset="0"/>
              </a:rPr>
              <a:t>Introduction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4050" b="1" dirty="0">
                <a:solidFill>
                  <a:srgbClr val="00B0F0"/>
                </a:solidFill>
                <a:latin typeface="Montserrat" panose="00000500000000000000" pitchFamily="2" charset="0"/>
              </a:rPr>
              <a:t>II.   </a:t>
            </a:r>
            <a:r>
              <a:rPr lang="en-US" sz="4050" b="1" dirty="0">
                <a:latin typeface="Montserrat" panose="00000500000000000000" pitchFamily="2" charset="0"/>
              </a:rPr>
              <a:t>Conflict</a:t>
            </a:r>
          </a:p>
          <a:p>
            <a:pPr marL="342900" lvl="1" indent="0">
              <a:spcBef>
                <a:spcPts val="750"/>
              </a:spcBef>
              <a:buNone/>
            </a:pPr>
            <a:r>
              <a:rPr lang="en-US" sz="2400" dirty="0">
                <a:solidFill>
                  <a:schemeClr val="accent2"/>
                </a:solidFill>
                <a:latin typeface="Montserrat" panose="00000500000000000000" pitchFamily="2" charset="0"/>
              </a:rPr>
              <a:t>   </a:t>
            </a:r>
            <a:r>
              <a:rPr lang="en-US" sz="3200" dirty="0">
                <a:solidFill>
                  <a:schemeClr val="accent4"/>
                </a:solidFill>
                <a:latin typeface="Montserrat" panose="00000500000000000000" pitchFamily="2" charset="0"/>
              </a:rPr>
              <a:t>1.  </a:t>
            </a:r>
            <a:r>
              <a:rPr lang="en-US" sz="3200" dirty="0" smtClean="0">
                <a:solidFill>
                  <a:schemeClr val="accent4"/>
                </a:solidFill>
                <a:latin typeface="Montserrat" panose="00000500000000000000" pitchFamily="2" charset="0"/>
              </a:rPr>
              <a:t> </a:t>
            </a:r>
            <a:r>
              <a:rPr lang="en-US" sz="3200" dirty="0" smtClean="0">
                <a:latin typeface="Montserrat" panose="00000500000000000000" pitchFamily="2" charset="0"/>
              </a:rPr>
              <a:t>Substantive </a:t>
            </a:r>
            <a:r>
              <a:rPr lang="en-US" sz="3200" dirty="0">
                <a:latin typeface="Montserrat" panose="00000500000000000000" pitchFamily="2" charset="0"/>
              </a:rPr>
              <a:t>Conflict</a:t>
            </a:r>
          </a:p>
          <a:p>
            <a:pPr marL="342900" lvl="1" indent="0">
              <a:spcBef>
                <a:spcPts val="750"/>
              </a:spcBef>
              <a:buNone/>
            </a:pPr>
            <a:r>
              <a:rPr lang="en-US" sz="3200" dirty="0">
                <a:solidFill>
                  <a:schemeClr val="accent2"/>
                </a:solidFill>
                <a:latin typeface="Montserrat" panose="00000500000000000000" pitchFamily="2" charset="0"/>
              </a:rPr>
              <a:t>  </a:t>
            </a:r>
            <a:r>
              <a:rPr lang="en-US" sz="3200" dirty="0" smtClean="0">
                <a:solidFill>
                  <a:schemeClr val="accent4"/>
                </a:solidFill>
                <a:latin typeface="Montserrat" panose="00000500000000000000" pitchFamily="2" charset="0"/>
              </a:rPr>
              <a:t>2</a:t>
            </a:r>
            <a:r>
              <a:rPr lang="en-US" sz="3200" dirty="0">
                <a:solidFill>
                  <a:schemeClr val="accent4"/>
                </a:solidFill>
                <a:latin typeface="Montserrat" panose="00000500000000000000" pitchFamily="2" charset="0"/>
              </a:rPr>
              <a:t>.  </a:t>
            </a:r>
            <a:r>
              <a:rPr lang="en-US" sz="3200" dirty="0" smtClean="0">
                <a:solidFill>
                  <a:schemeClr val="accent4"/>
                </a:solidFill>
                <a:latin typeface="Montserrat" panose="00000500000000000000" pitchFamily="2" charset="0"/>
              </a:rPr>
              <a:t> </a:t>
            </a:r>
            <a:r>
              <a:rPr lang="en-US" sz="3200" dirty="0" smtClean="0">
                <a:latin typeface="Montserrat" panose="00000500000000000000" pitchFamily="2" charset="0"/>
              </a:rPr>
              <a:t>Affective </a:t>
            </a:r>
            <a:r>
              <a:rPr lang="en-US" sz="3200" dirty="0">
                <a:latin typeface="Montserrat" panose="00000500000000000000" pitchFamily="2" charset="0"/>
              </a:rPr>
              <a:t>Conflict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176" name="Google Shape;176;p13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41550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>
            <a:spLocks noGrp="1"/>
          </p:cNvSpPr>
          <p:nvPr>
            <p:ph type="ctrTitle"/>
          </p:nvPr>
        </p:nvSpPr>
        <p:spPr>
          <a:xfrm>
            <a:off x="706374" y="2058076"/>
            <a:ext cx="7344918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 sz="7200" dirty="0">
                <a:solidFill>
                  <a:srgbClr val="3796BF"/>
                </a:solidFill>
                <a:latin typeface="Oswald" pitchFamily="2" charset="0"/>
              </a:rPr>
              <a:t>I. </a:t>
            </a:r>
            <a:r>
              <a:rPr lang="en" sz="7200" dirty="0">
                <a:solidFill>
                  <a:schemeClr val="bg1"/>
                </a:solidFill>
                <a:latin typeface="Oswald" pitchFamily="2" charset="0"/>
              </a:rPr>
              <a:t>Introduction</a:t>
            </a:r>
            <a:endParaRPr sz="7200" dirty="0">
              <a:solidFill>
                <a:schemeClr val="bg1"/>
              </a:solidFill>
              <a:latin typeface="Oswald" pitchFamily="2" charset="0"/>
            </a:endParaRPr>
          </a:p>
        </p:txBody>
      </p:sp>
      <p:sp>
        <p:nvSpPr>
          <p:cNvPr id="191" name="Google Shape;191;p1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66453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302878" y="1043845"/>
            <a:ext cx="5760300" cy="8008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smtClean="0">
                <a:latin typeface="Oswald" pitchFamily="2" charset="0"/>
              </a:rPr>
              <a:t>I. Introduction</a:t>
            </a:r>
            <a:endParaRPr sz="4400" dirty="0">
              <a:latin typeface="Oswald" pitchFamily="2" charset="0"/>
            </a:endParaRPr>
          </a:p>
        </p:txBody>
      </p:sp>
      <p:sp>
        <p:nvSpPr>
          <p:cNvPr id="203" name="Google Shape;203;p17"/>
          <p:cNvSpPr txBox="1">
            <a:spLocks noGrp="1"/>
          </p:cNvSpPr>
          <p:nvPr>
            <p:ph type="body" idx="1"/>
          </p:nvPr>
        </p:nvSpPr>
        <p:spPr>
          <a:xfrm>
            <a:off x="213668" y="1808501"/>
            <a:ext cx="5760300" cy="2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»"/>
            </a:pPr>
            <a:r>
              <a:rPr lang="en" sz="2400" dirty="0" smtClean="0"/>
              <a:t>Founded in </a:t>
            </a:r>
            <a:r>
              <a:rPr lang="en" sz="2400" i="1" dirty="0" smtClean="0">
                <a:solidFill>
                  <a:schemeClr val="accent4"/>
                </a:solidFill>
              </a:rPr>
              <a:t>2010</a:t>
            </a:r>
          </a:p>
          <a:p>
            <a:pPr lvl="0"/>
            <a:r>
              <a:rPr lang="en" sz="2400" dirty="0" smtClean="0"/>
              <a:t>An </a:t>
            </a:r>
            <a:r>
              <a:rPr lang="en-US" sz="2400" dirty="0"/>
              <a:t>English-Irish pop boy </a:t>
            </a:r>
            <a:r>
              <a:rPr lang="en-US" sz="2400" dirty="0" smtClean="0"/>
              <a:t>band</a:t>
            </a:r>
            <a:endParaRPr lang="en" sz="2400" dirty="0" smtClean="0"/>
          </a:p>
          <a:p>
            <a:pPr lvl="0"/>
            <a:r>
              <a:rPr lang="en-US" sz="2400" dirty="0" smtClean="0"/>
              <a:t>Composed </a:t>
            </a:r>
            <a:r>
              <a:rPr lang="en-US" sz="2400" dirty="0"/>
              <a:t>of </a:t>
            </a:r>
            <a:r>
              <a:rPr lang="en" sz="2400" i="1" dirty="0" smtClean="0">
                <a:solidFill>
                  <a:schemeClr val="accent4"/>
                </a:solidFill>
              </a:rPr>
              <a:t>5</a:t>
            </a:r>
            <a:r>
              <a:rPr lang="en" sz="2400" dirty="0" smtClean="0"/>
              <a:t> members</a:t>
            </a:r>
            <a:endParaRPr sz="2400" dirty="0"/>
          </a:p>
        </p:txBody>
      </p:sp>
      <p:sp>
        <p:nvSpPr>
          <p:cNvPr id="204" name="Google Shape;204;p1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4098" name="Picture 2" descr="Sau Simon Cowell, đến lượt Liam Payne khẳng định sự trở lại của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87" y="1122228"/>
            <a:ext cx="4065971" cy="27509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pic>
        <p:nvPicPr>
          <p:cNvPr id="8" name="Picture 4" descr="www.gstatic.com/tv/thumb/persons/883224/883224_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349" y="738088"/>
            <a:ext cx="1371600" cy="147994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www.gstatic.com/tv/thumb/persons/878202/878202_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931" y="772784"/>
            <a:ext cx="1367845" cy="146644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Niall Horan – Wikipedia tiếng Việt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6" r="13888" b="28873"/>
          <a:stretch/>
        </p:blipFill>
        <p:spPr bwMode="auto">
          <a:xfrm>
            <a:off x="2129623" y="2841107"/>
            <a:ext cx="1468335" cy="147994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Liam Payne - Hợp Âm Chuẩn - Thư viện hợp âm lớn nhất Việt Nam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3" r="14189" b="-886"/>
          <a:stretch/>
        </p:blipFill>
        <p:spPr bwMode="auto">
          <a:xfrm>
            <a:off x="5504605" y="2841107"/>
            <a:ext cx="1528763" cy="14909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6" descr="Harry Styles | nhac Harry Style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40" y="709208"/>
            <a:ext cx="1479946" cy="147994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65642" y="2218035"/>
            <a:ext cx="2245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07896"/>
                </a:solidFill>
                <a:latin typeface="Montserrat" panose="00000500000000000000" pitchFamily="2" charset="0"/>
              </a:rPr>
              <a:t>Harry Styles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7959" y="2218035"/>
            <a:ext cx="2118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07896"/>
                </a:solidFill>
                <a:latin typeface="Montserrat" panose="00000500000000000000" pitchFamily="2" charset="0"/>
              </a:rPr>
              <a:t>Zayn Malik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086" y="4332007"/>
            <a:ext cx="196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07896"/>
                </a:solidFill>
                <a:latin typeface="Montserrat" panose="00000500000000000000" pitchFamily="2" charset="0"/>
              </a:rPr>
              <a:t>Niall Horan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2800" y="2239225"/>
            <a:ext cx="285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07896"/>
                </a:solidFill>
                <a:latin typeface="Montserrat" panose="00000500000000000000" pitchFamily="2" charset="0"/>
              </a:rPr>
              <a:t>Louis Tomlinson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4290" y="4332007"/>
            <a:ext cx="2223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07896"/>
                </a:solidFill>
                <a:latin typeface="Montserrat" panose="00000500000000000000" pitchFamily="2" charset="0"/>
              </a:rPr>
              <a:t>Liam Payne</a:t>
            </a:r>
          </a:p>
        </p:txBody>
      </p:sp>
    </p:spTree>
    <p:extLst>
      <p:ext uri="{BB962C8B-B14F-4D97-AF65-F5344CB8AC3E}">
        <p14:creationId xmlns:p14="http://schemas.microsoft.com/office/powerpoint/2010/main" val="267405987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>
            <a:spLocks noGrp="1"/>
          </p:cNvSpPr>
          <p:nvPr>
            <p:ph type="ctrTitle" idx="4294967295"/>
          </p:nvPr>
        </p:nvSpPr>
        <p:spPr>
          <a:xfrm>
            <a:off x="685800" y="2345350"/>
            <a:ext cx="6996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 smtClean="0">
                <a:solidFill>
                  <a:srgbClr val="FF9900"/>
                </a:solidFill>
              </a:rPr>
              <a:t>~200</a:t>
            </a:r>
            <a:endParaRPr sz="9600" dirty="0">
              <a:solidFill>
                <a:srgbClr val="FF9900"/>
              </a:solidFill>
            </a:endParaRPr>
          </a:p>
        </p:txBody>
      </p:sp>
      <p:sp>
        <p:nvSpPr>
          <p:cNvPr id="291" name="Google Shape;291;p26"/>
          <p:cNvSpPr txBox="1">
            <a:spLocks noGrp="1"/>
          </p:cNvSpPr>
          <p:nvPr>
            <p:ph type="subTitle" idx="4294967295"/>
          </p:nvPr>
        </p:nvSpPr>
        <p:spPr>
          <a:xfrm>
            <a:off x="3566584" y="2519654"/>
            <a:ext cx="6078900" cy="677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dirty="0"/>
              <a:t>a</a:t>
            </a:r>
            <a:r>
              <a:rPr lang="en-US" sz="3200" dirty="0" smtClean="0"/>
              <a:t>wards earned</a:t>
            </a:r>
            <a:endParaRPr sz="3200" dirty="0"/>
          </a:p>
        </p:txBody>
      </p:sp>
      <p:sp>
        <p:nvSpPr>
          <p:cNvPr id="292" name="Google Shape;292;p26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5" name="Google Shape;490;p38"/>
          <p:cNvGrpSpPr/>
          <p:nvPr/>
        </p:nvGrpSpPr>
        <p:grpSpPr>
          <a:xfrm>
            <a:off x="2808000" y="756000"/>
            <a:ext cx="1510165" cy="1252081"/>
            <a:chOff x="5297950" y="1632050"/>
            <a:chExt cx="426200" cy="431100"/>
          </a:xfrm>
        </p:grpSpPr>
        <p:sp>
          <p:nvSpPr>
            <p:cNvPr id="6" name="Google Shape;491;p38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92;p38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490;p38"/>
          <p:cNvGrpSpPr/>
          <p:nvPr/>
        </p:nvGrpSpPr>
        <p:grpSpPr>
          <a:xfrm>
            <a:off x="6192644" y="1375317"/>
            <a:ext cx="1489756" cy="1821483"/>
            <a:chOff x="5297950" y="1632050"/>
            <a:chExt cx="426200" cy="431100"/>
          </a:xfrm>
          <a:solidFill>
            <a:schemeClr val="accent1"/>
          </a:solidFill>
        </p:grpSpPr>
        <p:sp>
          <p:nvSpPr>
            <p:cNvPr id="10" name="Google Shape;491;p38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92;p38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2050" name="Picture 2" descr="One Direction Net Worth - Money N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282" y="1"/>
            <a:ext cx="3813717" cy="515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735173"/>
            <a:ext cx="5580000" cy="2521200"/>
          </a:xfrm>
        </p:spPr>
        <p:txBody>
          <a:bodyPr/>
          <a:lstStyle/>
          <a:p>
            <a:pPr marL="101600" indent="0">
              <a:buNone/>
            </a:pPr>
            <a:r>
              <a:rPr lang="en-US" dirty="0" smtClean="0"/>
              <a:t> </a:t>
            </a:r>
            <a:r>
              <a:rPr lang="en-US" sz="6600" b="1" dirty="0">
                <a:solidFill>
                  <a:srgbClr val="FF9900"/>
                </a:solidFill>
                <a:latin typeface="Open Sans"/>
              </a:rPr>
              <a:t>$</a:t>
            </a:r>
            <a:r>
              <a:rPr lang="en-US" sz="6600" b="1" dirty="0" smtClean="0">
                <a:solidFill>
                  <a:srgbClr val="FF9900"/>
                </a:solidFill>
                <a:latin typeface="Open Sans"/>
              </a:rPr>
              <a:t>398,313,661</a:t>
            </a:r>
          </a:p>
          <a:p>
            <a:pPr marL="101600" indent="0">
              <a:buNone/>
            </a:pPr>
            <a:r>
              <a:rPr lang="en-US" sz="3200" b="1" dirty="0">
                <a:latin typeface="Open Sans"/>
              </a:rPr>
              <a:t> </a:t>
            </a:r>
            <a:r>
              <a:rPr lang="en-US" sz="3200" dirty="0" smtClean="0">
                <a:latin typeface="Open Sans"/>
              </a:rPr>
              <a:t>earned in 2016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668509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>
            <a:spLocks noGrp="1"/>
          </p:cNvSpPr>
          <p:nvPr>
            <p:ph type="ctrTitle"/>
          </p:nvPr>
        </p:nvSpPr>
        <p:spPr>
          <a:xfrm>
            <a:off x="550338" y="1911302"/>
            <a:ext cx="8006446" cy="15583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-US" sz="2800" b="0" dirty="0" smtClean="0">
                <a:latin typeface="Roboto Condensed"/>
              </a:rPr>
              <a:t>With the departure </a:t>
            </a:r>
            <a:r>
              <a:rPr lang="en-US" sz="2800" b="0" dirty="0">
                <a:latin typeface="Roboto Condensed"/>
              </a:rPr>
              <a:t>of </a:t>
            </a:r>
            <a:r>
              <a:rPr lang="en-US" sz="2800" dirty="0">
                <a:latin typeface="Roboto Condensed"/>
              </a:rPr>
              <a:t>Zayn </a:t>
            </a:r>
            <a:r>
              <a:rPr lang="en-US" sz="2800" dirty="0" err="1">
                <a:latin typeface="Roboto Condensed"/>
              </a:rPr>
              <a:t>Mailk</a:t>
            </a:r>
            <a:r>
              <a:rPr lang="en-US" sz="2800" b="0" dirty="0">
                <a:latin typeface="Roboto Condensed"/>
              </a:rPr>
              <a:t> </a:t>
            </a:r>
            <a:r>
              <a:rPr lang="en-US" sz="2800" b="0" dirty="0" smtClean="0">
                <a:latin typeface="Roboto Condensed"/>
              </a:rPr>
              <a:t>(March 2015), </a:t>
            </a:r>
            <a:r>
              <a:rPr lang="en-US" sz="2800" dirty="0">
                <a:latin typeface="Roboto Condensed"/>
              </a:rPr>
              <a:t>the group slowly </a:t>
            </a:r>
            <a:r>
              <a:rPr lang="en-US" sz="2800" i="1" dirty="0">
                <a:solidFill>
                  <a:schemeClr val="tx1"/>
                </a:solidFill>
                <a:latin typeface="Roboto Condensed"/>
              </a:rPr>
              <a:t>breaks apart </a:t>
            </a:r>
            <a:r>
              <a:rPr lang="en-US" sz="2800" dirty="0">
                <a:latin typeface="Roboto Condensed"/>
              </a:rPr>
              <a:t>and was eventually </a:t>
            </a:r>
            <a:r>
              <a:rPr lang="en-US" sz="2800" i="1" dirty="0">
                <a:solidFill>
                  <a:schemeClr val="tx1"/>
                </a:solidFill>
                <a:latin typeface="Roboto Condensed"/>
              </a:rPr>
              <a:t>disbanded</a:t>
            </a:r>
            <a:r>
              <a:rPr lang="en-US" sz="2800" dirty="0">
                <a:latin typeface="Roboto Condensed"/>
              </a:rPr>
              <a:t>.</a:t>
            </a:r>
            <a:endParaRPr sz="2800" dirty="0">
              <a:solidFill>
                <a:schemeClr val="bg1"/>
              </a:solidFill>
              <a:latin typeface="Roboto Condensed"/>
            </a:endParaRPr>
          </a:p>
        </p:txBody>
      </p:sp>
      <p:sp>
        <p:nvSpPr>
          <p:cNvPr id="191" name="Google Shape;191;p1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13302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>
            <a:spLocks noGrp="1"/>
          </p:cNvSpPr>
          <p:nvPr>
            <p:ph type="ctrTitle"/>
          </p:nvPr>
        </p:nvSpPr>
        <p:spPr>
          <a:xfrm>
            <a:off x="706374" y="2058076"/>
            <a:ext cx="7344918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 sz="7200" dirty="0" smtClean="0">
                <a:solidFill>
                  <a:srgbClr val="3796BF"/>
                </a:solidFill>
                <a:latin typeface="Oswald" pitchFamily="2" charset="0"/>
              </a:rPr>
              <a:t>II. </a:t>
            </a:r>
            <a:r>
              <a:rPr lang="en" sz="7200" dirty="0" smtClean="0">
                <a:solidFill>
                  <a:schemeClr val="bg1"/>
                </a:solidFill>
                <a:latin typeface="Oswald" pitchFamily="2" charset="0"/>
              </a:rPr>
              <a:t>Conflict</a:t>
            </a:r>
            <a:endParaRPr sz="7200" dirty="0">
              <a:solidFill>
                <a:schemeClr val="bg1"/>
              </a:solidFill>
              <a:latin typeface="Oswald" pitchFamily="2" charset="0"/>
            </a:endParaRPr>
          </a:p>
        </p:txBody>
      </p:sp>
      <p:sp>
        <p:nvSpPr>
          <p:cNvPr id="191" name="Google Shape;191;p1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571790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>
            <a:spLocks noGrp="1"/>
          </p:cNvSpPr>
          <p:nvPr>
            <p:ph type="body" idx="1"/>
          </p:nvPr>
        </p:nvSpPr>
        <p:spPr>
          <a:xfrm>
            <a:off x="705998" y="1860875"/>
            <a:ext cx="3428918" cy="3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400" b="1" dirty="0">
                <a:latin typeface="Montserrat" panose="00000500000000000000" pitchFamily="2" charset="0"/>
              </a:rPr>
              <a:t>Substantive </a:t>
            </a:r>
            <a:r>
              <a:rPr lang="en-US" sz="2400" b="1" dirty="0" smtClean="0">
                <a:latin typeface="Montserrat" panose="00000500000000000000" pitchFamily="2" charset="0"/>
              </a:rPr>
              <a:t>Conflict</a:t>
            </a:r>
          </a:p>
          <a:p>
            <a:pPr marL="0" lvl="0" indent="0">
              <a:buNone/>
            </a:pPr>
            <a:r>
              <a:rPr lang="en-US" sz="1600" dirty="0" smtClean="0"/>
              <a:t>Zayn </a:t>
            </a:r>
            <a:r>
              <a:rPr lang="en-US" sz="1600" dirty="0"/>
              <a:t>left the group to pursuit his own career</a:t>
            </a:r>
            <a:endParaRPr lang="en-US" sz="1600" b="1" dirty="0" smtClean="0"/>
          </a:p>
        </p:txBody>
      </p:sp>
      <p:sp>
        <p:nvSpPr>
          <p:cNvPr id="230" name="Google Shape;230;p19"/>
          <p:cNvSpPr txBox="1">
            <a:spLocks noGrp="1"/>
          </p:cNvSpPr>
          <p:nvPr>
            <p:ph type="title"/>
          </p:nvPr>
        </p:nvSpPr>
        <p:spPr>
          <a:xfrm>
            <a:off x="729083" y="744794"/>
            <a:ext cx="5760300" cy="10856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smtClean="0">
                <a:latin typeface="Oswald" pitchFamily="2" charset="0"/>
              </a:rPr>
              <a:t>II. Conflict</a:t>
            </a:r>
            <a:endParaRPr sz="4400" dirty="0">
              <a:latin typeface="Oswald" pitchFamily="2" charset="0"/>
            </a:endParaRPr>
          </a:p>
        </p:txBody>
      </p:sp>
      <p:sp>
        <p:nvSpPr>
          <p:cNvPr id="231" name="Google Shape;231;p19"/>
          <p:cNvSpPr txBox="1">
            <a:spLocks noGrp="1"/>
          </p:cNvSpPr>
          <p:nvPr>
            <p:ph type="body" idx="2"/>
          </p:nvPr>
        </p:nvSpPr>
        <p:spPr>
          <a:xfrm>
            <a:off x="4460342" y="1860875"/>
            <a:ext cx="3651265" cy="3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400" b="1" dirty="0" smtClean="0">
                <a:latin typeface="Montserrat" panose="00000500000000000000" pitchFamily="2" charset="0"/>
              </a:rPr>
              <a:t>Affective Conflict</a:t>
            </a:r>
          </a:p>
          <a:p>
            <a:pPr marL="0" lvl="0" indent="0">
              <a:buNone/>
            </a:pPr>
            <a:r>
              <a:rPr lang="en-US" sz="1600" dirty="0" smtClean="0"/>
              <a:t>Louis </a:t>
            </a:r>
            <a:r>
              <a:rPr lang="en-US" sz="1600" dirty="0"/>
              <a:t>- Zayn's Rivalry, lack of friendship - affectionate in the group, weak group link/bondage...</a:t>
            </a:r>
            <a:endParaRPr sz="1600" b="1" dirty="0"/>
          </a:p>
        </p:txBody>
      </p:sp>
      <p:sp>
        <p:nvSpPr>
          <p:cNvPr id="232" name="Google Shape;232;p19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5513" y="933141"/>
            <a:ext cx="5760300" cy="8008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smtClean="0">
                <a:solidFill>
                  <a:srgbClr val="FF9900"/>
                </a:solidFill>
                <a:latin typeface="Oswald" pitchFamily="2" charset="0"/>
              </a:rPr>
              <a:t>1. </a:t>
            </a:r>
            <a:r>
              <a:rPr lang="en-US" dirty="0">
                <a:latin typeface="Oswald" pitchFamily="2" charset="0"/>
              </a:rPr>
              <a:t>Substantive Conflict:</a:t>
            </a:r>
            <a:endParaRPr sz="4400" dirty="0">
              <a:latin typeface="Oswald" pitchFamily="2" charset="0"/>
            </a:endParaRPr>
          </a:p>
        </p:txBody>
      </p:sp>
      <p:sp>
        <p:nvSpPr>
          <p:cNvPr id="203" name="Google Shape;203;p17"/>
          <p:cNvSpPr txBox="1">
            <a:spLocks noGrp="1"/>
          </p:cNvSpPr>
          <p:nvPr>
            <p:ph type="body" idx="1"/>
          </p:nvPr>
        </p:nvSpPr>
        <p:spPr>
          <a:xfrm>
            <a:off x="5512" y="1733966"/>
            <a:ext cx="4782077" cy="1804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200" dirty="0"/>
              <a:t>On </a:t>
            </a:r>
            <a:r>
              <a:rPr lang="en-US" sz="2200" b="1" dirty="0"/>
              <a:t>March 25, 2015</a:t>
            </a:r>
            <a:r>
              <a:rPr lang="en-US" sz="2200" dirty="0"/>
              <a:t>, </a:t>
            </a:r>
            <a:r>
              <a:rPr lang="en-US" sz="2200" b="1" dirty="0"/>
              <a:t>Zayn Malik</a:t>
            </a:r>
            <a:r>
              <a:rPr lang="en-US" sz="2200" dirty="0"/>
              <a:t>, one-fifth of the massively popular boy band One Direction, officially left the group</a:t>
            </a:r>
            <a:r>
              <a:rPr lang="en-US" sz="2200" dirty="0" smtClean="0"/>
              <a:t>...</a:t>
            </a:r>
          </a:p>
        </p:txBody>
      </p:sp>
      <p:sp>
        <p:nvSpPr>
          <p:cNvPr id="204" name="Google Shape;204;p1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074" name="Picture 2" descr="Zayn Malik victim of leak as 2017 track Hurt surfaces onlin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"/>
            <a:ext cx="42672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03207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5513" y="933141"/>
            <a:ext cx="5760300" cy="8008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smtClean="0">
                <a:solidFill>
                  <a:srgbClr val="FF9900"/>
                </a:solidFill>
                <a:latin typeface="Oswald" pitchFamily="2" charset="0"/>
              </a:rPr>
              <a:t>1. </a:t>
            </a:r>
            <a:r>
              <a:rPr lang="en-US" dirty="0">
                <a:latin typeface="Oswald" pitchFamily="2" charset="0"/>
              </a:rPr>
              <a:t>Substantive Conflict:</a:t>
            </a:r>
            <a:endParaRPr sz="4400" dirty="0">
              <a:latin typeface="Oswald" pitchFamily="2" charset="0"/>
            </a:endParaRPr>
          </a:p>
        </p:txBody>
      </p:sp>
      <p:sp>
        <p:nvSpPr>
          <p:cNvPr id="203" name="Google Shape;203;p17"/>
          <p:cNvSpPr txBox="1">
            <a:spLocks noGrp="1"/>
          </p:cNvSpPr>
          <p:nvPr>
            <p:ph type="body" idx="1"/>
          </p:nvPr>
        </p:nvSpPr>
        <p:spPr>
          <a:xfrm>
            <a:off x="5512" y="1733966"/>
            <a:ext cx="4871287" cy="17898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200" dirty="0" smtClean="0"/>
              <a:t>The </a:t>
            </a:r>
            <a:r>
              <a:rPr lang="en-US" sz="2200" dirty="0"/>
              <a:t>reason for </a:t>
            </a:r>
            <a:r>
              <a:rPr lang="en-US" sz="2200" b="1" dirty="0"/>
              <a:t>Malik's departure</a:t>
            </a:r>
            <a:r>
              <a:rPr lang="en-US" sz="2200" dirty="0"/>
              <a:t> was announced not long after he departed from his band's world tour </a:t>
            </a:r>
            <a:r>
              <a:rPr lang="en-US" sz="2200" i="1" dirty="0">
                <a:solidFill>
                  <a:srgbClr val="FF9900"/>
                </a:solidFill>
              </a:rPr>
              <a:t>because of stress</a:t>
            </a:r>
            <a:r>
              <a:rPr lang="en-US" sz="2200" dirty="0">
                <a:solidFill>
                  <a:srgbClr val="FF9900"/>
                </a:solidFill>
              </a:rPr>
              <a:t>.</a:t>
            </a:r>
            <a:endParaRPr sz="2200" dirty="0">
              <a:solidFill>
                <a:srgbClr val="FF9900"/>
              </a:solidFill>
            </a:endParaRPr>
          </a:p>
        </p:txBody>
      </p:sp>
      <p:sp>
        <p:nvSpPr>
          <p:cNvPr id="204" name="Google Shape;204;p1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074" name="Picture 2" descr="Zayn Malik victim of leak as 2017 track Hurt surfaces onlin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"/>
            <a:ext cx="42672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46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5513" y="933141"/>
            <a:ext cx="5760300" cy="8008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mtClean="0">
                <a:solidFill>
                  <a:srgbClr val="FF9900"/>
                </a:solidFill>
                <a:latin typeface="Oswald" pitchFamily="2" charset="0"/>
              </a:rPr>
              <a:t>1. </a:t>
            </a:r>
            <a:r>
              <a:rPr lang="en-US" smtClean="0">
                <a:latin typeface="Oswald" pitchFamily="2" charset="0"/>
              </a:rPr>
              <a:t>Substantive Conflict:</a:t>
            </a:r>
            <a:endParaRPr sz="4400" dirty="0">
              <a:latin typeface="Oswald" pitchFamily="2" charset="0"/>
            </a:endParaRPr>
          </a:p>
        </p:txBody>
      </p:sp>
      <p:sp>
        <p:nvSpPr>
          <p:cNvPr id="203" name="Google Shape;203;p17"/>
          <p:cNvSpPr txBox="1">
            <a:spLocks noGrp="1"/>
          </p:cNvSpPr>
          <p:nvPr>
            <p:ph type="body" idx="1"/>
          </p:nvPr>
        </p:nvSpPr>
        <p:spPr>
          <a:xfrm>
            <a:off x="5512" y="1733966"/>
            <a:ext cx="4871287" cy="17898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200" dirty="0" smtClean="0"/>
              <a:t>The </a:t>
            </a:r>
            <a:r>
              <a:rPr lang="en-US" sz="2200" dirty="0"/>
              <a:t>reason for </a:t>
            </a:r>
            <a:r>
              <a:rPr lang="en-US" sz="2200" b="1" dirty="0"/>
              <a:t>Malik's departure</a:t>
            </a:r>
            <a:r>
              <a:rPr lang="en-US" sz="2200" dirty="0"/>
              <a:t> was announced not long after he departed from his band's world tour </a:t>
            </a:r>
            <a:r>
              <a:rPr lang="en-US" sz="2200" i="1" dirty="0">
                <a:solidFill>
                  <a:srgbClr val="FF9900"/>
                </a:solidFill>
              </a:rPr>
              <a:t>because of stress</a:t>
            </a:r>
            <a:r>
              <a:rPr lang="en-US" sz="2200" dirty="0"/>
              <a:t>.</a:t>
            </a:r>
            <a:endParaRPr sz="2200" dirty="0"/>
          </a:p>
        </p:txBody>
      </p:sp>
      <p:sp>
        <p:nvSpPr>
          <p:cNvPr id="204" name="Google Shape;204;p1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2234" y="4549877"/>
            <a:ext cx="4291780" cy="523220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00FF"/>
                </a:solidFill>
              </a:rPr>
              <a:t>https://www.facebook.com/onedirectionmusic/posts/869295683125227</a:t>
            </a: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126" r="1798"/>
          <a:stretch/>
        </p:blipFill>
        <p:spPr>
          <a:xfrm>
            <a:off x="4763729" y="0"/>
            <a:ext cx="43802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5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>
            <a:spLocks noGrp="1"/>
          </p:cNvSpPr>
          <p:nvPr>
            <p:ph type="title" idx="4294967295"/>
          </p:nvPr>
        </p:nvSpPr>
        <p:spPr>
          <a:xfrm>
            <a:off x="575575" y="3255525"/>
            <a:ext cx="4754100" cy="13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FFFFFF"/>
                </a:solidFill>
              </a:rPr>
              <a:t>Want big impact?</a:t>
            </a:r>
            <a:endParaRPr sz="2400" b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USE BIG IMAGE.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55" name="Google Shape;255;p22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77602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464574" y="1622326"/>
            <a:ext cx="7609081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302175" y="2717122"/>
            <a:ext cx="2743980" cy="5452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410497" y="3097166"/>
            <a:ext cx="3778045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4776021"/>
            <a:ext cx="9144000" cy="464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      </a:t>
            </a:r>
            <a:r>
              <a:rPr lang="en-US" u="sng" dirty="0" smtClean="0">
                <a:solidFill>
                  <a:srgbClr val="0000FF"/>
                </a:solidFill>
              </a:rPr>
              <a:t>https</a:t>
            </a:r>
            <a:r>
              <a:rPr lang="en-US" u="sng" dirty="0">
                <a:solidFill>
                  <a:srgbClr val="0000FF"/>
                </a:solidFill>
              </a:rPr>
              <a:t>://www.billboard.com/articles/columns/pop/9357414/zayn-left-one-direction-timeline</a:t>
            </a:r>
          </a:p>
        </p:txBody>
      </p:sp>
    </p:spTree>
    <p:extLst>
      <p:ext uri="{BB962C8B-B14F-4D97-AF65-F5344CB8AC3E}">
        <p14:creationId xmlns:p14="http://schemas.microsoft.com/office/powerpoint/2010/main" val="108191784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>
            <a:spLocks noGrp="1"/>
          </p:cNvSpPr>
          <p:nvPr>
            <p:ph type="body" idx="1"/>
          </p:nvPr>
        </p:nvSpPr>
        <p:spPr>
          <a:xfrm>
            <a:off x="2383200" y="799200"/>
            <a:ext cx="4118400" cy="3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" sz="3200" dirty="0" smtClean="0"/>
              <a:t>“</a:t>
            </a:r>
            <a:r>
              <a:rPr lang="en-US" sz="3200" i="1" dirty="0">
                <a:latin typeface="Montserrat" panose="00000500000000000000" pitchFamily="2" charset="0"/>
              </a:rPr>
              <a:t>I think I </a:t>
            </a:r>
            <a:r>
              <a:rPr lang="en-US" sz="3200" b="1" i="1" dirty="0">
                <a:latin typeface="Montserrat" panose="00000500000000000000" pitchFamily="2" charset="0"/>
              </a:rPr>
              <a:t>always wanted</a:t>
            </a:r>
            <a:r>
              <a:rPr lang="en-US" sz="3200" i="1" dirty="0">
                <a:latin typeface="Montserrat" panose="00000500000000000000" pitchFamily="2" charset="0"/>
              </a:rPr>
              <a:t> to go, from the first year, really... </a:t>
            </a:r>
            <a:r>
              <a:rPr lang="en-US" sz="3200" b="1" i="1" dirty="0">
                <a:latin typeface="Montserrat" panose="00000500000000000000" pitchFamily="2" charset="0"/>
              </a:rPr>
              <a:t>I never really wanted to be there in the band</a:t>
            </a:r>
            <a:r>
              <a:rPr lang="en-US" sz="3200" i="1" dirty="0">
                <a:latin typeface="Montserrat" panose="00000500000000000000" pitchFamily="2" charset="0"/>
              </a:rPr>
              <a:t>.</a:t>
            </a:r>
            <a:r>
              <a:rPr lang="en" sz="3200" dirty="0" smtClean="0"/>
              <a:t>”</a:t>
            </a:r>
            <a:endParaRPr sz="3200" dirty="0"/>
          </a:p>
        </p:txBody>
      </p:sp>
      <p:sp>
        <p:nvSpPr>
          <p:cNvPr id="197" name="Google Shape;197;p16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333600" y="4298400"/>
            <a:ext cx="316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4"/>
                </a:solidFill>
                <a:latin typeface="Oswald" pitchFamily="2" charset="0"/>
              </a:rPr>
              <a:t>-- </a:t>
            </a:r>
            <a:r>
              <a:rPr lang="en-US" sz="2400" b="1" dirty="0" smtClean="0">
                <a:solidFill>
                  <a:schemeClr val="accent4"/>
                </a:solidFill>
                <a:latin typeface="Oswald" pitchFamily="2" charset="0"/>
              </a:rPr>
              <a:t>Zayn Malik</a:t>
            </a:r>
            <a:endParaRPr lang="en-US" sz="2400" b="1" dirty="0">
              <a:solidFill>
                <a:schemeClr val="accent4"/>
              </a:solidFill>
              <a:latin typeface="Oswald" pitchFamily="2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16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7584" y="1951200"/>
            <a:ext cx="776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6078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Direction</a:t>
            </a:r>
            <a:r>
              <a:rPr lang="en-US" sz="2800" dirty="0">
                <a:solidFill>
                  <a:srgbClr val="6078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handled its substantive conflicts poorly, trying to avoid it instead of actually facing </a:t>
            </a:r>
            <a:r>
              <a:rPr lang="en-US"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</a:t>
            </a:r>
            <a:r>
              <a:rPr lang="en-US" sz="28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2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68697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5513" y="933141"/>
            <a:ext cx="5760300" cy="8008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rgbClr val="FF9900"/>
                </a:solidFill>
                <a:latin typeface="Montserrat" panose="00000500000000000000" pitchFamily="2" charset="0"/>
              </a:rPr>
              <a:t>2</a:t>
            </a:r>
            <a:r>
              <a:rPr lang="en-US" dirty="0" smtClean="0">
                <a:solidFill>
                  <a:srgbClr val="FF9900"/>
                </a:solidFill>
                <a:latin typeface="Montserrat" panose="00000500000000000000" pitchFamily="2" charset="0"/>
              </a:rPr>
              <a:t>. </a:t>
            </a:r>
            <a:r>
              <a:rPr lang="en-US" dirty="0" smtClean="0">
                <a:latin typeface="Montserrat" panose="00000500000000000000" pitchFamily="2" charset="0"/>
              </a:rPr>
              <a:t>Affective </a:t>
            </a:r>
            <a:r>
              <a:rPr lang="en-US" dirty="0">
                <a:latin typeface="Montserrat" panose="00000500000000000000" pitchFamily="2" charset="0"/>
              </a:rPr>
              <a:t>Conflict:</a:t>
            </a:r>
            <a:endParaRPr sz="4400" dirty="0">
              <a:latin typeface="Montserrat" panose="00000500000000000000" pitchFamily="2" charset="0"/>
            </a:endParaRPr>
          </a:p>
        </p:txBody>
      </p:sp>
      <p:sp>
        <p:nvSpPr>
          <p:cNvPr id="203" name="Google Shape;203;p17"/>
          <p:cNvSpPr txBox="1">
            <a:spLocks noGrp="1"/>
          </p:cNvSpPr>
          <p:nvPr>
            <p:ph type="body" idx="1"/>
          </p:nvPr>
        </p:nvSpPr>
        <p:spPr>
          <a:xfrm>
            <a:off x="5512" y="1733965"/>
            <a:ext cx="6151940" cy="2897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Normally, </a:t>
            </a:r>
            <a:r>
              <a:rPr lang="en-US" b="1" dirty="0" smtClean="0"/>
              <a:t>One Direction</a:t>
            </a:r>
            <a:r>
              <a:rPr lang="en-US" dirty="0"/>
              <a:t> </a:t>
            </a:r>
            <a:r>
              <a:rPr lang="en-US" dirty="0" smtClean="0"/>
              <a:t>would be depicted as </a:t>
            </a:r>
            <a:r>
              <a:rPr lang="en-US" dirty="0"/>
              <a:t>5 friends who shared one hobby: </a:t>
            </a:r>
            <a:r>
              <a:rPr lang="en-US" b="1" dirty="0"/>
              <a:t>Music</a:t>
            </a:r>
            <a:r>
              <a:rPr lang="en-US" dirty="0"/>
              <a:t>. </a:t>
            </a:r>
            <a:endParaRPr lang="en-US" dirty="0" smtClean="0"/>
          </a:p>
          <a:p>
            <a:pPr lvl="0"/>
            <a:r>
              <a:rPr lang="en-US" dirty="0" smtClean="0"/>
              <a:t>But</a:t>
            </a:r>
            <a:r>
              <a:rPr lang="en-US" dirty="0"/>
              <a:t>, ever since the leaving of Zayn, many of the darker side started to reveal themselves... </a:t>
            </a:r>
            <a:endParaRPr lang="en-US" dirty="0" smtClean="0"/>
          </a:p>
          <a:p>
            <a:pPr lvl="0"/>
            <a:endParaRPr lang="en-US" sz="2200" dirty="0"/>
          </a:p>
          <a:p>
            <a:pPr>
              <a:buFontTx/>
              <a:buChar char="→"/>
            </a:pPr>
            <a:r>
              <a:rPr lang="en-US" dirty="0" smtClean="0"/>
              <a:t>This </a:t>
            </a:r>
            <a:r>
              <a:rPr lang="en-US" dirty="0"/>
              <a:t>was initially </a:t>
            </a:r>
            <a:r>
              <a:rPr lang="en-US" dirty="0" smtClean="0"/>
              <a:t>the </a:t>
            </a:r>
            <a:r>
              <a:rPr lang="en-US" dirty="0"/>
              <a:t>outcome of an substantive conflicted left untreated. Yet, </a:t>
            </a:r>
            <a:r>
              <a:rPr lang="en-US" dirty="0" smtClean="0"/>
              <a:t>thing </a:t>
            </a:r>
            <a:r>
              <a:rPr lang="en-US" dirty="0"/>
              <a:t>is much more complicated than that.</a:t>
            </a:r>
            <a:endParaRPr lang="en-US" sz="2200" dirty="0" smtClean="0"/>
          </a:p>
        </p:txBody>
      </p:sp>
      <p:sp>
        <p:nvSpPr>
          <p:cNvPr id="204" name="Google Shape;204;p1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1924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5513" y="933141"/>
            <a:ext cx="5760300" cy="8008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rgbClr val="FF9900"/>
                </a:solidFill>
                <a:latin typeface="Montserrat" panose="00000500000000000000" pitchFamily="2" charset="0"/>
              </a:rPr>
              <a:t>2</a:t>
            </a:r>
            <a:r>
              <a:rPr lang="en-US" dirty="0" smtClean="0">
                <a:solidFill>
                  <a:srgbClr val="FF9900"/>
                </a:solidFill>
                <a:latin typeface="Montserrat" panose="00000500000000000000" pitchFamily="2" charset="0"/>
              </a:rPr>
              <a:t>. </a:t>
            </a:r>
            <a:r>
              <a:rPr lang="en-US" dirty="0" smtClean="0">
                <a:latin typeface="Montserrat" panose="00000500000000000000" pitchFamily="2" charset="0"/>
              </a:rPr>
              <a:t>Affective </a:t>
            </a:r>
            <a:r>
              <a:rPr lang="en-US" dirty="0">
                <a:latin typeface="Montserrat" panose="00000500000000000000" pitchFamily="2" charset="0"/>
              </a:rPr>
              <a:t>Conflict:</a:t>
            </a:r>
            <a:endParaRPr sz="4400" dirty="0">
              <a:latin typeface="Montserrat" panose="00000500000000000000" pitchFamily="2" charset="0"/>
            </a:endParaRPr>
          </a:p>
        </p:txBody>
      </p:sp>
      <p:sp>
        <p:nvSpPr>
          <p:cNvPr id="203" name="Google Shape;203;p17"/>
          <p:cNvSpPr txBox="1">
            <a:spLocks noGrp="1"/>
          </p:cNvSpPr>
          <p:nvPr>
            <p:ph type="body" idx="1"/>
          </p:nvPr>
        </p:nvSpPr>
        <p:spPr>
          <a:xfrm>
            <a:off x="5512" y="1733965"/>
            <a:ext cx="6380888" cy="2897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In reality, not even one of the members tried to talk to Zayn about the matter, let alone stopping </a:t>
            </a:r>
            <a:r>
              <a:rPr lang="en-US" dirty="0" smtClean="0"/>
              <a:t>him.</a:t>
            </a:r>
          </a:p>
          <a:p>
            <a:pPr marL="101600" lvl="0" indent="0">
              <a:buNone/>
            </a:pPr>
            <a:endParaRPr lang="en-US" sz="200" dirty="0" smtClean="0"/>
          </a:p>
          <a:p>
            <a:pPr lvl="0"/>
            <a:r>
              <a:rPr lang="en-US" dirty="0"/>
              <a:t>Zayn was actually secluded from the group, having no voice at all</a:t>
            </a:r>
            <a:r>
              <a:rPr lang="en-US" dirty="0" smtClean="0"/>
              <a:t>.</a:t>
            </a:r>
          </a:p>
        </p:txBody>
      </p:sp>
      <p:sp>
        <p:nvSpPr>
          <p:cNvPr id="204" name="Google Shape;204;p1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9106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>
            <a:spLocks noGrp="1"/>
          </p:cNvSpPr>
          <p:nvPr>
            <p:ph type="title" idx="4294967295"/>
          </p:nvPr>
        </p:nvSpPr>
        <p:spPr>
          <a:xfrm>
            <a:off x="575575" y="3255525"/>
            <a:ext cx="4754100" cy="13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FFFFFF"/>
                </a:solidFill>
              </a:rPr>
              <a:t>Want big impact?</a:t>
            </a:r>
            <a:endParaRPr sz="2400" b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USE BIG IMAGE.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55" name="Google Shape;255;p22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478399"/>
            <a:ext cx="9144000" cy="672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       </a:t>
            </a:r>
            <a:r>
              <a:rPr lang="en-US" u="sng" dirty="0" smtClean="0">
                <a:solidFill>
                  <a:srgbClr val="0000FF"/>
                </a:solidFill>
              </a:rPr>
              <a:t>https</a:t>
            </a:r>
            <a:r>
              <a:rPr lang="en-US" u="sng" dirty="0">
                <a:solidFill>
                  <a:srgbClr val="0000FF"/>
                </a:solidFill>
              </a:rPr>
              <a:t>://www.etonline.com/zayn-malik-says-he-didnt-make-a-single-friend-while-in-one-direction-113109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478399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5219999" y="859474"/>
            <a:ext cx="2651760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16193" y="2020532"/>
            <a:ext cx="8138160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05581" y="2426113"/>
            <a:ext cx="1737360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16193" y="2787449"/>
            <a:ext cx="2651760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05580" y="3576488"/>
            <a:ext cx="8046720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923616" y="3168449"/>
            <a:ext cx="3383280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05580" y="3964862"/>
            <a:ext cx="3383280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387028" y="3168449"/>
            <a:ext cx="1463040" cy="0"/>
          </a:xfrm>
          <a:prstGeom prst="line">
            <a:avLst/>
          </a:prstGeom>
          <a:ln w="50800">
            <a:solidFill>
              <a:srgbClr val="FF0000"/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5331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7584" y="1951200"/>
            <a:ext cx="776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Open Sans"/>
              </a:rPr>
              <a:t>Feeling lonely and having no one to talk to, stress start build up and soon overcome </a:t>
            </a:r>
            <a:r>
              <a:rPr lang="en-US" sz="2800" b="1" dirty="0">
                <a:solidFill>
                  <a:srgbClr val="607896"/>
                </a:solidFill>
                <a:latin typeface="Open Sans"/>
              </a:rPr>
              <a:t>Zayn</a:t>
            </a:r>
            <a:r>
              <a:rPr lang="en-US" sz="2800" dirty="0">
                <a:solidFill>
                  <a:schemeClr val="bg1"/>
                </a:solidFill>
                <a:latin typeface="Open Sans"/>
              </a:rPr>
              <a:t>, leading to his leaving the group</a:t>
            </a:r>
            <a:r>
              <a:rPr lang="en-US" sz="2800" dirty="0" smtClean="0">
                <a:solidFill>
                  <a:schemeClr val="bg1"/>
                </a:solidFill>
                <a:latin typeface="Open Sans"/>
              </a:rPr>
              <a:t>.</a:t>
            </a:r>
            <a:endParaRPr lang="en-US" sz="2800" dirty="0">
              <a:solidFill>
                <a:schemeClr val="bg1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399014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5513" y="933141"/>
            <a:ext cx="5760300" cy="8008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rgbClr val="FF9900"/>
                </a:solidFill>
                <a:latin typeface="Montserrat" panose="00000500000000000000" pitchFamily="2" charset="0"/>
              </a:rPr>
              <a:t>2</a:t>
            </a:r>
            <a:r>
              <a:rPr lang="en-US" dirty="0" smtClean="0">
                <a:solidFill>
                  <a:srgbClr val="FF9900"/>
                </a:solidFill>
                <a:latin typeface="Montserrat" panose="00000500000000000000" pitchFamily="2" charset="0"/>
              </a:rPr>
              <a:t>. </a:t>
            </a:r>
            <a:r>
              <a:rPr lang="en-US" dirty="0" smtClean="0">
                <a:latin typeface="Montserrat" panose="00000500000000000000" pitchFamily="2" charset="0"/>
              </a:rPr>
              <a:t>Affective </a:t>
            </a:r>
            <a:r>
              <a:rPr lang="en-US" dirty="0">
                <a:latin typeface="Montserrat" panose="00000500000000000000" pitchFamily="2" charset="0"/>
              </a:rPr>
              <a:t>Conflict:</a:t>
            </a:r>
            <a:endParaRPr sz="4400" dirty="0">
              <a:latin typeface="Montserrat" panose="00000500000000000000" pitchFamily="2" charset="0"/>
            </a:endParaRPr>
          </a:p>
        </p:txBody>
      </p:sp>
      <p:sp>
        <p:nvSpPr>
          <p:cNvPr id="203" name="Google Shape;203;p17"/>
          <p:cNvSpPr txBox="1">
            <a:spLocks noGrp="1"/>
          </p:cNvSpPr>
          <p:nvPr>
            <p:ph type="body" idx="1"/>
          </p:nvPr>
        </p:nvSpPr>
        <p:spPr>
          <a:xfrm>
            <a:off x="5512" y="1733965"/>
            <a:ext cx="6380888" cy="2897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one Zayn considered closest, Louis, started to turn back on him </a:t>
            </a:r>
            <a:r>
              <a:rPr lang="en-US" dirty="0">
                <a:sym typeface="Wingdings" panose="05000000000000000000" pitchFamily="2" charset="2"/>
              </a:rPr>
              <a:t> rivalry between the two</a:t>
            </a:r>
            <a:r>
              <a:rPr lang="en-US" dirty="0" smtClean="0">
                <a:sym typeface="Wingdings" panose="05000000000000000000" pitchFamily="2" charset="2"/>
              </a:rPr>
              <a:t>.</a:t>
            </a:r>
            <a:endParaRPr lang="en-US" dirty="0"/>
          </a:p>
        </p:txBody>
      </p:sp>
      <p:sp>
        <p:nvSpPr>
          <p:cNvPr id="204" name="Google Shape;204;p1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1026" name="Picture 2" descr="https://media.discordapp.net/attachments/725032919101341757/725308953021513728/unknown.png?width=959&amp;height=3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99" y="2684458"/>
            <a:ext cx="5577268" cy="203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86516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a:blip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>
            <a:spLocks noGrp="1"/>
          </p:cNvSpPr>
          <p:nvPr>
            <p:ph type="title" idx="4294967295"/>
          </p:nvPr>
        </p:nvSpPr>
        <p:spPr>
          <a:xfrm>
            <a:off x="536505" y="1968049"/>
            <a:ext cx="8070991" cy="13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4400" b="0" smtClean="0">
                <a:solidFill>
                  <a:schemeClr val="bg1">
                    <a:lumMod val="95000"/>
                  </a:schemeClr>
                </a:solidFill>
              </a:rPr>
              <a:t>FINAL WORDS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55" name="Google Shape;255;p22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fld id="{00000000-1234-1234-1234-123412341234}" type="slidenum">
              <a:rPr lang="en"/>
              <a:p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156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>
            <a:spLocks noGrp="1"/>
          </p:cNvSpPr>
          <p:nvPr>
            <p:ph type="ctrTitle" idx="4294967295"/>
          </p:nvPr>
        </p:nvSpPr>
        <p:spPr>
          <a:xfrm>
            <a:off x="1338941" y="1487714"/>
            <a:ext cx="6092371" cy="19417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smtClean="0">
                <a:solidFill>
                  <a:srgbClr val="FF9900"/>
                </a:solidFill>
              </a:rPr>
              <a:t>THANK FOR WATCHING</a:t>
            </a:r>
            <a:endParaRPr sz="6000" dirty="0">
              <a:solidFill>
                <a:srgbClr val="FF9900"/>
              </a:solidFill>
            </a:endParaRPr>
          </a:p>
        </p:txBody>
      </p:sp>
      <p:sp>
        <p:nvSpPr>
          <p:cNvPr id="370" name="Google Shape;370;p3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olsey template">
  <a:themeElements>
    <a:clrScheme name="Custom 347">
      <a:dk1>
        <a:srgbClr val="252729"/>
      </a:dk1>
      <a:lt1>
        <a:srgbClr val="FFFFFF"/>
      </a:lt1>
      <a:dk2>
        <a:srgbClr val="607896"/>
      </a:dk2>
      <a:lt2>
        <a:srgbClr val="DFE4E9"/>
      </a:lt2>
      <a:accent1>
        <a:srgbClr val="3796BF"/>
      </a:accent1>
      <a:accent2>
        <a:srgbClr val="4BB5D9"/>
      </a:accent2>
      <a:accent3>
        <a:srgbClr val="81D1EC"/>
      </a:accent3>
      <a:accent4>
        <a:srgbClr val="FF9900"/>
      </a:accent4>
      <a:accent5>
        <a:srgbClr val="FFCB50"/>
      </a:accent5>
      <a:accent6>
        <a:srgbClr val="A9C747"/>
      </a:accent6>
      <a:hlink>
        <a:srgbClr val="60789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458</Words>
  <Application>Microsoft Office PowerPoint</Application>
  <PresentationFormat>On-screen Show (16:9)</PresentationFormat>
  <Paragraphs>80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Roboto Condensed</vt:lpstr>
      <vt:lpstr>Wingdings</vt:lpstr>
      <vt:lpstr>Open Sans</vt:lpstr>
      <vt:lpstr>Bahnschrift Light SemiCondensed</vt:lpstr>
      <vt:lpstr>Montserrat</vt:lpstr>
      <vt:lpstr>Oswald</vt:lpstr>
      <vt:lpstr>Arial</vt:lpstr>
      <vt:lpstr>Wolsey template</vt:lpstr>
      <vt:lpstr>ONE DIRECTION</vt:lpstr>
      <vt:lpstr>PowerPoint Presentation</vt:lpstr>
      <vt:lpstr>I. Introduction</vt:lpstr>
      <vt:lpstr>I. Introduction</vt:lpstr>
      <vt:lpstr>PowerPoint Presentation</vt:lpstr>
      <vt:lpstr>~200</vt:lpstr>
      <vt:lpstr>PowerPoint Presentation</vt:lpstr>
      <vt:lpstr>With the departure of Zayn Mailk (March 2015), the group slowly breaks apart and was eventually disbanded.</vt:lpstr>
      <vt:lpstr>II. Conflict</vt:lpstr>
      <vt:lpstr>II. Conflict</vt:lpstr>
      <vt:lpstr>1. Substantive Conflict:</vt:lpstr>
      <vt:lpstr>1. Substantive Conflict:</vt:lpstr>
      <vt:lpstr>1. Substantive Conflict:</vt:lpstr>
      <vt:lpstr>Want big impact? USE BIG IMAGE.</vt:lpstr>
      <vt:lpstr>PowerPoint Presentation</vt:lpstr>
      <vt:lpstr>PowerPoint Presentation</vt:lpstr>
      <vt:lpstr>2. Affective Conflict:</vt:lpstr>
      <vt:lpstr>2. Affective Conflict:</vt:lpstr>
      <vt:lpstr>Want big impact? USE BIG IMAGE.</vt:lpstr>
      <vt:lpstr>PowerPoint Presentation</vt:lpstr>
      <vt:lpstr>2. Affective Conflict:</vt:lpstr>
      <vt:lpstr>FINAL WORDS</vt:lpstr>
      <vt:lpstr>THANK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Direction</dc:title>
  <cp:lastModifiedBy>Admin</cp:lastModifiedBy>
  <cp:revision>104</cp:revision>
  <dcterms:modified xsi:type="dcterms:W3CDTF">2020-06-25T06:27:36Z</dcterms:modified>
</cp:coreProperties>
</file>